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62" r:id="rId6"/>
    <p:sldId id="26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DB4AD-9276-4BFA-B009-29C56CC8A1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67E03B7-A703-A2A2-7639-8AF1BAAC8B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C759D72-B723-80D6-4193-BF8CE27974D9}"/>
              </a:ext>
            </a:extLst>
          </p:cNvPr>
          <p:cNvSpPr>
            <a:spLocks noGrp="1"/>
          </p:cNvSpPr>
          <p:nvPr>
            <p:ph type="dt" sz="half" idx="10"/>
          </p:nvPr>
        </p:nvSpPr>
        <p:spPr/>
        <p:txBody>
          <a:bodyPr/>
          <a:lstStyle/>
          <a:p>
            <a:fld id="{13349974-4488-4222-ABE3-9463CB244095}" type="datetimeFigureOut">
              <a:rPr lang="en-IN" smtClean="0"/>
              <a:t>18-09-2025</a:t>
            </a:fld>
            <a:endParaRPr lang="en-IN"/>
          </a:p>
        </p:txBody>
      </p:sp>
      <p:sp>
        <p:nvSpPr>
          <p:cNvPr id="5" name="Footer Placeholder 4">
            <a:extLst>
              <a:ext uri="{FF2B5EF4-FFF2-40B4-BE49-F238E27FC236}">
                <a16:creationId xmlns:a16="http://schemas.microsoft.com/office/drawing/2014/main" id="{F480F081-7D65-5B3C-8241-948D15C15B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2F6D71-F74D-C9CC-0BB3-737CDBE1C21E}"/>
              </a:ext>
            </a:extLst>
          </p:cNvPr>
          <p:cNvSpPr>
            <a:spLocks noGrp="1"/>
          </p:cNvSpPr>
          <p:nvPr>
            <p:ph type="sldNum" sz="quarter" idx="12"/>
          </p:nvPr>
        </p:nvSpPr>
        <p:spPr/>
        <p:txBody>
          <a:bodyPr/>
          <a:lstStyle/>
          <a:p>
            <a:fld id="{2BDB7469-9B30-47F4-9173-1E0D86CA349F}" type="slidenum">
              <a:rPr lang="en-IN" smtClean="0"/>
              <a:t>‹#›</a:t>
            </a:fld>
            <a:endParaRPr lang="en-IN"/>
          </a:p>
        </p:txBody>
      </p:sp>
    </p:spTree>
    <p:extLst>
      <p:ext uri="{BB962C8B-B14F-4D97-AF65-F5344CB8AC3E}">
        <p14:creationId xmlns:p14="http://schemas.microsoft.com/office/powerpoint/2010/main" val="425540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7D88C-6C25-8E65-19C3-7B0F7DA5C0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831244F-973D-AE00-BE4C-7D3E46DB2D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E9FA52-E5E3-03C9-E07E-799CF4F33893}"/>
              </a:ext>
            </a:extLst>
          </p:cNvPr>
          <p:cNvSpPr>
            <a:spLocks noGrp="1"/>
          </p:cNvSpPr>
          <p:nvPr>
            <p:ph type="dt" sz="half" idx="10"/>
          </p:nvPr>
        </p:nvSpPr>
        <p:spPr/>
        <p:txBody>
          <a:bodyPr/>
          <a:lstStyle/>
          <a:p>
            <a:fld id="{13349974-4488-4222-ABE3-9463CB244095}" type="datetimeFigureOut">
              <a:rPr lang="en-IN" smtClean="0"/>
              <a:t>18-09-2025</a:t>
            </a:fld>
            <a:endParaRPr lang="en-IN"/>
          </a:p>
        </p:txBody>
      </p:sp>
      <p:sp>
        <p:nvSpPr>
          <p:cNvPr id="5" name="Footer Placeholder 4">
            <a:extLst>
              <a:ext uri="{FF2B5EF4-FFF2-40B4-BE49-F238E27FC236}">
                <a16:creationId xmlns:a16="http://schemas.microsoft.com/office/drawing/2014/main" id="{130E1ED8-9678-EA2E-A234-35A62B0B62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8DE7C4-F7C1-3F3B-87F5-1DBF33343D59}"/>
              </a:ext>
            </a:extLst>
          </p:cNvPr>
          <p:cNvSpPr>
            <a:spLocks noGrp="1"/>
          </p:cNvSpPr>
          <p:nvPr>
            <p:ph type="sldNum" sz="quarter" idx="12"/>
          </p:nvPr>
        </p:nvSpPr>
        <p:spPr/>
        <p:txBody>
          <a:bodyPr/>
          <a:lstStyle/>
          <a:p>
            <a:fld id="{2BDB7469-9B30-47F4-9173-1E0D86CA349F}" type="slidenum">
              <a:rPr lang="en-IN" smtClean="0"/>
              <a:t>‹#›</a:t>
            </a:fld>
            <a:endParaRPr lang="en-IN"/>
          </a:p>
        </p:txBody>
      </p:sp>
    </p:spTree>
    <p:extLst>
      <p:ext uri="{BB962C8B-B14F-4D97-AF65-F5344CB8AC3E}">
        <p14:creationId xmlns:p14="http://schemas.microsoft.com/office/powerpoint/2010/main" val="3263055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0C394-2473-8B94-5781-408E51E9C9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5403861-AA51-71F8-C592-42FCDA7301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1685AA-289E-560E-9678-7414459C03CE}"/>
              </a:ext>
            </a:extLst>
          </p:cNvPr>
          <p:cNvSpPr>
            <a:spLocks noGrp="1"/>
          </p:cNvSpPr>
          <p:nvPr>
            <p:ph type="dt" sz="half" idx="10"/>
          </p:nvPr>
        </p:nvSpPr>
        <p:spPr/>
        <p:txBody>
          <a:bodyPr/>
          <a:lstStyle/>
          <a:p>
            <a:fld id="{13349974-4488-4222-ABE3-9463CB244095}" type="datetimeFigureOut">
              <a:rPr lang="en-IN" smtClean="0"/>
              <a:t>18-09-2025</a:t>
            </a:fld>
            <a:endParaRPr lang="en-IN"/>
          </a:p>
        </p:txBody>
      </p:sp>
      <p:sp>
        <p:nvSpPr>
          <p:cNvPr id="5" name="Footer Placeholder 4">
            <a:extLst>
              <a:ext uri="{FF2B5EF4-FFF2-40B4-BE49-F238E27FC236}">
                <a16:creationId xmlns:a16="http://schemas.microsoft.com/office/drawing/2014/main" id="{9004BE1C-B910-3B28-5A14-EA3477F9CC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A22FB4-606F-6846-78E5-57AC1803DCA1}"/>
              </a:ext>
            </a:extLst>
          </p:cNvPr>
          <p:cNvSpPr>
            <a:spLocks noGrp="1"/>
          </p:cNvSpPr>
          <p:nvPr>
            <p:ph type="sldNum" sz="quarter" idx="12"/>
          </p:nvPr>
        </p:nvSpPr>
        <p:spPr/>
        <p:txBody>
          <a:bodyPr/>
          <a:lstStyle/>
          <a:p>
            <a:fld id="{2BDB7469-9B30-47F4-9173-1E0D86CA349F}" type="slidenum">
              <a:rPr lang="en-IN" smtClean="0"/>
              <a:t>‹#›</a:t>
            </a:fld>
            <a:endParaRPr lang="en-IN"/>
          </a:p>
        </p:txBody>
      </p:sp>
    </p:spTree>
    <p:extLst>
      <p:ext uri="{BB962C8B-B14F-4D97-AF65-F5344CB8AC3E}">
        <p14:creationId xmlns:p14="http://schemas.microsoft.com/office/powerpoint/2010/main" val="1462399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E9BF6-1036-A4A0-41C8-52153D6196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388AF1-B0A4-CF8C-4CD2-9F8E794F26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8577709-DF78-F40A-4DDE-4AE4317398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A19E2FF-F2E2-3CE3-F7FB-D157383B2BDD}"/>
              </a:ext>
            </a:extLst>
          </p:cNvPr>
          <p:cNvSpPr>
            <a:spLocks noGrp="1"/>
          </p:cNvSpPr>
          <p:nvPr>
            <p:ph type="dt" sz="half" idx="10"/>
          </p:nvPr>
        </p:nvSpPr>
        <p:spPr/>
        <p:txBody>
          <a:bodyPr/>
          <a:lstStyle/>
          <a:p>
            <a:fld id="{13349974-4488-4222-ABE3-9463CB244095}" type="datetimeFigureOut">
              <a:rPr lang="en-IN" smtClean="0"/>
              <a:t>18-09-2025</a:t>
            </a:fld>
            <a:endParaRPr lang="en-IN"/>
          </a:p>
        </p:txBody>
      </p:sp>
      <p:sp>
        <p:nvSpPr>
          <p:cNvPr id="6" name="Footer Placeholder 5">
            <a:extLst>
              <a:ext uri="{FF2B5EF4-FFF2-40B4-BE49-F238E27FC236}">
                <a16:creationId xmlns:a16="http://schemas.microsoft.com/office/drawing/2014/main" id="{6A31326A-B9BF-5451-CC71-AD23FE2129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C2F50C-4F83-0383-10F3-17BE86AB1DD8}"/>
              </a:ext>
            </a:extLst>
          </p:cNvPr>
          <p:cNvSpPr>
            <a:spLocks noGrp="1"/>
          </p:cNvSpPr>
          <p:nvPr>
            <p:ph type="sldNum" sz="quarter" idx="12"/>
          </p:nvPr>
        </p:nvSpPr>
        <p:spPr/>
        <p:txBody>
          <a:bodyPr/>
          <a:lstStyle/>
          <a:p>
            <a:fld id="{2BDB7469-9B30-47F4-9173-1E0D86CA349F}" type="slidenum">
              <a:rPr lang="en-IN" smtClean="0"/>
              <a:t>‹#›</a:t>
            </a:fld>
            <a:endParaRPr lang="en-IN"/>
          </a:p>
        </p:txBody>
      </p:sp>
    </p:spTree>
    <p:extLst>
      <p:ext uri="{BB962C8B-B14F-4D97-AF65-F5344CB8AC3E}">
        <p14:creationId xmlns:p14="http://schemas.microsoft.com/office/powerpoint/2010/main" val="342125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F83D5-DF7D-1013-EDB6-856D0434C9C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0CBAEC-F75A-AF1C-54BE-31ED60CFF1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22C139-3656-F316-3C52-2142CCD1BC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4B8BDED-24CE-694F-13D8-9D7AB4A1E4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F094B0-DAA9-796D-7F55-7405D1EC77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E0D5331-ECF4-2629-FE37-89863F0C30F8}"/>
              </a:ext>
            </a:extLst>
          </p:cNvPr>
          <p:cNvSpPr>
            <a:spLocks noGrp="1"/>
          </p:cNvSpPr>
          <p:nvPr>
            <p:ph type="dt" sz="half" idx="10"/>
          </p:nvPr>
        </p:nvSpPr>
        <p:spPr/>
        <p:txBody>
          <a:bodyPr/>
          <a:lstStyle/>
          <a:p>
            <a:fld id="{13349974-4488-4222-ABE3-9463CB244095}" type="datetimeFigureOut">
              <a:rPr lang="en-IN" smtClean="0"/>
              <a:t>18-09-2025</a:t>
            </a:fld>
            <a:endParaRPr lang="en-IN"/>
          </a:p>
        </p:txBody>
      </p:sp>
      <p:sp>
        <p:nvSpPr>
          <p:cNvPr id="8" name="Footer Placeholder 7">
            <a:extLst>
              <a:ext uri="{FF2B5EF4-FFF2-40B4-BE49-F238E27FC236}">
                <a16:creationId xmlns:a16="http://schemas.microsoft.com/office/drawing/2014/main" id="{B735D006-BC07-9097-7D8C-E576F79F07C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5D33872-69C5-8B85-7858-71D642E84443}"/>
              </a:ext>
            </a:extLst>
          </p:cNvPr>
          <p:cNvSpPr>
            <a:spLocks noGrp="1"/>
          </p:cNvSpPr>
          <p:nvPr>
            <p:ph type="sldNum" sz="quarter" idx="12"/>
          </p:nvPr>
        </p:nvSpPr>
        <p:spPr/>
        <p:txBody>
          <a:bodyPr/>
          <a:lstStyle/>
          <a:p>
            <a:fld id="{2BDB7469-9B30-47F4-9173-1E0D86CA349F}" type="slidenum">
              <a:rPr lang="en-IN" smtClean="0"/>
              <a:t>‹#›</a:t>
            </a:fld>
            <a:endParaRPr lang="en-IN"/>
          </a:p>
        </p:txBody>
      </p:sp>
    </p:spTree>
    <p:extLst>
      <p:ext uri="{BB962C8B-B14F-4D97-AF65-F5344CB8AC3E}">
        <p14:creationId xmlns:p14="http://schemas.microsoft.com/office/powerpoint/2010/main" val="4217359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51654-9C0D-EBE0-FE08-3308831930D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652EA0A-1233-3DB3-D048-A07C276D8BE6}"/>
              </a:ext>
            </a:extLst>
          </p:cNvPr>
          <p:cNvSpPr>
            <a:spLocks noGrp="1"/>
          </p:cNvSpPr>
          <p:nvPr>
            <p:ph type="dt" sz="half" idx="10"/>
          </p:nvPr>
        </p:nvSpPr>
        <p:spPr/>
        <p:txBody>
          <a:bodyPr/>
          <a:lstStyle/>
          <a:p>
            <a:fld id="{13349974-4488-4222-ABE3-9463CB244095}" type="datetimeFigureOut">
              <a:rPr lang="en-IN" smtClean="0"/>
              <a:t>18-09-2025</a:t>
            </a:fld>
            <a:endParaRPr lang="en-IN"/>
          </a:p>
        </p:txBody>
      </p:sp>
      <p:sp>
        <p:nvSpPr>
          <p:cNvPr id="4" name="Footer Placeholder 3">
            <a:extLst>
              <a:ext uri="{FF2B5EF4-FFF2-40B4-BE49-F238E27FC236}">
                <a16:creationId xmlns:a16="http://schemas.microsoft.com/office/drawing/2014/main" id="{9B25DFDF-EEC6-D83D-49FE-92C9C9ADDFB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A2C7FFE-7FA9-624A-3C97-3BF0BD1ACDE8}"/>
              </a:ext>
            </a:extLst>
          </p:cNvPr>
          <p:cNvSpPr>
            <a:spLocks noGrp="1"/>
          </p:cNvSpPr>
          <p:nvPr>
            <p:ph type="sldNum" sz="quarter" idx="12"/>
          </p:nvPr>
        </p:nvSpPr>
        <p:spPr/>
        <p:txBody>
          <a:bodyPr/>
          <a:lstStyle/>
          <a:p>
            <a:fld id="{2BDB7469-9B30-47F4-9173-1E0D86CA349F}" type="slidenum">
              <a:rPr lang="en-IN" smtClean="0"/>
              <a:t>‹#›</a:t>
            </a:fld>
            <a:endParaRPr lang="en-IN"/>
          </a:p>
        </p:txBody>
      </p:sp>
    </p:spTree>
    <p:extLst>
      <p:ext uri="{BB962C8B-B14F-4D97-AF65-F5344CB8AC3E}">
        <p14:creationId xmlns:p14="http://schemas.microsoft.com/office/powerpoint/2010/main" val="3795537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1B3912-F66E-D8D0-056B-2146638A5169}"/>
              </a:ext>
            </a:extLst>
          </p:cNvPr>
          <p:cNvSpPr>
            <a:spLocks noGrp="1"/>
          </p:cNvSpPr>
          <p:nvPr>
            <p:ph type="dt" sz="half" idx="10"/>
          </p:nvPr>
        </p:nvSpPr>
        <p:spPr/>
        <p:txBody>
          <a:bodyPr/>
          <a:lstStyle/>
          <a:p>
            <a:fld id="{13349974-4488-4222-ABE3-9463CB244095}" type="datetimeFigureOut">
              <a:rPr lang="en-IN" smtClean="0"/>
              <a:t>18-09-2025</a:t>
            </a:fld>
            <a:endParaRPr lang="en-IN"/>
          </a:p>
        </p:txBody>
      </p:sp>
      <p:sp>
        <p:nvSpPr>
          <p:cNvPr id="3" name="Footer Placeholder 2">
            <a:extLst>
              <a:ext uri="{FF2B5EF4-FFF2-40B4-BE49-F238E27FC236}">
                <a16:creationId xmlns:a16="http://schemas.microsoft.com/office/drawing/2014/main" id="{7ABB3412-C2DD-0794-821A-DCB9816F311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D5388D7-BD1D-DBA5-2E7F-F85D4C7FD157}"/>
              </a:ext>
            </a:extLst>
          </p:cNvPr>
          <p:cNvSpPr>
            <a:spLocks noGrp="1"/>
          </p:cNvSpPr>
          <p:nvPr>
            <p:ph type="sldNum" sz="quarter" idx="12"/>
          </p:nvPr>
        </p:nvSpPr>
        <p:spPr/>
        <p:txBody>
          <a:bodyPr/>
          <a:lstStyle/>
          <a:p>
            <a:fld id="{2BDB7469-9B30-47F4-9173-1E0D86CA349F}" type="slidenum">
              <a:rPr lang="en-IN" smtClean="0"/>
              <a:t>‹#›</a:t>
            </a:fld>
            <a:endParaRPr lang="en-IN"/>
          </a:p>
        </p:txBody>
      </p:sp>
    </p:spTree>
    <p:extLst>
      <p:ext uri="{BB962C8B-B14F-4D97-AF65-F5344CB8AC3E}">
        <p14:creationId xmlns:p14="http://schemas.microsoft.com/office/powerpoint/2010/main" val="1583641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E5B5F-03CF-8CD2-1578-27DCDC4514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8E1DF07-28FB-08EC-4D54-34F41DD20D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71622C-3DD9-1D00-1730-BF0CFD743B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BACCC7-4286-03D1-82EA-F7AC46324969}"/>
              </a:ext>
            </a:extLst>
          </p:cNvPr>
          <p:cNvSpPr>
            <a:spLocks noGrp="1"/>
          </p:cNvSpPr>
          <p:nvPr>
            <p:ph type="dt" sz="half" idx="10"/>
          </p:nvPr>
        </p:nvSpPr>
        <p:spPr/>
        <p:txBody>
          <a:bodyPr/>
          <a:lstStyle/>
          <a:p>
            <a:fld id="{13349974-4488-4222-ABE3-9463CB244095}" type="datetimeFigureOut">
              <a:rPr lang="en-IN" smtClean="0"/>
              <a:t>18-09-2025</a:t>
            </a:fld>
            <a:endParaRPr lang="en-IN"/>
          </a:p>
        </p:txBody>
      </p:sp>
      <p:sp>
        <p:nvSpPr>
          <p:cNvPr id="6" name="Footer Placeholder 5">
            <a:extLst>
              <a:ext uri="{FF2B5EF4-FFF2-40B4-BE49-F238E27FC236}">
                <a16:creationId xmlns:a16="http://schemas.microsoft.com/office/drawing/2014/main" id="{18B92961-7C88-7017-686B-2075B4DC75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E06E3E-7ED6-48AB-8B6A-054B570BCC3D}"/>
              </a:ext>
            </a:extLst>
          </p:cNvPr>
          <p:cNvSpPr>
            <a:spLocks noGrp="1"/>
          </p:cNvSpPr>
          <p:nvPr>
            <p:ph type="sldNum" sz="quarter" idx="12"/>
          </p:nvPr>
        </p:nvSpPr>
        <p:spPr/>
        <p:txBody>
          <a:bodyPr/>
          <a:lstStyle/>
          <a:p>
            <a:fld id="{2BDB7469-9B30-47F4-9173-1E0D86CA349F}" type="slidenum">
              <a:rPr lang="en-IN" smtClean="0"/>
              <a:t>‹#›</a:t>
            </a:fld>
            <a:endParaRPr lang="en-IN"/>
          </a:p>
        </p:txBody>
      </p:sp>
    </p:spTree>
    <p:extLst>
      <p:ext uri="{BB962C8B-B14F-4D97-AF65-F5344CB8AC3E}">
        <p14:creationId xmlns:p14="http://schemas.microsoft.com/office/powerpoint/2010/main" val="2146231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2D3D0-809A-B1F4-F5BF-73FC486A0A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1758C20-F0E6-C9D1-D362-062FB84EFE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B3E6B89-3D38-8E3B-0178-C63D91A71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39780E-2B94-29AE-E675-8967B869667E}"/>
              </a:ext>
            </a:extLst>
          </p:cNvPr>
          <p:cNvSpPr>
            <a:spLocks noGrp="1"/>
          </p:cNvSpPr>
          <p:nvPr>
            <p:ph type="dt" sz="half" idx="10"/>
          </p:nvPr>
        </p:nvSpPr>
        <p:spPr/>
        <p:txBody>
          <a:bodyPr/>
          <a:lstStyle/>
          <a:p>
            <a:fld id="{13349974-4488-4222-ABE3-9463CB244095}" type="datetimeFigureOut">
              <a:rPr lang="en-IN" smtClean="0"/>
              <a:t>18-09-2025</a:t>
            </a:fld>
            <a:endParaRPr lang="en-IN"/>
          </a:p>
        </p:txBody>
      </p:sp>
      <p:sp>
        <p:nvSpPr>
          <p:cNvPr id="6" name="Footer Placeholder 5">
            <a:extLst>
              <a:ext uri="{FF2B5EF4-FFF2-40B4-BE49-F238E27FC236}">
                <a16:creationId xmlns:a16="http://schemas.microsoft.com/office/drawing/2014/main" id="{7072F712-4DB9-8C92-AA61-C917596DE2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F4DB64-88EC-F4F1-4B2C-D3F103266944}"/>
              </a:ext>
            </a:extLst>
          </p:cNvPr>
          <p:cNvSpPr>
            <a:spLocks noGrp="1"/>
          </p:cNvSpPr>
          <p:nvPr>
            <p:ph type="sldNum" sz="quarter" idx="12"/>
          </p:nvPr>
        </p:nvSpPr>
        <p:spPr/>
        <p:txBody>
          <a:bodyPr/>
          <a:lstStyle/>
          <a:p>
            <a:fld id="{2BDB7469-9B30-47F4-9173-1E0D86CA349F}" type="slidenum">
              <a:rPr lang="en-IN" smtClean="0"/>
              <a:t>‹#›</a:t>
            </a:fld>
            <a:endParaRPr lang="en-IN"/>
          </a:p>
        </p:txBody>
      </p:sp>
    </p:spTree>
    <p:extLst>
      <p:ext uri="{BB962C8B-B14F-4D97-AF65-F5344CB8AC3E}">
        <p14:creationId xmlns:p14="http://schemas.microsoft.com/office/powerpoint/2010/main" val="587825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CCB4B-9B2E-AF98-1871-DE9D5C3F15F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5DE1200-BC79-940A-9BB7-9E65F855C0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28AE0B-6703-15A5-AB69-98BCA62BEB00}"/>
              </a:ext>
            </a:extLst>
          </p:cNvPr>
          <p:cNvSpPr>
            <a:spLocks noGrp="1"/>
          </p:cNvSpPr>
          <p:nvPr>
            <p:ph type="dt" sz="half" idx="10"/>
          </p:nvPr>
        </p:nvSpPr>
        <p:spPr/>
        <p:txBody>
          <a:bodyPr/>
          <a:lstStyle/>
          <a:p>
            <a:fld id="{13349974-4488-4222-ABE3-9463CB244095}" type="datetimeFigureOut">
              <a:rPr lang="en-IN" smtClean="0"/>
              <a:t>18-09-2025</a:t>
            </a:fld>
            <a:endParaRPr lang="en-IN"/>
          </a:p>
        </p:txBody>
      </p:sp>
      <p:sp>
        <p:nvSpPr>
          <p:cNvPr id="5" name="Footer Placeholder 4">
            <a:extLst>
              <a:ext uri="{FF2B5EF4-FFF2-40B4-BE49-F238E27FC236}">
                <a16:creationId xmlns:a16="http://schemas.microsoft.com/office/drawing/2014/main" id="{C1887184-8795-3829-5CDD-464FC1DA61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5370D7-C565-4F76-87C9-A0867048362F}"/>
              </a:ext>
            </a:extLst>
          </p:cNvPr>
          <p:cNvSpPr>
            <a:spLocks noGrp="1"/>
          </p:cNvSpPr>
          <p:nvPr>
            <p:ph type="sldNum" sz="quarter" idx="12"/>
          </p:nvPr>
        </p:nvSpPr>
        <p:spPr/>
        <p:txBody>
          <a:bodyPr/>
          <a:lstStyle/>
          <a:p>
            <a:fld id="{2BDB7469-9B30-47F4-9173-1E0D86CA349F}" type="slidenum">
              <a:rPr lang="en-IN" smtClean="0"/>
              <a:t>‹#›</a:t>
            </a:fld>
            <a:endParaRPr lang="en-IN"/>
          </a:p>
        </p:txBody>
      </p:sp>
    </p:spTree>
    <p:extLst>
      <p:ext uri="{BB962C8B-B14F-4D97-AF65-F5344CB8AC3E}">
        <p14:creationId xmlns:p14="http://schemas.microsoft.com/office/powerpoint/2010/main" val="4064797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550C46-4C6D-9DBD-35D5-E1BD9CF459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4EC80C-A484-7265-7082-409BAE7AA5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96C1B2-414B-2A1A-6DFF-CDDABA2CE731}"/>
              </a:ext>
            </a:extLst>
          </p:cNvPr>
          <p:cNvSpPr>
            <a:spLocks noGrp="1"/>
          </p:cNvSpPr>
          <p:nvPr>
            <p:ph type="dt" sz="half" idx="10"/>
          </p:nvPr>
        </p:nvSpPr>
        <p:spPr/>
        <p:txBody>
          <a:bodyPr/>
          <a:lstStyle/>
          <a:p>
            <a:fld id="{13349974-4488-4222-ABE3-9463CB244095}" type="datetimeFigureOut">
              <a:rPr lang="en-IN" smtClean="0"/>
              <a:t>18-09-2025</a:t>
            </a:fld>
            <a:endParaRPr lang="en-IN"/>
          </a:p>
        </p:txBody>
      </p:sp>
      <p:sp>
        <p:nvSpPr>
          <p:cNvPr id="5" name="Footer Placeholder 4">
            <a:extLst>
              <a:ext uri="{FF2B5EF4-FFF2-40B4-BE49-F238E27FC236}">
                <a16:creationId xmlns:a16="http://schemas.microsoft.com/office/drawing/2014/main" id="{0A698E73-2599-0DF8-469B-E58C62C100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FD2C2F-E9FE-FE1A-938C-0C36E2CD2D5D}"/>
              </a:ext>
            </a:extLst>
          </p:cNvPr>
          <p:cNvSpPr>
            <a:spLocks noGrp="1"/>
          </p:cNvSpPr>
          <p:nvPr>
            <p:ph type="sldNum" sz="quarter" idx="12"/>
          </p:nvPr>
        </p:nvSpPr>
        <p:spPr/>
        <p:txBody>
          <a:bodyPr/>
          <a:lstStyle/>
          <a:p>
            <a:fld id="{2BDB7469-9B30-47F4-9173-1E0D86CA349F}" type="slidenum">
              <a:rPr lang="en-IN" smtClean="0"/>
              <a:t>‹#›</a:t>
            </a:fld>
            <a:endParaRPr lang="en-IN"/>
          </a:p>
        </p:txBody>
      </p:sp>
    </p:spTree>
    <p:extLst>
      <p:ext uri="{BB962C8B-B14F-4D97-AF65-F5344CB8AC3E}">
        <p14:creationId xmlns:p14="http://schemas.microsoft.com/office/powerpoint/2010/main" val="2709152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1787E1-D09C-B7C5-0F85-C83919F939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A57032-3F24-5675-7C81-04B6943613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9112FE-F69D-258B-03FB-EF3ACBD782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349974-4488-4222-ABE3-9463CB244095}" type="datetimeFigureOut">
              <a:rPr lang="en-IN" smtClean="0"/>
              <a:t>18-09-2025</a:t>
            </a:fld>
            <a:endParaRPr lang="en-IN"/>
          </a:p>
        </p:txBody>
      </p:sp>
      <p:sp>
        <p:nvSpPr>
          <p:cNvPr id="5" name="Footer Placeholder 4">
            <a:extLst>
              <a:ext uri="{FF2B5EF4-FFF2-40B4-BE49-F238E27FC236}">
                <a16:creationId xmlns:a16="http://schemas.microsoft.com/office/drawing/2014/main" id="{05AAA930-8D69-7A23-F261-DC53877462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68D34D6-8CA6-B603-1705-F158480461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DB7469-9B30-47F4-9173-1E0D86CA349F}" type="slidenum">
              <a:rPr lang="en-IN" smtClean="0"/>
              <a:t>‹#›</a:t>
            </a:fld>
            <a:endParaRPr lang="en-IN"/>
          </a:p>
        </p:txBody>
      </p:sp>
    </p:spTree>
    <p:extLst>
      <p:ext uri="{BB962C8B-B14F-4D97-AF65-F5344CB8AC3E}">
        <p14:creationId xmlns:p14="http://schemas.microsoft.com/office/powerpoint/2010/main" val="2173023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AEBB0-6E5D-88A2-2ADA-C18831710ADD}"/>
              </a:ext>
            </a:extLst>
          </p:cNvPr>
          <p:cNvSpPr>
            <a:spLocks noGrp="1"/>
          </p:cNvSpPr>
          <p:nvPr>
            <p:ph type="ctrTitle"/>
          </p:nvPr>
        </p:nvSpPr>
        <p:spPr/>
        <p:txBody>
          <a:bodyPr/>
          <a:lstStyle/>
          <a:p>
            <a:r>
              <a:rPr lang="en-IN" dirty="0"/>
              <a:t>ALITA BUSINESS OPERATIONS WORKFLOW</a:t>
            </a:r>
          </a:p>
        </p:txBody>
      </p:sp>
    </p:spTree>
    <p:extLst>
      <p:ext uri="{BB962C8B-B14F-4D97-AF65-F5344CB8AC3E}">
        <p14:creationId xmlns:p14="http://schemas.microsoft.com/office/powerpoint/2010/main" val="1660936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41864-D39B-BAB9-936D-4F498B8904A1}"/>
              </a:ext>
            </a:extLst>
          </p:cNvPr>
          <p:cNvSpPr>
            <a:spLocks noGrp="1"/>
          </p:cNvSpPr>
          <p:nvPr>
            <p:ph type="title"/>
          </p:nvPr>
        </p:nvSpPr>
        <p:spPr/>
        <p:txBody>
          <a:bodyPr/>
          <a:lstStyle/>
          <a:p>
            <a:r>
              <a:rPr lang="en-IN" dirty="0"/>
              <a:t>ALITA BUSINESS OPERATIONS </a:t>
            </a:r>
          </a:p>
        </p:txBody>
      </p:sp>
      <p:sp>
        <p:nvSpPr>
          <p:cNvPr id="3" name="Content Placeholder 2">
            <a:extLst>
              <a:ext uri="{FF2B5EF4-FFF2-40B4-BE49-F238E27FC236}">
                <a16:creationId xmlns:a16="http://schemas.microsoft.com/office/drawing/2014/main" id="{3F0FBBAA-0C40-231D-6D1D-FA40878DDCDC}"/>
              </a:ext>
            </a:extLst>
          </p:cNvPr>
          <p:cNvSpPr>
            <a:spLocks noGrp="1"/>
          </p:cNvSpPr>
          <p:nvPr>
            <p:ph idx="1"/>
          </p:nvPr>
        </p:nvSpPr>
        <p:spPr/>
        <p:txBody>
          <a:bodyPr vert="horz" lIns="91440" tIns="45720" rIns="91440" bIns="45720" rtlCol="0" anchor="t">
            <a:normAutofit lnSpcReduction="10000"/>
          </a:bodyPr>
          <a:lstStyle/>
          <a:p>
            <a:r>
              <a:rPr lang="en-IN" sz="1400" b="1" dirty="0">
                <a:latin typeface="+mj-lt"/>
              </a:rPr>
              <a:t>FLEET PROCESS</a:t>
            </a:r>
            <a:endParaRPr lang="en-IN" sz="1400" b="1" dirty="0">
              <a:latin typeface="+mj-lt"/>
              <a:ea typeface="Calibri Light"/>
              <a:cs typeface="Calibri Light"/>
            </a:endParaRPr>
          </a:p>
          <a:p>
            <a:r>
              <a:rPr lang="en-IN" sz="1200" dirty="0">
                <a:latin typeface="+mj-lt"/>
              </a:rPr>
              <a:t>ALITA is involved in Fleet management and providing Financial Services to Tenants(Customers).</a:t>
            </a:r>
          </a:p>
          <a:p>
            <a:r>
              <a:rPr lang="en-IN" sz="1200" dirty="0">
                <a:latin typeface="+mj-lt"/>
              </a:rPr>
              <a:t>ALITA Business includes Fleet Financial management &amp; Billing Operations.</a:t>
            </a:r>
          </a:p>
          <a:p>
            <a:r>
              <a:rPr lang="en-IN" sz="1200" dirty="0">
                <a:latin typeface="+mj-lt"/>
              </a:rPr>
              <a:t>Fleet Process  is to ensure availability of Tenant Fleet(Vehicle/Plate) Information with Vektorr Database(ALITA Database) with updated data. This facilitates Automated Payment for Tolls by Vendors through the Vehicle/Plate Information provided to vendor by ALITA.</a:t>
            </a:r>
          </a:p>
          <a:p>
            <a:r>
              <a:rPr lang="en-IN" sz="1200" dirty="0">
                <a:latin typeface="+mj-lt"/>
              </a:rPr>
              <a:t>For ALITA to have Automated Toll Payments, Tenant Fleet Information is necessary and is shared by Tenant to ALITA.</a:t>
            </a:r>
            <a:r>
              <a:rPr lang="en-IN" sz="1200" b="1" dirty="0">
                <a:latin typeface="+mj-lt"/>
              </a:rPr>
              <a:t>(Fleet Receive</a:t>
            </a:r>
            <a:r>
              <a:rPr lang="en-IN" sz="1200" dirty="0">
                <a:latin typeface="+mj-lt"/>
              </a:rPr>
              <a:t>)</a:t>
            </a:r>
          </a:p>
          <a:p>
            <a:r>
              <a:rPr lang="en-IN" sz="1200" dirty="0">
                <a:latin typeface="+mj-lt"/>
              </a:rPr>
              <a:t>Frequency of Fleet Information received differs based on the Tenants.</a:t>
            </a:r>
          </a:p>
          <a:p>
            <a:r>
              <a:rPr lang="en-IN" sz="1200" dirty="0">
                <a:latin typeface="+mj-lt"/>
              </a:rPr>
              <a:t>Once the Fleet Information received from tenant , the records are processed, and valid records are sent to Vendor.(</a:t>
            </a:r>
            <a:r>
              <a:rPr lang="en-IN" sz="1200" b="1" dirty="0">
                <a:latin typeface="+mj-lt"/>
              </a:rPr>
              <a:t>Vendor Broadcast</a:t>
            </a:r>
            <a:r>
              <a:rPr lang="en-IN" sz="1200" dirty="0">
                <a:latin typeface="+mj-lt"/>
              </a:rPr>
              <a:t>)</a:t>
            </a:r>
          </a:p>
          <a:p>
            <a:r>
              <a:rPr lang="en-IN" sz="1200" dirty="0">
                <a:latin typeface="+mj-lt"/>
              </a:rPr>
              <a:t>Vendor stores the Fleet Records in Vendor Database which maybe further grouped depending upon the accounts maintained by ALITA for the respective Tenants with Account Limit for each Account.</a:t>
            </a:r>
          </a:p>
          <a:p>
            <a:r>
              <a:rPr lang="en-IN" sz="1200" dirty="0">
                <a:latin typeface="+mj-lt"/>
              </a:rPr>
              <a:t>Example: </a:t>
            </a:r>
            <a:r>
              <a:rPr lang="en-IN" sz="1200" b="1" dirty="0">
                <a:latin typeface="+mj-lt"/>
              </a:rPr>
              <a:t>ALITA maintains a total of 26 Accounts with Vendor ISTHA for its Tenants.</a:t>
            </a:r>
            <a:endParaRPr lang="en-IN" sz="1200" b="1" dirty="0">
              <a:latin typeface="+mj-lt"/>
              <a:ea typeface="Calibri Light"/>
              <a:cs typeface="Calibri Light"/>
            </a:endParaRPr>
          </a:p>
          <a:p>
            <a:r>
              <a:rPr lang="en-IN" sz="1200" b="1" dirty="0">
                <a:latin typeface="+mj-lt"/>
              </a:rPr>
              <a:t>PENSKE:19 Accounts FLEETWORTHY:6 Accounts FLEXFLEET:1 Account.</a:t>
            </a:r>
            <a:endParaRPr lang="en-IN" sz="1200" b="1" dirty="0">
              <a:latin typeface="+mj-lt"/>
              <a:ea typeface="Calibri Light"/>
              <a:cs typeface="Calibri Light"/>
            </a:endParaRPr>
          </a:p>
          <a:p>
            <a:r>
              <a:rPr lang="en-IN" sz="1200" dirty="0">
                <a:latin typeface="+mj-lt"/>
              </a:rPr>
              <a:t>To facilitate Automated Toll Payment, ALITA replenishes amount in the corresponding Vendor Accounts in regular time interval based on the Account Balance by monitoring the Transactions for each account.</a:t>
            </a:r>
          </a:p>
          <a:p>
            <a:r>
              <a:rPr lang="en-IN" sz="1200" b="1" dirty="0">
                <a:latin typeface="+mj-lt"/>
              </a:rPr>
              <a:t>REVERSE SYNC </a:t>
            </a:r>
            <a:r>
              <a:rPr lang="en-IN" sz="1200" dirty="0">
                <a:latin typeface="+mj-lt"/>
              </a:rPr>
              <a:t>is done for ascertaining the exact difference of  Plate Records between Vendor Site and Vektorr database thus helping ALITA to reduce the discrepancies in Plate Records . This helps to regulate Plate Records and improvises Payment Processing thus reducing the expenses.</a:t>
            </a:r>
          </a:p>
          <a:p>
            <a:pPr marL="0" indent="0">
              <a:buNone/>
            </a:pPr>
            <a:r>
              <a:rPr lang="en-IN" sz="1200" dirty="0">
                <a:latin typeface="+mj-lt"/>
              </a:rPr>
              <a:t>Quality Check is done during Fleet Process to ensure only Valid, Non duplicate records are sent to the Next stages and subsequently to Vendor.</a:t>
            </a:r>
            <a:endParaRPr lang="en-IN" sz="1200" dirty="0">
              <a:latin typeface="+mj-lt"/>
              <a:ea typeface="Calibri Light"/>
              <a:cs typeface="Calibri Light"/>
            </a:endParaRPr>
          </a:p>
          <a:p>
            <a:endParaRPr lang="en-IN" sz="1400" dirty="0">
              <a:latin typeface="+mj-lt"/>
            </a:endParaRPr>
          </a:p>
          <a:p>
            <a:endParaRPr lang="en-IN" sz="1400" dirty="0">
              <a:latin typeface="+mj-lt"/>
            </a:endParaRPr>
          </a:p>
          <a:p>
            <a:endParaRPr lang="en-IN" sz="1400" dirty="0">
              <a:latin typeface="+mj-lt"/>
            </a:endParaRPr>
          </a:p>
          <a:p>
            <a:pPr marL="0" indent="0">
              <a:buNone/>
            </a:pPr>
            <a:endParaRPr lang="en-IN" sz="1400" dirty="0">
              <a:latin typeface="+mj-lt"/>
            </a:endParaRPr>
          </a:p>
        </p:txBody>
      </p:sp>
    </p:spTree>
    <p:extLst>
      <p:ext uri="{BB962C8B-B14F-4D97-AF65-F5344CB8AC3E}">
        <p14:creationId xmlns:p14="http://schemas.microsoft.com/office/powerpoint/2010/main" val="1445272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1C328-7848-5D3E-6601-111ED594E877}"/>
              </a:ext>
            </a:extLst>
          </p:cNvPr>
          <p:cNvSpPr>
            <a:spLocks noGrp="1"/>
          </p:cNvSpPr>
          <p:nvPr>
            <p:ph type="title"/>
          </p:nvPr>
        </p:nvSpPr>
        <p:spPr/>
        <p:txBody>
          <a:bodyPr/>
          <a:lstStyle/>
          <a:p>
            <a:r>
              <a:rPr lang="en-IN" dirty="0"/>
              <a:t>ALITA BUSINESS OPERATIONS</a:t>
            </a:r>
          </a:p>
        </p:txBody>
      </p:sp>
      <p:sp>
        <p:nvSpPr>
          <p:cNvPr id="3" name="Content Placeholder 2">
            <a:extLst>
              <a:ext uri="{FF2B5EF4-FFF2-40B4-BE49-F238E27FC236}">
                <a16:creationId xmlns:a16="http://schemas.microsoft.com/office/drawing/2014/main" id="{8B779350-4F12-5EBC-BD33-9DAD15ACD0A4}"/>
              </a:ext>
            </a:extLst>
          </p:cNvPr>
          <p:cNvSpPr>
            <a:spLocks noGrp="1"/>
          </p:cNvSpPr>
          <p:nvPr>
            <p:ph idx="1"/>
          </p:nvPr>
        </p:nvSpPr>
        <p:spPr/>
        <p:txBody>
          <a:bodyPr vert="horz" lIns="91440" tIns="45720" rIns="91440" bIns="45720" rtlCol="0" anchor="t">
            <a:normAutofit fontScale="92500" lnSpcReduction="20000"/>
          </a:bodyPr>
          <a:lstStyle/>
          <a:p>
            <a:r>
              <a:rPr lang="en-IN" sz="1500" dirty="0"/>
              <a:t>BILLING OPERATIONS</a:t>
            </a:r>
            <a:endParaRPr lang="en-IN" sz="1500">
              <a:ea typeface="Calibri"/>
              <a:cs typeface="Calibri"/>
            </a:endParaRPr>
          </a:p>
          <a:p>
            <a:r>
              <a:rPr lang="en-IN" sz="1300" dirty="0"/>
              <a:t>Billing plays a vital role in ALITA Services. Billing the expenses helps ALITA to store the data and recover the Expenses from Tenant for the Valid Transactions.</a:t>
            </a:r>
            <a:endParaRPr lang="en-IN" sz="1300" dirty="0">
              <a:ea typeface="Calibri"/>
              <a:cs typeface="Calibri"/>
            </a:endParaRPr>
          </a:p>
          <a:p>
            <a:r>
              <a:rPr lang="en-IN" sz="1300" dirty="0"/>
              <a:t>Vendor sends ALITA Toll Transaction Files based on the Transactions recoded by the Vendor, for the Vehicles available with Vendor Database.</a:t>
            </a:r>
            <a:endParaRPr lang="en-IN" sz="1300" dirty="0">
              <a:ea typeface="Calibri"/>
              <a:cs typeface="Calibri"/>
            </a:endParaRPr>
          </a:p>
          <a:p>
            <a:r>
              <a:rPr lang="en-IN" sz="1300" dirty="0"/>
              <a:t>The Valid Toll transactions are billed by ALITA and the Bill is stored in Vektorr database.</a:t>
            </a:r>
            <a:endParaRPr lang="en-IN" sz="1300" dirty="0">
              <a:ea typeface="Calibri"/>
              <a:cs typeface="Calibri"/>
            </a:endParaRPr>
          </a:p>
          <a:p>
            <a:r>
              <a:rPr lang="en-IN" sz="1300" dirty="0"/>
              <a:t>Based on the type of File Received for Automated Toll Payments the Accounts in Vendor are classified into two types</a:t>
            </a:r>
            <a:endParaRPr lang="en-IN" sz="1300" dirty="0">
              <a:ea typeface="Calibri"/>
              <a:cs typeface="Calibri"/>
            </a:endParaRPr>
          </a:p>
          <a:p>
            <a:r>
              <a:rPr lang="en-IN" sz="1300" b="1" dirty="0"/>
              <a:t>BOS</a:t>
            </a:r>
            <a:r>
              <a:rPr lang="en-IN" sz="1300" dirty="0"/>
              <a:t>(</a:t>
            </a:r>
            <a:r>
              <a:rPr lang="en-IN" sz="1300" b="1" dirty="0"/>
              <a:t>Back Office System</a:t>
            </a:r>
            <a:r>
              <a:rPr lang="en-IN" sz="1300" dirty="0"/>
              <a:t>)-  Toll Transactions File received from Vendor contains only transactions of Vehicle and no other records are found.</a:t>
            </a:r>
            <a:endParaRPr lang="en-IN" sz="1300" dirty="0">
              <a:ea typeface="Calibri"/>
              <a:cs typeface="Calibri"/>
            </a:endParaRPr>
          </a:p>
          <a:p>
            <a:r>
              <a:rPr lang="en-IN" sz="1300" b="1" dirty="0"/>
              <a:t>OL</a:t>
            </a:r>
            <a:r>
              <a:rPr lang="en-IN" sz="1300" dirty="0"/>
              <a:t>(</a:t>
            </a:r>
            <a:r>
              <a:rPr lang="en-IN" sz="1300" b="1" dirty="0"/>
              <a:t>Online Accounts</a:t>
            </a:r>
            <a:r>
              <a:rPr lang="en-IN" sz="1300" dirty="0"/>
              <a:t>)- Toll transactions File received contains Toll transactions, Credit, Refund and miscellaneous transactions other than Toll Charges. Chances for Duplicate transactions are found in OL Toll Files.</a:t>
            </a:r>
            <a:endParaRPr lang="en-IN" sz="1300" dirty="0">
              <a:ea typeface="Calibri"/>
              <a:cs typeface="Calibri"/>
            </a:endParaRPr>
          </a:p>
          <a:p>
            <a:r>
              <a:rPr lang="en-IN" sz="1300" dirty="0"/>
              <a:t>Based on Image Processing &amp; payment using </a:t>
            </a:r>
            <a:r>
              <a:rPr lang="en-IN" sz="1300" b="1" dirty="0"/>
              <a:t>DMS</a:t>
            </a:r>
            <a:r>
              <a:rPr lang="en-IN" sz="1300" dirty="0"/>
              <a:t>(</a:t>
            </a:r>
            <a:r>
              <a:rPr lang="en-IN" sz="1300" b="1" dirty="0"/>
              <a:t>Document Management System</a:t>
            </a:r>
            <a:r>
              <a:rPr lang="en-IN" sz="1300" dirty="0"/>
              <a:t>) two more categories are included in Billing</a:t>
            </a:r>
            <a:endParaRPr lang="en-IN" sz="1300" dirty="0">
              <a:ea typeface="Calibri"/>
              <a:cs typeface="Calibri"/>
            </a:endParaRPr>
          </a:p>
          <a:p>
            <a:r>
              <a:rPr lang="en-IN" sz="1300" b="1" dirty="0"/>
              <a:t>UTN</a:t>
            </a:r>
            <a:r>
              <a:rPr lang="en-IN" sz="1300" dirty="0"/>
              <a:t>: </a:t>
            </a:r>
            <a:r>
              <a:rPr lang="en-IN" sz="1300" b="1" dirty="0"/>
              <a:t>Unpaid Toll Notices</a:t>
            </a:r>
            <a:r>
              <a:rPr lang="en-IN" sz="1300" dirty="0"/>
              <a:t> – Fleet/Vehicle records unavailable with Vendor. The Toll transactions for the Vehicles are sent to the Tenant Address which are processed using DMS. The UTN images are scanned and uploaded by Scanning team in USA(Onsite team)</a:t>
            </a:r>
            <a:endParaRPr lang="en-IN" sz="1300" dirty="0">
              <a:ea typeface="Calibri"/>
              <a:cs typeface="Calibri"/>
            </a:endParaRPr>
          </a:p>
          <a:p>
            <a:r>
              <a:rPr lang="en-IN" sz="1300" b="1" dirty="0"/>
              <a:t>NTC</a:t>
            </a:r>
            <a:r>
              <a:rPr lang="en-IN" sz="1300" dirty="0"/>
              <a:t>: </a:t>
            </a:r>
            <a:r>
              <a:rPr lang="en-IN" sz="1300" b="1" dirty="0"/>
              <a:t>Non -Toll Citations</a:t>
            </a:r>
            <a:r>
              <a:rPr lang="en-IN" sz="1300" dirty="0"/>
              <a:t> are transactions registered other than Toll transactions that includes Over speeding, Dereliction notices and other Transactions related to Violations.</a:t>
            </a:r>
            <a:endParaRPr lang="en-IN" sz="1300" dirty="0">
              <a:ea typeface="Calibri"/>
              <a:cs typeface="Calibri"/>
            </a:endParaRPr>
          </a:p>
          <a:p>
            <a:r>
              <a:rPr lang="en-IN" sz="1300" dirty="0"/>
              <a:t>The Toll Bill Files &amp;Payment processed Files from </a:t>
            </a:r>
            <a:r>
              <a:rPr lang="en-IN" sz="1300" b="1" dirty="0"/>
              <a:t>DMS </a:t>
            </a:r>
            <a:r>
              <a:rPr lang="en-IN" sz="1300" dirty="0"/>
              <a:t>undergoes Product quality Check – validation of necessary columns in the File.</a:t>
            </a:r>
            <a:endParaRPr lang="en-IN" sz="1300" dirty="0">
              <a:ea typeface="Calibri"/>
              <a:cs typeface="Calibri"/>
            </a:endParaRPr>
          </a:p>
          <a:p>
            <a:r>
              <a:rPr lang="en-IN" sz="1300" dirty="0"/>
              <a:t>The transaction files are subjected to Test Billing after completion moved to Production Billing(Purchase Order Management). The transactions are subjected to scrutiny &amp; validated for Duplicate Transactions, Erroneous Data , data corruption and data accuracy.</a:t>
            </a:r>
            <a:endParaRPr lang="en-IN" sz="1300">
              <a:ea typeface="Calibri"/>
              <a:cs typeface="Calibri"/>
            </a:endParaRPr>
          </a:p>
          <a:p>
            <a:r>
              <a:rPr lang="en-IN" sz="1300" dirty="0"/>
              <a:t>After </a:t>
            </a:r>
            <a:r>
              <a:rPr lang="en-IN" sz="1300" b="1" dirty="0"/>
              <a:t>POM</a:t>
            </a:r>
            <a:r>
              <a:rPr lang="en-IN" sz="1300" dirty="0"/>
              <a:t> billing files undergo </a:t>
            </a:r>
            <a:r>
              <a:rPr lang="en-IN" sz="1300" b="1" dirty="0"/>
              <a:t>QC </a:t>
            </a:r>
            <a:r>
              <a:rPr lang="en-IN" sz="1300" dirty="0"/>
              <a:t>and moved to </a:t>
            </a:r>
            <a:r>
              <a:rPr lang="en-IN" sz="1300" b="1" dirty="0"/>
              <a:t>TBS</a:t>
            </a:r>
            <a:r>
              <a:rPr lang="en-IN" sz="1300" dirty="0"/>
              <a:t> (</a:t>
            </a:r>
            <a:r>
              <a:rPr lang="en-IN" sz="1300" b="1" dirty="0"/>
              <a:t>Tenant Billing</a:t>
            </a:r>
            <a:r>
              <a:rPr lang="en-IN" sz="1300" dirty="0"/>
              <a:t>) for invoicing the transactions to tenant.</a:t>
            </a:r>
            <a:endParaRPr lang="en-IN" sz="1300" dirty="0">
              <a:ea typeface="Calibri"/>
              <a:cs typeface="Calibri"/>
            </a:endParaRPr>
          </a:p>
          <a:p>
            <a:r>
              <a:rPr lang="en-IN" sz="1300" dirty="0"/>
              <a:t>After necessary Quality Check &amp; Validations by the Team, Generated Invoices are sent to Tenants for payment.</a:t>
            </a:r>
            <a:endParaRPr lang="en-IN" sz="1300" dirty="0">
              <a:ea typeface="Calibri" panose="020F0502020204030204"/>
              <a:cs typeface="Calibri" panose="020F0502020204030204"/>
            </a:endParaRPr>
          </a:p>
        </p:txBody>
      </p:sp>
    </p:spTree>
    <p:extLst>
      <p:ext uri="{BB962C8B-B14F-4D97-AF65-F5344CB8AC3E}">
        <p14:creationId xmlns:p14="http://schemas.microsoft.com/office/powerpoint/2010/main" val="40805547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A0056E33468214B8A663904C60633BB" ma:contentTypeVersion="16" ma:contentTypeDescription="Create a new document." ma:contentTypeScope="" ma:versionID="0d1d8109f3350a13b3c080dc3ef6807f">
  <xsd:schema xmlns:xsd="http://www.w3.org/2001/XMLSchema" xmlns:xs="http://www.w3.org/2001/XMLSchema" xmlns:p="http://schemas.microsoft.com/office/2006/metadata/properties" xmlns:ns2="b1a5a2dd-f571-46bc-a612-74b8ada88a6d" xmlns:ns3="89c1d889-28e6-4d5b-84fc-b7f5ea7150ae" xmlns:ns4="fe093807-cf3a-4cd1-966d-0865fe1842ee" targetNamespace="http://schemas.microsoft.com/office/2006/metadata/properties" ma:root="true" ma:fieldsID="b138230b6d5870216f69800ced8782fd" ns2:_="" ns3:_="" ns4:_="">
    <xsd:import namespace="b1a5a2dd-f571-46bc-a612-74b8ada88a6d"/>
    <xsd:import namespace="89c1d889-28e6-4d5b-84fc-b7f5ea7150ae"/>
    <xsd:import namespace="fe093807-cf3a-4cd1-966d-0865fe1842e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LengthInSeconds" minOccurs="0"/>
                <xsd:element ref="ns2:MediaServiceDateTaken" minOccurs="0"/>
                <xsd:element ref="ns2:MediaServiceLoca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a5a2dd-f571-46bc-a612-74b8ada88a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0177436-8eb0-42bf-a97f-5912640ae683"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DateTaken" ma:index="21" nillable="true" ma:displayName="MediaServiceDateTaken" ma:hidden="true" ma:internalName="MediaServiceDateTaken" ma:readOnly="true">
      <xsd:simpleType>
        <xsd:restriction base="dms:Text"/>
      </xsd:simpleType>
    </xsd:element>
    <xsd:element name="MediaServiceLocation" ma:index="22" nillable="true" ma:displayName="Location" ma:internalName="MediaServiceLocatio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9c1d889-28e6-4d5b-84fc-b7f5ea7150a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e093807-cf3a-4cd1-966d-0865fe1842ee"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7d4fb47d-a757-47b7-83da-26c14ed75bd0}" ma:internalName="TaxCatchAll" ma:showField="CatchAllData" ma:web="fe093807-cf3a-4cd1-966d-0865fe1842e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e093807-cf3a-4cd1-966d-0865fe1842ee" xsi:nil="true"/>
    <lcf76f155ced4ddcb4097134ff3c332f xmlns="b1a5a2dd-f571-46bc-a612-74b8ada88a6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882CEAA-4F49-4E14-959E-91CE47B8E4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1a5a2dd-f571-46bc-a612-74b8ada88a6d"/>
    <ds:schemaRef ds:uri="89c1d889-28e6-4d5b-84fc-b7f5ea7150ae"/>
    <ds:schemaRef ds:uri="fe093807-cf3a-4cd1-966d-0865fe1842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F3A69D2-1EB5-4B8D-BF87-0DAB07D307BC}">
  <ds:schemaRefs>
    <ds:schemaRef ds:uri="http://schemas.microsoft.com/sharepoint/v3/contenttype/forms"/>
  </ds:schemaRefs>
</ds:datastoreItem>
</file>

<file path=customXml/itemProps3.xml><?xml version="1.0" encoding="utf-8"?>
<ds:datastoreItem xmlns:ds="http://schemas.openxmlformats.org/officeDocument/2006/customXml" ds:itemID="{244721B7-E79C-4C15-A22B-0095E535E7BD}">
  <ds:schemaRefs>
    <ds:schemaRef ds:uri="http://purl.org/dc/dcmitype/"/>
    <ds:schemaRef ds:uri="http://purl.org/dc/elements/1.1/"/>
    <ds:schemaRef ds:uri="fe093807-cf3a-4cd1-966d-0865fe1842ee"/>
    <ds:schemaRef ds:uri="http://schemas.microsoft.com/office/2006/metadata/properties"/>
    <ds:schemaRef ds:uri="http://www.w3.org/XML/1998/namespace"/>
    <ds:schemaRef ds:uri="http://schemas.microsoft.com/office/2006/documentManagement/types"/>
    <ds:schemaRef ds:uri="http://purl.org/dc/terms/"/>
    <ds:schemaRef ds:uri="http://schemas.openxmlformats.org/package/2006/metadata/core-properties"/>
    <ds:schemaRef ds:uri="http://schemas.microsoft.com/office/infopath/2007/PartnerControls"/>
    <ds:schemaRef ds:uri="89c1d889-28e6-4d5b-84fc-b7f5ea7150ae"/>
    <ds:schemaRef ds:uri="b1a5a2dd-f571-46bc-a612-74b8ada88a6d"/>
  </ds:schemaRefs>
</ds:datastoreItem>
</file>

<file path=docProps/app.xml><?xml version="1.0" encoding="utf-8"?>
<Properties xmlns="http://schemas.openxmlformats.org/officeDocument/2006/extended-properties" xmlns:vt="http://schemas.openxmlformats.org/officeDocument/2006/docPropsVTypes">
  <TotalTime>615</TotalTime>
  <Words>650</Words>
  <Application>Microsoft Office PowerPoint</Application>
  <PresentationFormat>Widescreen</PresentationFormat>
  <Paragraphs>32</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ALITA BUSINESS OPERATIONS WORKFLOW</vt:lpstr>
      <vt:lpstr>ALITA BUSINESS OPERATIONS </vt:lpstr>
      <vt:lpstr>ALITA BUSINESS OPERATIONS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Sabarish Thiruambalam (ALITA)</dc:creator>
  <cp:lastModifiedBy>Ravibalan Chithamparavel (ALITA)</cp:lastModifiedBy>
  <cp:revision>64</cp:revision>
  <dcterms:created xsi:type="dcterms:W3CDTF">2023-12-30T09:45:45Z</dcterms:created>
  <dcterms:modified xsi:type="dcterms:W3CDTF">2025-09-18T15:07:48Z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0x0101006A0056E33468214B8A663904C60633BB</vt:lpwstr>
  </property>
  <property fmtid="{D5CDD505-2E9C-101B-9397-08002B2CF9AE}" pid="3" name="MediaServiceImageTags">
    <vt:lpwstr/>
  </property>
</Properties>
</file>