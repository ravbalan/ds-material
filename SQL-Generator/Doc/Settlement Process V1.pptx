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6"/>
  </p:notesMasterIdLst>
  <p:sldIdLst>
    <p:sldId id="256" r:id="rId5"/>
    <p:sldId id="282" r:id="rId6"/>
    <p:sldId id="283" r:id="rId7"/>
    <p:sldId id="288" r:id="rId8"/>
    <p:sldId id="318" r:id="rId9"/>
    <p:sldId id="324" r:id="rId10"/>
    <p:sldId id="317" r:id="rId11"/>
    <p:sldId id="315" r:id="rId12"/>
    <p:sldId id="314" r:id="rId13"/>
    <p:sldId id="323" r:id="rId14"/>
    <p:sldId id="321" r:id="rId15"/>
    <p:sldId id="322" r:id="rId16"/>
    <p:sldId id="284" r:id="rId17"/>
    <p:sldId id="311" r:id="rId18"/>
    <p:sldId id="310" r:id="rId19"/>
    <p:sldId id="309" r:id="rId20"/>
    <p:sldId id="308" r:id="rId21"/>
    <p:sldId id="307" r:id="rId22"/>
    <p:sldId id="306" r:id="rId23"/>
    <p:sldId id="305" r:id="rId24"/>
    <p:sldId id="304" r:id="rId25"/>
    <p:sldId id="303" r:id="rId26"/>
    <p:sldId id="302" r:id="rId27"/>
    <p:sldId id="301" r:id="rId28"/>
    <p:sldId id="300" r:id="rId29"/>
    <p:sldId id="299" r:id="rId30"/>
    <p:sldId id="298" r:id="rId31"/>
    <p:sldId id="297" r:id="rId32"/>
    <p:sldId id="295" r:id="rId33"/>
    <p:sldId id="296" r:id="rId34"/>
    <p:sldId id="294" r:id="rId35"/>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8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00CB87-1AAA-8373-33C1-914F2F3559FB}" v="2100" dt="2025-09-17T16:42:22.903"/>
    <p1510:client id="{7893E4F1-EA8F-51BB-3422-F1E440A676EB}" v="589" dt="2025-09-18T15:02:23.337"/>
    <p1510:client id="{9B7D94BF-F077-D362-5B4A-338E78E84C33}" v="2" dt="2025-09-16T17:11:38.9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5116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D25A4-71A3-45E3-C295-AFC2F025F6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B8294A-3919-B453-56E9-D52ABD917B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5870E0-5306-2EA9-3B97-4B637BE9109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1504C55-5BDB-3BCB-CD5D-EFDFBD3DBA8C}"/>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205789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E6112-54A5-0CF5-1D6E-CA7104882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8713A6-85F6-2BE6-1BBB-11A8F9175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C4C89B-5EBB-79C5-A253-A43A0F3CBBD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60BD013-9368-AD55-3806-CA6C9FD49FC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79456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CDC33-8F76-44C4-5B86-807072A6C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EA5D5-E8D0-76F2-AB60-3498C85C52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CB335-7E98-3FEC-01BB-51510F059B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3DB1610-C9A7-DE04-366D-15D54F00272A}"/>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056147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B311D-291C-5262-2606-130DA013FE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91552D-75A1-1558-AD9B-5F35A7E59D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38A5E-D0F9-984B-9EB9-63A673AA3E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4386A14-D055-A5A9-14FB-4C8696785915}"/>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599768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C47F9-97B8-18F4-F9CD-95765290C1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9C0BF-58BF-4F39-1CFC-E9135139E6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EBE8D2-0BCB-8301-1974-8DFD5736DC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0B10EF-175B-C5AD-0448-08C521FCE180}"/>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101863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F939A-C0FF-4A29-0BB2-7877AA766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3405C-9750-2831-18CD-7AE41956B5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AB229C-1D84-0A23-9C2E-27A9D7B6CB6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9AB23D-2BEB-F679-FE84-700A582B0B30}"/>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589530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26D3D-36F3-1802-04A1-22AADC1776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EBFDF5-79F2-E524-C9B1-82A93EEA1E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7E2D25-242E-0A5C-7CDF-4CF584BD2E6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E87D50-4525-F11E-3176-4AEB9C1233E5}"/>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75956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E2C2B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1CB2D-4DE1-B7C5-2B64-332016FE9D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03CFE0-EE50-E57A-B327-D91E2C714B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01A14C-C8C3-BBF2-1CC3-6DDB3B4EB300}"/>
              </a:ext>
            </a:extLst>
          </p:cNvPr>
          <p:cNvSpPr>
            <a:spLocks noGrp="1"/>
          </p:cNvSpPr>
          <p:nvPr>
            <p:ph type="dt" sz="half" idx="10"/>
          </p:nvPr>
        </p:nvSpPr>
        <p:spPr/>
        <p:txBody>
          <a:bodyPr/>
          <a:lstStyle/>
          <a:p>
            <a:fld id="{DC00E9AA-69BD-4648-B333-087EC94A90E9}" type="datetimeFigureOut">
              <a:rPr lang="en-US" smtClean="0"/>
              <a:t>9/18/2025</a:t>
            </a:fld>
            <a:endParaRPr lang="en-US"/>
          </a:p>
        </p:txBody>
      </p:sp>
      <p:sp>
        <p:nvSpPr>
          <p:cNvPr id="5" name="Footer Placeholder 4">
            <a:extLst>
              <a:ext uri="{FF2B5EF4-FFF2-40B4-BE49-F238E27FC236}">
                <a16:creationId xmlns:a16="http://schemas.microsoft.com/office/drawing/2014/main" id="{3A94145D-7F89-8282-A220-F8045A908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91774B-00DA-381D-D904-E30FA9C4DD36}"/>
              </a:ext>
            </a:extLst>
          </p:cNvPr>
          <p:cNvSpPr>
            <a:spLocks noGrp="1"/>
          </p:cNvSpPr>
          <p:nvPr>
            <p:ph type="sldNum" sz="quarter" idx="12"/>
          </p:nvPr>
        </p:nvSpPr>
        <p:spPr/>
        <p:txBody>
          <a:bodyPr/>
          <a:lstStyle/>
          <a:p>
            <a:fld id="{7307A4D9-2C78-4E75-B14A-EC9A67A54085}" type="slidenum">
              <a:rPr lang="en-US" smtClean="0"/>
              <a:t>‹#›</a:t>
            </a:fld>
            <a:endParaRPr lang="en-US"/>
          </a:p>
        </p:txBody>
      </p:sp>
    </p:spTree>
    <p:extLst>
      <p:ext uri="{BB962C8B-B14F-4D97-AF65-F5344CB8AC3E}">
        <p14:creationId xmlns:p14="http://schemas.microsoft.com/office/powerpoint/2010/main" val="3556618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D9D36D6-2AC5-46A1-A849-4C82D5264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4626742"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0"/>
          <p:cNvSpPr/>
          <p:nvPr/>
        </p:nvSpPr>
        <p:spPr>
          <a:xfrm>
            <a:off x="6425946" y="662618"/>
            <a:ext cx="7198608" cy="4011762"/>
          </a:xfrm>
          <a:prstGeom prst="rect">
            <a:avLst/>
          </a:prstGeom>
          <a:noFill/>
        </p:spPr>
        <p:txBody>
          <a:bodyPr vert="horz" lIns="91440" tIns="45720" rIns="91440" bIns="45720" rtlCol="0" anchor="b">
            <a:normAutofit/>
          </a:bodyPr>
          <a:lstStyle/>
          <a:p>
            <a:pPr marL="0" indent="0">
              <a:lnSpc>
                <a:spcPct val="90000"/>
              </a:lnSpc>
              <a:spcBef>
                <a:spcPct val="0"/>
              </a:spcBef>
              <a:spcAft>
                <a:spcPts val="600"/>
              </a:spcAft>
            </a:pPr>
            <a:endParaRPr lang="en-US" sz="6200" b="1">
              <a:latin typeface="+mj-lt"/>
              <a:ea typeface="+mj-ea"/>
              <a:cs typeface="+mj-cs"/>
            </a:endParaRPr>
          </a:p>
          <a:p>
            <a:pPr marL="0" indent="0">
              <a:lnSpc>
                <a:spcPct val="90000"/>
              </a:lnSpc>
              <a:spcBef>
                <a:spcPct val="0"/>
              </a:spcBef>
              <a:spcAft>
                <a:spcPts val="600"/>
              </a:spcAft>
            </a:pPr>
            <a:r>
              <a:rPr lang="en-US" sz="6200" b="1">
                <a:latin typeface="+mj-lt"/>
                <a:ea typeface="+mj-ea"/>
                <a:cs typeface="+mj-cs"/>
              </a:rPr>
              <a:t>Settlements Process</a:t>
            </a:r>
            <a:endParaRPr lang="en-US" sz="6200">
              <a:latin typeface="+mj-lt"/>
              <a:ea typeface="+mj-ea"/>
              <a:cs typeface="+mj-cs"/>
            </a:endParaRPr>
          </a:p>
        </p:txBody>
      </p:sp>
      <p:sp>
        <p:nvSpPr>
          <p:cNvPr id="4" name="Text 1"/>
          <p:cNvSpPr/>
          <p:nvPr/>
        </p:nvSpPr>
        <p:spPr>
          <a:xfrm>
            <a:off x="6425946" y="4880438"/>
            <a:ext cx="7198608" cy="2480482"/>
          </a:xfrm>
          <a:prstGeom prst="rect">
            <a:avLst/>
          </a:prstGeom>
          <a:noFill/>
        </p:spPr>
        <p:txBody>
          <a:bodyPr vert="horz" lIns="91440" tIns="45720" rIns="91440" bIns="45720" rtlCol="0" anchor="t">
            <a:normAutofit/>
          </a:bodyPr>
          <a:lstStyle/>
          <a:p>
            <a:pPr>
              <a:lnSpc>
                <a:spcPct val="90000"/>
              </a:lnSpc>
              <a:spcBef>
                <a:spcPts val="1000"/>
              </a:spcBef>
            </a:pPr>
            <a:endParaRPr lang="en-US" sz="2400">
              <a:ea typeface="Calibri"/>
              <a:cs typeface="Calibri"/>
            </a:endParaRPr>
          </a:p>
        </p:txBody>
      </p:sp>
      <p:pic>
        <p:nvPicPr>
          <p:cNvPr id="2" name="Image 0" descr="preencoded.png"/>
          <p:cNvPicPr>
            <a:picLocks noChangeAspect="1"/>
          </p:cNvPicPr>
          <p:nvPr/>
        </p:nvPicPr>
        <p:blipFill>
          <a:blip r:embed="rId3"/>
          <a:srcRect t="8317" r="-2" b="-2"/>
          <a:stretch>
            <a:fillRect/>
          </a:stretch>
        </p:blipFill>
        <p:spPr>
          <a:xfrm>
            <a:off x="20" y="10"/>
            <a:ext cx="5991586" cy="8229590"/>
          </a:xfrm>
          <a:prstGeom prst="rect">
            <a:avLst/>
          </a:prstGeom>
        </p:spPr>
      </p:pic>
      <p:sp>
        <p:nvSpPr>
          <p:cNvPr id="5" name="Rectangle: Rounded Corners 4">
            <a:extLst>
              <a:ext uri="{FF2B5EF4-FFF2-40B4-BE49-F238E27FC236}">
                <a16:creationId xmlns:a16="http://schemas.microsoft.com/office/drawing/2014/main" id="{D19DBEB1-35FE-476F-ED6E-0507CCA4169B}"/>
              </a:ext>
            </a:extLst>
          </p:cNvPr>
          <p:cNvSpPr/>
          <p:nvPr/>
        </p:nvSpPr>
        <p:spPr>
          <a:xfrm>
            <a:off x="12836501" y="7782870"/>
            <a:ext cx="1668256" cy="362903"/>
          </a:xfrm>
          <a:prstGeom prst="roundRect">
            <a:avLst/>
          </a:prstGeom>
          <a:solidFill>
            <a:schemeClr val="bg2">
              <a:lumMod val="2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29336F-3CA7-02BB-1737-7F5447F361C1}"/>
              </a:ext>
            </a:extLst>
          </p:cNvPr>
          <p:cNvSpPr txBox="1"/>
          <p:nvPr/>
        </p:nvSpPr>
        <p:spPr>
          <a:xfrm>
            <a:off x="257908" y="140677"/>
            <a:ext cx="13915292" cy="7232749"/>
          </a:xfrm>
          <a:prstGeom prst="rect">
            <a:avLst/>
          </a:prstGeom>
          <a:noFill/>
        </p:spPr>
        <p:txBody>
          <a:bodyPr wrap="square" lIns="91440" tIns="45720" rIns="91440" bIns="45720" rtlCol="0" anchor="t">
            <a:spAutoFit/>
          </a:bodyPr>
          <a:lstStyle/>
          <a:p>
            <a:r>
              <a:rPr lang="en-US" sz="3200" b="1" i="1" u="sng">
                <a:solidFill>
                  <a:schemeClr val="bg1"/>
                </a:solidFill>
              </a:rPr>
              <a:t>Overview:</a:t>
            </a:r>
          </a:p>
          <a:p>
            <a:r>
              <a:rPr lang="en-US" sz="2400">
                <a:solidFill>
                  <a:schemeClr val="bg1"/>
                </a:solidFill>
              </a:rPr>
              <a:t>	Settlement is a process of working with Customers and Vendors with the goal is to clear all the outstanding the Citation for the customers, this process involves</a:t>
            </a:r>
            <a:endParaRPr lang="en-US" sz="2400">
              <a:solidFill>
                <a:schemeClr val="bg1"/>
              </a:solidFill>
              <a:ea typeface="Calibri"/>
              <a:cs typeface="Calibri"/>
            </a:endParaRPr>
          </a:p>
          <a:p>
            <a:r>
              <a:rPr lang="en-US" sz="2400">
                <a:solidFill>
                  <a:schemeClr val="bg1"/>
                </a:solidFill>
              </a:rPr>
              <a:t>	Step1: Contacting the vendor with vehicles and citations information.</a:t>
            </a:r>
            <a:endParaRPr lang="en-US" sz="2400">
              <a:solidFill>
                <a:schemeClr val="bg1"/>
              </a:solidFill>
              <a:ea typeface="Calibri"/>
              <a:cs typeface="Calibri"/>
            </a:endParaRPr>
          </a:p>
          <a:p>
            <a:r>
              <a:rPr lang="en-US" sz="2400">
                <a:solidFill>
                  <a:schemeClr val="bg1"/>
                </a:solidFill>
              </a:rPr>
              <a:t>	Step2: Receiving from vendor, all the outstanding citation with the backup transactions details.</a:t>
            </a:r>
            <a:endParaRPr lang="en-US" sz="2400">
              <a:solidFill>
                <a:schemeClr val="bg1"/>
              </a:solidFill>
              <a:ea typeface="Calibri"/>
              <a:cs typeface="Calibri"/>
            </a:endParaRPr>
          </a:p>
          <a:p>
            <a:r>
              <a:rPr lang="en-US" sz="2400">
                <a:solidFill>
                  <a:schemeClr val="bg1"/>
                </a:solidFill>
              </a:rPr>
              <a:t>	Step3: Analyzing is the process of three categories by received Documents from Vendor for </a:t>
            </a:r>
            <a:endParaRPr lang="en-US" sz="2400">
              <a:solidFill>
                <a:schemeClr val="bg1"/>
              </a:solidFill>
              <a:ea typeface="Calibri"/>
              <a:cs typeface="Calibri"/>
            </a:endParaRPr>
          </a:p>
          <a:p>
            <a:pPr lvl="2"/>
            <a:r>
              <a:rPr lang="en-US" sz="2400">
                <a:solidFill>
                  <a:schemeClr val="bg1"/>
                </a:solidFill>
              </a:rPr>
              <a:t>	</a:t>
            </a:r>
            <a:r>
              <a:rPr lang="en-US" sz="2000">
                <a:solidFill>
                  <a:schemeClr val="bg1"/>
                </a:solidFill>
              </a:rPr>
              <a:t>	1.</a:t>
            </a:r>
            <a:r>
              <a:rPr lang="en-US">
                <a:solidFill>
                  <a:schemeClr val="bg1"/>
                </a:solidFill>
              </a:rPr>
              <a:t>C</a:t>
            </a:r>
            <a:r>
              <a:rPr lang="en-US" sz="2000">
                <a:solidFill>
                  <a:schemeClr val="bg1"/>
                </a:solidFill>
              </a:rPr>
              <a:t>ustomer Approval Transactions</a:t>
            </a:r>
            <a:endParaRPr lang="en-US" sz="2000">
              <a:solidFill>
                <a:schemeClr val="bg1"/>
              </a:solidFill>
              <a:ea typeface="Calibri"/>
              <a:cs typeface="Calibri"/>
            </a:endParaRPr>
          </a:p>
          <a:p>
            <a:pPr lvl="2"/>
            <a:r>
              <a:rPr lang="en-US" sz="2000">
                <a:solidFill>
                  <a:schemeClr val="bg1"/>
                </a:solidFill>
              </a:rPr>
              <a:t>		2.Payable Transactions</a:t>
            </a:r>
            <a:endParaRPr lang="en-US" sz="2000">
              <a:solidFill>
                <a:schemeClr val="bg1"/>
              </a:solidFill>
              <a:ea typeface="Calibri"/>
              <a:cs typeface="Calibri"/>
            </a:endParaRPr>
          </a:p>
          <a:p>
            <a:pPr lvl="2"/>
            <a:r>
              <a:rPr lang="en-US" sz="2000">
                <a:solidFill>
                  <a:schemeClr val="bg1"/>
                </a:solidFill>
              </a:rPr>
              <a:t>		3. Disputable Transactions</a:t>
            </a:r>
            <a:endParaRPr lang="en-US" sz="2000">
              <a:solidFill>
                <a:schemeClr val="bg1"/>
              </a:solidFill>
              <a:ea typeface="Calibri"/>
              <a:cs typeface="Calibri"/>
            </a:endParaRPr>
          </a:p>
          <a:p>
            <a:r>
              <a:rPr lang="en-US" sz="2400">
                <a:solidFill>
                  <a:schemeClr val="bg1"/>
                </a:solidFill>
              </a:rPr>
              <a:t>	Step4: Contacting Vendor with the “</a:t>
            </a:r>
            <a:r>
              <a:rPr lang="en-US" sz="2400" b="1" i="1">
                <a:solidFill>
                  <a:schemeClr val="bg1"/>
                </a:solidFill>
              </a:rPr>
              <a:t>Payable transactions</a:t>
            </a:r>
            <a:r>
              <a:rPr lang="en-US" sz="2400">
                <a:solidFill>
                  <a:schemeClr val="bg1"/>
                </a:solidFill>
              </a:rPr>
              <a:t>” to pay on time to avoid </a:t>
            </a:r>
            <a:r>
              <a:rPr lang="en-US" sz="2400" b="1">
                <a:solidFill>
                  <a:schemeClr val="bg1"/>
                </a:solidFill>
              </a:rPr>
              <a:t>“</a:t>
            </a:r>
            <a:r>
              <a:rPr lang="en-US" sz="2400" b="1" i="1">
                <a:solidFill>
                  <a:schemeClr val="bg1"/>
                </a:solidFill>
              </a:rPr>
              <a:t>late fees and fines</a:t>
            </a:r>
            <a:r>
              <a:rPr lang="en-US" sz="2400" b="1">
                <a:solidFill>
                  <a:schemeClr val="bg1"/>
                </a:solidFill>
              </a:rPr>
              <a:t>”.</a:t>
            </a:r>
            <a:endParaRPr lang="en-US" sz="2400" b="1">
              <a:solidFill>
                <a:schemeClr val="bg1"/>
              </a:solidFill>
              <a:ea typeface="Calibri"/>
              <a:cs typeface="Calibri"/>
            </a:endParaRPr>
          </a:p>
          <a:p>
            <a:r>
              <a:rPr lang="en-US" sz="2400">
                <a:solidFill>
                  <a:schemeClr val="bg1"/>
                </a:solidFill>
              </a:rPr>
              <a:t>	Step5: Contacting Vendor with the “</a:t>
            </a:r>
            <a:r>
              <a:rPr lang="en-US" sz="2400" b="1" i="1">
                <a:solidFill>
                  <a:schemeClr val="bg1"/>
                </a:solidFill>
              </a:rPr>
              <a:t>Disputable Transactions</a:t>
            </a:r>
            <a:r>
              <a:rPr lang="en-US" sz="2400">
                <a:solidFill>
                  <a:schemeClr val="bg1"/>
                </a:solidFill>
              </a:rPr>
              <a:t>” along with </a:t>
            </a:r>
            <a:r>
              <a:rPr lang="en-US" sz="2400" b="1" i="1">
                <a:solidFill>
                  <a:schemeClr val="bg1"/>
                </a:solidFill>
              </a:rPr>
              <a:t>Police Report , DMV Report, 			Sold Vehicle</a:t>
            </a:r>
            <a:r>
              <a:rPr lang="en-US" sz="2400">
                <a:solidFill>
                  <a:schemeClr val="bg1"/>
                </a:solidFill>
              </a:rPr>
              <a:t> </a:t>
            </a:r>
            <a:r>
              <a:rPr lang="en-US" sz="2400" b="1" i="1">
                <a:solidFill>
                  <a:schemeClr val="bg1"/>
                </a:solidFill>
              </a:rPr>
              <a:t>Report</a:t>
            </a:r>
            <a:r>
              <a:rPr lang="en-US" sz="2400">
                <a:solidFill>
                  <a:schemeClr val="bg1"/>
                </a:solidFill>
              </a:rPr>
              <a:t> for removing customer liability.</a:t>
            </a:r>
            <a:endParaRPr lang="en-US" sz="2400">
              <a:solidFill>
                <a:schemeClr val="bg1"/>
              </a:solidFill>
              <a:ea typeface="Calibri"/>
              <a:cs typeface="Calibri"/>
            </a:endParaRPr>
          </a:p>
          <a:p>
            <a:r>
              <a:rPr lang="en-US" sz="2400">
                <a:solidFill>
                  <a:schemeClr val="bg1"/>
                </a:solidFill>
              </a:rPr>
              <a:t>	Step6: Contacting Customer with the “</a:t>
            </a:r>
            <a:r>
              <a:rPr lang="en-US" sz="2400" b="1" i="1">
                <a:solidFill>
                  <a:schemeClr val="bg1"/>
                </a:solidFill>
              </a:rPr>
              <a:t>Customer Approval Transactions</a:t>
            </a:r>
            <a:r>
              <a:rPr lang="en-US" sz="2400">
                <a:solidFill>
                  <a:schemeClr val="bg1"/>
                </a:solidFill>
              </a:rPr>
              <a:t>” to decide whether the 				transaction to make Payment (Step4)or Dispute(Step5).</a:t>
            </a:r>
            <a:endParaRPr lang="en-US" sz="2400">
              <a:solidFill>
                <a:schemeClr val="bg1"/>
              </a:solidFill>
              <a:ea typeface="Calibri"/>
              <a:cs typeface="Calibri"/>
            </a:endParaRPr>
          </a:p>
          <a:p>
            <a:r>
              <a:rPr lang="en-US" sz="2400">
                <a:solidFill>
                  <a:schemeClr val="bg1"/>
                </a:solidFill>
              </a:rPr>
              <a:t>	Step7: Following up with the vendor for Step4 &amp; 5 to be completed</a:t>
            </a:r>
            <a:endParaRPr lang="en-US" sz="2400">
              <a:solidFill>
                <a:schemeClr val="bg1"/>
              </a:solidFill>
              <a:ea typeface="Calibri"/>
              <a:cs typeface="Calibri"/>
            </a:endParaRPr>
          </a:p>
          <a:p>
            <a:r>
              <a:rPr lang="en-US" sz="2400">
                <a:solidFill>
                  <a:schemeClr val="bg1"/>
                </a:solidFill>
              </a:rPr>
              <a:t>	Step8: Following up with the Customer for Customer Approval and Customer Backups (</a:t>
            </a:r>
            <a:r>
              <a:rPr lang="en-US" sz="2400" b="1" i="1">
                <a:solidFill>
                  <a:schemeClr val="bg1"/>
                </a:solidFill>
              </a:rPr>
              <a:t>Police Report , 			DMV Report, Sold Vehicle</a:t>
            </a:r>
            <a:r>
              <a:rPr lang="en-US" sz="2400">
                <a:solidFill>
                  <a:schemeClr val="bg1"/>
                </a:solidFill>
              </a:rPr>
              <a:t> </a:t>
            </a:r>
            <a:r>
              <a:rPr lang="en-US" sz="2400" b="1" i="1">
                <a:solidFill>
                  <a:schemeClr val="bg1"/>
                </a:solidFill>
              </a:rPr>
              <a:t>Report)</a:t>
            </a:r>
            <a:endParaRPr lang="en-US" sz="2400" b="1" i="1">
              <a:solidFill>
                <a:schemeClr val="bg1"/>
              </a:solidFill>
              <a:ea typeface="Calibri"/>
              <a:cs typeface="Calibri"/>
            </a:endParaRPr>
          </a:p>
          <a:p>
            <a:r>
              <a:rPr lang="en-US" sz="2400" b="1" i="1">
                <a:solidFill>
                  <a:schemeClr val="bg1"/>
                </a:solidFill>
              </a:rPr>
              <a:t>	</a:t>
            </a:r>
            <a:r>
              <a:rPr lang="en-US" sz="2400">
                <a:solidFill>
                  <a:schemeClr val="bg1"/>
                </a:solidFill>
              </a:rPr>
              <a:t> Step9: Paying vendor for all the “Payable Transactions”.</a:t>
            </a:r>
            <a:endParaRPr lang="en-US" sz="2400">
              <a:solidFill>
                <a:schemeClr val="bg1"/>
              </a:solidFill>
              <a:ea typeface="Calibri"/>
              <a:cs typeface="Calibri"/>
            </a:endParaRPr>
          </a:p>
          <a:p>
            <a:r>
              <a:rPr lang="en-US" sz="2400" b="1" i="1">
                <a:solidFill>
                  <a:schemeClr val="bg1"/>
                </a:solidFill>
              </a:rPr>
              <a:t>	 </a:t>
            </a:r>
            <a:r>
              <a:rPr lang="en-US" sz="2400">
                <a:solidFill>
                  <a:schemeClr val="bg1"/>
                </a:solidFill>
              </a:rPr>
              <a:t>Step10:Sending Paid Transactions for Billing and Invoicing.</a:t>
            </a:r>
            <a:endParaRPr lang="en-US" sz="2400">
              <a:solidFill>
                <a:schemeClr val="bg1"/>
              </a:solidFill>
              <a:ea typeface="Calibri"/>
              <a:cs typeface="Calibri"/>
            </a:endParaRPr>
          </a:p>
        </p:txBody>
      </p:sp>
    </p:spTree>
    <p:extLst>
      <p:ext uri="{BB962C8B-B14F-4D97-AF65-F5344CB8AC3E}">
        <p14:creationId xmlns:p14="http://schemas.microsoft.com/office/powerpoint/2010/main" val="2592299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F3DCAF-D1BA-5625-A48C-9A1F3333D487}"/>
              </a:ext>
            </a:extLst>
          </p:cNvPr>
          <p:cNvSpPr txBox="1"/>
          <p:nvPr/>
        </p:nvSpPr>
        <p:spPr>
          <a:xfrm>
            <a:off x="481948" y="155303"/>
            <a:ext cx="14154964" cy="7201972"/>
          </a:xfrm>
          <a:prstGeom prst="rect">
            <a:avLst/>
          </a:prstGeom>
          <a:noFill/>
        </p:spPr>
        <p:txBody>
          <a:bodyPr wrap="square" lIns="91440" tIns="45720" rIns="91440" bIns="45720" anchor="t">
            <a:spAutoFit/>
          </a:bodyPr>
          <a:lstStyle/>
          <a:p>
            <a:r>
              <a:rPr lang="en-US" sz="2200" b="1" u="sng">
                <a:solidFill>
                  <a:schemeClr val="bg1"/>
                </a:solidFill>
                <a:latin typeface="Times New Roman"/>
                <a:cs typeface="Times New Roman"/>
              </a:rPr>
              <a:t>STEP 1: Contacting the vendor with vehicles and citations information</a:t>
            </a:r>
            <a:br>
              <a:rPr lang="en-US" sz="2000" u="sng">
                <a:solidFill>
                  <a:schemeClr val="bg1"/>
                </a:solidFill>
                <a:latin typeface="Times New Roman"/>
              </a:rPr>
            </a:br>
            <a:br>
              <a:rPr lang="en-US" sz="2000" u="sng">
                <a:solidFill>
                  <a:schemeClr val="bg1"/>
                </a:solidFill>
                <a:latin typeface="Times New Roman"/>
              </a:rPr>
            </a:br>
            <a:r>
              <a:rPr lang="en-US" sz="2000" u="sng">
                <a:solidFill>
                  <a:schemeClr val="bg1"/>
                </a:solidFill>
                <a:latin typeface="Times New Roman"/>
                <a:cs typeface="Times New Roman"/>
              </a:rPr>
              <a:t>Overview:</a:t>
            </a:r>
            <a:endParaRPr lang="en-US" sz="2000">
              <a:solidFill>
                <a:schemeClr val="bg1"/>
              </a:solidFill>
              <a:latin typeface="Times New Roman"/>
              <a:ea typeface="Calibri"/>
              <a:cs typeface="Times New Roman"/>
            </a:endParaRPr>
          </a:p>
          <a:p>
            <a:r>
              <a:rPr lang="en-US" sz="2000">
                <a:solidFill>
                  <a:schemeClr val="bg1"/>
                </a:solidFill>
                <a:latin typeface="Times New Roman"/>
                <a:cs typeface="Times New Roman"/>
              </a:rPr>
              <a:t>1. Collecting UTN-BILL-SETTLMENET bills from Payment Team via Payment Portal.</a:t>
            </a:r>
            <a:endParaRPr lang="en-US" sz="2000">
              <a:solidFill>
                <a:schemeClr val="bg1"/>
              </a:solidFill>
              <a:latin typeface="Times New Roman"/>
              <a:ea typeface="Calibri"/>
              <a:cs typeface="Times New Roman"/>
            </a:endParaRPr>
          </a:p>
          <a:p>
            <a:r>
              <a:rPr lang="en-US" sz="2000">
                <a:solidFill>
                  <a:schemeClr val="bg1"/>
                </a:solidFill>
                <a:latin typeface="Times New Roman"/>
                <a:cs typeface="Times New Roman"/>
              </a:rPr>
              <a:t> - In BillPay Portal {Bill's PROCESS:“</a:t>
            </a:r>
            <a:r>
              <a:rPr lang="en-US" sz="2000" b="1" i="1">
                <a:solidFill>
                  <a:schemeClr val="bg1"/>
                </a:solidFill>
                <a:latin typeface="Times New Roman"/>
                <a:cs typeface="Times New Roman"/>
              </a:rPr>
              <a:t>UTN-BILL-SETTLEMENT”</a:t>
            </a:r>
            <a:r>
              <a:rPr lang="en-US" sz="2000">
                <a:solidFill>
                  <a:schemeClr val="bg1"/>
                </a:solidFill>
                <a:latin typeface="Times New Roman"/>
                <a:cs typeface="Times New Roman"/>
              </a:rPr>
              <a:t> }.</a:t>
            </a:r>
            <a:br>
              <a:rPr lang="en-US" sz="2000">
                <a:solidFill>
                  <a:schemeClr val="bg1"/>
                </a:solidFill>
                <a:latin typeface="Times New Roman"/>
                <a:cs typeface="Times New Roman"/>
              </a:rPr>
            </a:br>
            <a:r>
              <a:rPr lang="en-US" sz="2000">
                <a:solidFill>
                  <a:schemeClr val="bg1"/>
                </a:solidFill>
                <a:latin typeface="Times New Roman"/>
                <a:cs typeface="Times New Roman"/>
              </a:rPr>
              <a:t>2. Moving Collected bills to STML-VENDOR-REQUEST\PENDING Stage by Creating a Settlement Request Batch for each             vendor. </a:t>
            </a:r>
            <a:endParaRPr lang="en-US" sz="2000">
              <a:solidFill>
                <a:schemeClr val="bg1"/>
              </a:solidFill>
              <a:latin typeface="Times New Roman"/>
              <a:ea typeface="Calibri"/>
              <a:cs typeface="Times New Roman"/>
            </a:endParaRPr>
          </a:p>
          <a:p>
            <a:pPr lvl="1"/>
            <a:r>
              <a:rPr lang="en-US" sz="2000" i="1">
                <a:solidFill>
                  <a:schemeClr val="bg1"/>
                </a:solidFill>
                <a:latin typeface="Times New Roman"/>
                <a:cs typeface="Times New Roman"/>
              </a:rPr>
              <a:t>Settlement Module is yet to be developed in BillPay Portal. Once the settlement module is prepared, a settlement task will be created in Task portal for each of the Settlement Batch Request automatically. All the Bills that are picked up for the settlement request will be linked to the Settlement Task for Easy Tracking via Task Portal.  Whenever bills are moved, system should automatically identity the pending Settlement Requests ID and add those bills under that collection. If the system could not find any Pending Settlement Request, then new Settlement Request record should be created in DMS database/Settlement table. Bills are Category = STML , Process = STML-VENDOR-REQUEST, Stage = PENDING</a:t>
            </a:r>
            <a:endParaRPr lang="en-US" sz="2000" i="1">
              <a:solidFill>
                <a:schemeClr val="bg1"/>
              </a:solidFill>
              <a:latin typeface="Times New Roman"/>
              <a:ea typeface="Calibri"/>
              <a:cs typeface="Times New Roman"/>
            </a:endParaRPr>
          </a:p>
          <a:p>
            <a:r>
              <a:rPr lang="en-US" sz="2000">
                <a:solidFill>
                  <a:schemeClr val="bg1"/>
                </a:solidFill>
                <a:latin typeface="Times New Roman"/>
                <a:cs typeface="Times New Roman"/>
              </a:rPr>
              <a:t>3. Extracting the Transactions and its vehicle or plate details for batch request</a:t>
            </a:r>
            <a:endParaRPr lang="en-US" sz="2000">
              <a:solidFill>
                <a:schemeClr val="bg1"/>
              </a:solidFill>
              <a:latin typeface="Times New Roman"/>
              <a:ea typeface="Calibri"/>
              <a:cs typeface="Times New Roman"/>
            </a:endParaRPr>
          </a:p>
          <a:p>
            <a:pPr lvl="1"/>
            <a:r>
              <a:rPr lang="en-US" sz="2000">
                <a:solidFill>
                  <a:schemeClr val="bg1"/>
                </a:solidFill>
                <a:latin typeface="Times New Roman"/>
                <a:ea typeface="Calibri"/>
                <a:cs typeface="Calibri"/>
              </a:rPr>
              <a:t>Via Settlement Details Page, User will be able to generate Vendor report, Once the request is generated, report should be attached to the Task and update the Stage under {STML-VENDOR-REQUEST\REPORT-GENERATED}</a:t>
            </a:r>
          </a:p>
          <a:p>
            <a:r>
              <a:rPr lang="en-US" sz="2000">
                <a:solidFill>
                  <a:schemeClr val="bg1"/>
                </a:solidFill>
                <a:latin typeface="Times New Roman"/>
                <a:cs typeface="Times New Roman"/>
              </a:rPr>
              <a:t>4. Emailing the Vendor, with the report for settlement</a:t>
            </a:r>
            <a:endParaRPr lang="en-US" sz="2000">
              <a:solidFill>
                <a:schemeClr val="bg1"/>
              </a:solidFill>
              <a:latin typeface="Times New Roman"/>
              <a:ea typeface="Calibri"/>
              <a:cs typeface="Times New Roman"/>
            </a:endParaRPr>
          </a:p>
          <a:p>
            <a:pPr lvl="1"/>
            <a:r>
              <a:rPr lang="en-US" sz="2000">
                <a:solidFill>
                  <a:schemeClr val="bg1"/>
                </a:solidFill>
                <a:latin typeface="Times New Roman"/>
                <a:cs typeface="Times New Roman"/>
              </a:rPr>
              <a:t>Tasks are updated to {</a:t>
            </a:r>
            <a:r>
              <a:rPr lang="en-US" sz="2000" err="1">
                <a:solidFill>
                  <a:schemeClr val="bg1"/>
                </a:solidFill>
                <a:latin typeface="Times New Roman"/>
                <a:cs typeface="Times New Roman"/>
              </a:rPr>
              <a:t>Stage:STML-VENDOR-REQUEST</a:t>
            </a:r>
            <a:r>
              <a:rPr lang="en-US" sz="2000">
                <a:solidFill>
                  <a:schemeClr val="bg1"/>
                </a:solidFill>
                <a:latin typeface="Times New Roman"/>
                <a:cs typeface="Times New Roman"/>
              </a:rPr>
              <a:t>\SENT}</a:t>
            </a:r>
            <a:endParaRPr lang="en-US" sz="2000">
              <a:solidFill>
                <a:schemeClr val="bg1"/>
              </a:solidFill>
              <a:latin typeface="Times New Roman"/>
              <a:ea typeface="Calibri"/>
              <a:cs typeface="Times New Roman"/>
            </a:endParaRPr>
          </a:p>
          <a:p>
            <a:r>
              <a:rPr lang="en-US" sz="2000">
                <a:solidFill>
                  <a:schemeClr val="bg1"/>
                </a:solidFill>
                <a:latin typeface="Times New Roman"/>
                <a:cs typeface="Times New Roman"/>
              </a:rPr>
              <a:t>5. Track and follow-ups via task portal</a:t>
            </a:r>
            <a:endParaRPr lang="en-US" sz="2000">
              <a:solidFill>
                <a:schemeClr val="bg1"/>
              </a:solidFill>
              <a:latin typeface="Times New Roman"/>
              <a:ea typeface="Calibri"/>
              <a:cs typeface="Times New Roman"/>
            </a:endParaRPr>
          </a:p>
          <a:p>
            <a:endParaRPr lang="en-US" sz="2000">
              <a:solidFill>
                <a:schemeClr val="bg1"/>
              </a:solidFill>
              <a:latin typeface="Times New Roman"/>
              <a:ea typeface="Calibri"/>
              <a:cs typeface="Calibri"/>
            </a:endParaRPr>
          </a:p>
          <a:p>
            <a:r>
              <a:rPr lang="en-US" sz="2000" u="sng">
                <a:solidFill>
                  <a:schemeClr val="bg1"/>
                </a:solidFill>
                <a:latin typeface="Times New Roman"/>
                <a:cs typeface="Times New Roman"/>
              </a:rPr>
              <a:t>Process Management:</a:t>
            </a:r>
            <a:br>
              <a:rPr lang="en-US" sz="2000">
                <a:solidFill>
                  <a:schemeClr val="bg1"/>
                </a:solidFill>
                <a:latin typeface="Times New Roman"/>
              </a:rPr>
            </a:br>
            <a:r>
              <a:rPr lang="en-US" sz="2000">
                <a:solidFill>
                  <a:schemeClr val="bg1"/>
                </a:solidFill>
                <a:latin typeface="Times New Roman"/>
                <a:cs typeface="Times New Roman"/>
              </a:rPr>
              <a:t>	1. Every Vendor's Settlement process is different. System should capture Vendor </a:t>
            </a:r>
            <a:r>
              <a:rPr lang="en-US" sz="2000" err="1">
                <a:solidFill>
                  <a:schemeClr val="bg1"/>
                </a:solidFill>
                <a:latin typeface="Times New Roman"/>
                <a:cs typeface="Times New Roman"/>
              </a:rPr>
              <a:t>EmailID</a:t>
            </a:r>
            <a:r>
              <a:rPr lang="en-US" sz="2000">
                <a:solidFill>
                  <a:schemeClr val="bg1"/>
                </a:solidFill>
                <a:latin typeface="Times New Roman"/>
                <a:cs typeface="Times New Roman"/>
              </a:rPr>
              <a:t>, phone number for settlement process.</a:t>
            </a:r>
            <a:br>
              <a:rPr lang="en-US" sz="2000">
                <a:solidFill>
                  <a:schemeClr val="bg1"/>
                </a:solidFill>
                <a:latin typeface="Times New Roman"/>
                <a:ea typeface="Calibri"/>
                <a:cs typeface="Calibri"/>
              </a:rPr>
            </a:br>
            <a:endParaRPr lang="en-US" sz="2000">
              <a:solidFill>
                <a:schemeClr val="bg1"/>
              </a:solidFill>
              <a:latin typeface="Times New Roman"/>
              <a:ea typeface="Calibri"/>
              <a:cs typeface="Calibri"/>
            </a:endParaRPr>
          </a:p>
        </p:txBody>
      </p:sp>
    </p:spTree>
    <p:extLst>
      <p:ext uri="{BB962C8B-B14F-4D97-AF65-F5344CB8AC3E}">
        <p14:creationId xmlns:p14="http://schemas.microsoft.com/office/powerpoint/2010/main" val="3110822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AF719-BDB8-9BC4-10BF-6F5A8F811D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E659870-1B57-4E64-179F-9C3251BAC74C}"/>
              </a:ext>
            </a:extLst>
          </p:cNvPr>
          <p:cNvSpPr txBox="1"/>
          <p:nvPr/>
        </p:nvSpPr>
        <p:spPr>
          <a:xfrm>
            <a:off x="246634" y="155303"/>
            <a:ext cx="13475879" cy="5355312"/>
          </a:xfrm>
          <a:prstGeom prst="rect">
            <a:avLst/>
          </a:prstGeom>
          <a:noFill/>
        </p:spPr>
        <p:txBody>
          <a:bodyPr wrap="square" lIns="91440" tIns="45720" rIns="91440" bIns="45720" anchor="t">
            <a:spAutoFit/>
          </a:bodyPr>
          <a:lstStyle/>
          <a:p>
            <a:r>
              <a:rPr lang="en-US" sz="2200" b="1" u="sng">
                <a:solidFill>
                  <a:schemeClr val="bg1"/>
                </a:solidFill>
                <a:latin typeface="Times New Roman"/>
                <a:cs typeface="Times New Roman"/>
              </a:rPr>
              <a:t>STEP 2: Receiving from vendor, all the outstanding citation with the backup transactions details.</a:t>
            </a:r>
          </a:p>
          <a:p>
            <a:br>
              <a:rPr lang="en-US" sz="2000" u="sng">
                <a:latin typeface="Times New Roman"/>
              </a:rPr>
            </a:br>
            <a:r>
              <a:rPr lang="en-US" sz="2000" u="sng">
                <a:solidFill>
                  <a:schemeClr val="bg1"/>
                </a:solidFill>
                <a:latin typeface="Times New Roman"/>
                <a:cs typeface="Times New Roman"/>
              </a:rPr>
              <a:t>Overview:</a:t>
            </a:r>
            <a:endParaRPr lang="en-US" sz="2000">
              <a:solidFill>
                <a:schemeClr val="bg1"/>
              </a:solidFill>
              <a:latin typeface="Times New Roman"/>
              <a:cs typeface="Times New Roman"/>
            </a:endParaRPr>
          </a:p>
          <a:p>
            <a:pPr marL="800100" lvl="1" indent="-342900">
              <a:buFont typeface="Wingdings"/>
              <a:buChar char="Ø"/>
            </a:pPr>
            <a:r>
              <a:rPr lang="en-US" sz="2000" b="1">
                <a:solidFill>
                  <a:schemeClr val="bg1"/>
                </a:solidFill>
                <a:latin typeface="Times New Roman"/>
                <a:ea typeface="+mn-lt"/>
                <a:cs typeface="+mn-lt"/>
              </a:rPr>
              <a:t>Receiving</a:t>
            </a:r>
            <a:r>
              <a:rPr lang="en-US" sz="2000">
                <a:solidFill>
                  <a:schemeClr val="bg1"/>
                </a:solidFill>
                <a:latin typeface="Times New Roman"/>
                <a:ea typeface="+mn-lt"/>
                <a:cs typeface="+mn-lt"/>
              </a:rPr>
              <a:t> vendor responses (Excel, CSV, PDF) containing details of all outstanding citations and their backup documents.</a:t>
            </a:r>
          </a:p>
          <a:p>
            <a:pPr marL="800100" lvl="1" indent="-342900">
              <a:buFont typeface="Wingdings"/>
              <a:buChar char="Ø"/>
            </a:pPr>
            <a:r>
              <a:rPr lang="en-US" sz="2000" b="1">
                <a:solidFill>
                  <a:schemeClr val="bg1"/>
                </a:solidFill>
                <a:latin typeface="Times New Roman"/>
                <a:ea typeface="+mn-lt"/>
                <a:cs typeface="+mn-lt"/>
              </a:rPr>
              <a:t>Updating</a:t>
            </a:r>
            <a:r>
              <a:rPr lang="en-US" sz="2000">
                <a:solidFill>
                  <a:schemeClr val="bg1"/>
                </a:solidFill>
                <a:latin typeface="Times New Roman"/>
                <a:ea typeface="+mn-lt"/>
                <a:cs typeface="+mn-lt"/>
              </a:rPr>
              <a:t> the status of linked bills to</a:t>
            </a:r>
            <a:br>
              <a:rPr lang="en-US" sz="2000">
                <a:latin typeface="Times New Roman"/>
                <a:ea typeface="+mn-lt"/>
                <a:cs typeface="+mn-lt"/>
              </a:rPr>
            </a:br>
            <a:r>
              <a:rPr lang="en-US" sz="2000">
                <a:solidFill>
                  <a:schemeClr val="bg1"/>
                </a:solidFill>
                <a:latin typeface="Times New Roman"/>
                <a:ea typeface="+mn-lt"/>
                <a:cs typeface="+mn-lt"/>
              </a:rPr>
              <a:t> </a:t>
            </a:r>
            <a:r>
              <a:rPr lang="en-US" sz="2000">
                <a:solidFill>
                  <a:schemeClr val="bg1"/>
                </a:solidFill>
                <a:latin typeface="Times New Roman"/>
                <a:cs typeface="Times New Roman"/>
              </a:rPr>
              <a:t>  {Stage: STML-VENDOR-RESPONSE\RECEIVED}</a:t>
            </a:r>
            <a:r>
              <a:rPr lang="en-US" sz="2000">
                <a:solidFill>
                  <a:schemeClr val="bg1"/>
                </a:solidFill>
                <a:latin typeface="Times New Roman"/>
                <a:ea typeface="+mn-lt"/>
                <a:cs typeface="+mn-lt"/>
              </a:rPr>
              <a:t> once the response is uploaded.</a:t>
            </a:r>
          </a:p>
          <a:p>
            <a:pPr marL="800100" lvl="1" indent="-342900">
              <a:buFont typeface="Wingdings"/>
              <a:buChar char="Ø"/>
            </a:pPr>
            <a:r>
              <a:rPr lang="en-US" sz="2000">
                <a:solidFill>
                  <a:schemeClr val="bg1"/>
                </a:solidFill>
                <a:latin typeface="Times New Roman"/>
                <a:ea typeface="+mn-lt"/>
                <a:cs typeface="+mn-lt"/>
              </a:rPr>
              <a:t>Receiving more additional transactions and bills  from vendors sometimes than what was originally requested.</a:t>
            </a:r>
          </a:p>
          <a:p>
            <a:pPr marL="800100" lvl="1" indent="-342900">
              <a:buFont typeface="Wingdings"/>
              <a:buChar char="Ø"/>
            </a:pPr>
            <a:r>
              <a:rPr lang="en-US" sz="2000">
                <a:solidFill>
                  <a:schemeClr val="bg1"/>
                </a:solidFill>
                <a:latin typeface="Times New Roman"/>
                <a:ea typeface="+mn-lt"/>
                <a:cs typeface="+mn-lt"/>
              </a:rPr>
              <a:t>Moving the additional data directly for "STEP-3"</a:t>
            </a:r>
          </a:p>
          <a:p>
            <a:pPr marL="800100" lvl="1" indent="-342900">
              <a:buFont typeface="Wingdings"/>
              <a:buChar char="Ø"/>
            </a:pPr>
            <a:r>
              <a:rPr lang="en-US" sz="2000">
                <a:solidFill>
                  <a:schemeClr val="bg1"/>
                </a:solidFill>
                <a:latin typeface="Times New Roman"/>
                <a:ea typeface="+mn-lt"/>
                <a:cs typeface="+mn-lt"/>
              </a:rPr>
              <a:t>Existing Bills in BillPay should be updated as:</a:t>
            </a:r>
            <a:br>
              <a:rPr lang="en-US" sz="2000">
                <a:latin typeface="Times New Roman"/>
                <a:ea typeface="+mn-lt"/>
                <a:cs typeface="+mn-lt"/>
              </a:rPr>
            </a:br>
            <a:r>
              <a:rPr lang="en-US" sz="2000">
                <a:solidFill>
                  <a:schemeClr val="bg1"/>
                </a:solidFill>
                <a:latin typeface="Times New Roman"/>
                <a:ea typeface="+mn-lt"/>
                <a:cs typeface="+mn-lt"/>
              </a:rPr>
              <a:t> </a:t>
            </a:r>
            <a:r>
              <a:rPr lang="en-US" sz="2000">
                <a:solidFill>
                  <a:schemeClr val="bg1"/>
                </a:solidFill>
                <a:latin typeface="Times New Roman"/>
                <a:ea typeface="Calibri"/>
                <a:cs typeface="Calibri"/>
              </a:rPr>
              <a:t>{Category = STML, Process = </a:t>
            </a:r>
            <a:r>
              <a:rPr lang="en-US" sz="2000">
                <a:solidFill>
                  <a:schemeClr val="bg1"/>
                </a:solidFill>
                <a:latin typeface="Times New Roman"/>
                <a:ea typeface="Calibri"/>
                <a:cs typeface="Times New Roman"/>
              </a:rPr>
              <a:t>STML-VENDOR-REQUEST</a:t>
            </a:r>
            <a:r>
              <a:rPr lang="en-US" sz="2000">
                <a:solidFill>
                  <a:schemeClr val="bg1"/>
                </a:solidFill>
                <a:latin typeface="Times New Roman"/>
                <a:ea typeface="Calibri"/>
                <a:cs typeface="Calibri"/>
              </a:rPr>
              <a:t>, Stage =</a:t>
            </a:r>
            <a:r>
              <a:rPr lang="en-US" sz="2000">
                <a:solidFill>
                  <a:schemeClr val="bg1"/>
                </a:solidFill>
                <a:latin typeface="Times New Roman"/>
                <a:ea typeface="Calibri"/>
                <a:cs typeface="Times New Roman"/>
              </a:rPr>
              <a:t>STML-VENDOR-RESPONSE , </a:t>
            </a:r>
            <a:r>
              <a:rPr lang="en-US" sz="2000">
                <a:solidFill>
                  <a:schemeClr val="bg1"/>
                </a:solidFill>
                <a:latin typeface="Times New Roman"/>
                <a:ea typeface="Calibri"/>
                <a:cs typeface="Calibri"/>
              </a:rPr>
              <a:t> </a:t>
            </a:r>
            <a:r>
              <a:rPr lang="en-US" sz="2000" err="1">
                <a:solidFill>
                  <a:schemeClr val="bg1"/>
                </a:solidFill>
                <a:latin typeface="Times New Roman"/>
                <a:ea typeface="Calibri"/>
                <a:cs typeface="Calibri"/>
              </a:rPr>
              <a:t>StagePhase</a:t>
            </a:r>
            <a:r>
              <a:rPr lang="en-US" sz="2000">
                <a:solidFill>
                  <a:schemeClr val="bg1"/>
                </a:solidFill>
                <a:latin typeface="Times New Roman"/>
                <a:ea typeface="Calibri"/>
                <a:cs typeface="Calibri"/>
              </a:rPr>
              <a:t> – </a:t>
            </a:r>
            <a:r>
              <a:rPr lang="en-US" sz="2000">
                <a:solidFill>
                  <a:schemeClr val="bg1"/>
                </a:solidFill>
                <a:latin typeface="Times New Roman"/>
                <a:ea typeface="+mn-lt"/>
                <a:cs typeface="+mn-lt"/>
              </a:rPr>
              <a:t>RECEIVED}.</a:t>
            </a:r>
            <a:endParaRPr lang="en-US" sz="2000">
              <a:solidFill>
                <a:schemeClr val="bg1"/>
              </a:solidFill>
              <a:latin typeface="Times New Roman"/>
              <a:cs typeface="Times New Roman"/>
            </a:endParaRPr>
          </a:p>
          <a:p>
            <a:pPr lvl="1">
              <a:buFont typeface="Wingdings"/>
              <a:buChar char="Ø"/>
            </a:pPr>
            <a:r>
              <a:rPr lang="en-US" sz="2000" b="1">
                <a:solidFill>
                  <a:schemeClr val="bg1"/>
                </a:solidFill>
                <a:latin typeface="Times New Roman"/>
                <a:ea typeface="+mn-lt"/>
                <a:cs typeface="+mn-lt"/>
              </a:rPr>
              <a:t>Attaching</a:t>
            </a:r>
            <a:r>
              <a:rPr lang="en-US" sz="2000">
                <a:solidFill>
                  <a:schemeClr val="bg1"/>
                </a:solidFill>
                <a:latin typeface="Times New Roman"/>
                <a:ea typeface="+mn-lt"/>
                <a:cs typeface="+mn-lt"/>
              </a:rPr>
              <a:t> the vendor response files to the Settlement Task in the Task Portal and </a:t>
            </a:r>
            <a:r>
              <a:rPr lang="en-US" sz="2000" b="1">
                <a:solidFill>
                  <a:schemeClr val="bg1"/>
                </a:solidFill>
                <a:latin typeface="Times New Roman"/>
                <a:ea typeface="+mn-lt"/>
                <a:cs typeface="+mn-lt"/>
              </a:rPr>
              <a:t>Moving</a:t>
            </a:r>
            <a:r>
              <a:rPr lang="en-US" sz="2000">
                <a:solidFill>
                  <a:schemeClr val="bg1"/>
                </a:solidFill>
                <a:latin typeface="Times New Roman"/>
                <a:ea typeface="+mn-lt"/>
                <a:cs typeface="+mn-lt"/>
              </a:rPr>
              <a:t> the Task stage to </a:t>
            </a:r>
            <a:r>
              <a:rPr lang="en-US" sz="2000">
                <a:solidFill>
                  <a:schemeClr val="bg1"/>
                </a:solidFill>
                <a:latin typeface="Times New Roman"/>
                <a:ea typeface="Calibri"/>
                <a:cs typeface="Calibri"/>
              </a:rPr>
              <a:t>{Stage: </a:t>
            </a:r>
            <a:r>
              <a:rPr lang="en-US" sz="2000">
                <a:solidFill>
                  <a:schemeClr val="bg1"/>
                </a:solidFill>
                <a:latin typeface="Calibri"/>
                <a:ea typeface="Calibri"/>
                <a:cs typeface="Calibri"/>
              </a:rPr>
              <a:t>STLMT-ANALYSIS</a:t>
            </a:r>
            <a:r>
              <a:rPr lang="en-US" sz="2000">
                <a:solidFill>
                  <a:schemeClr val="bg1"/>
                </a:solidFill>
                <a:latin typeface="Times New Roman"/>
                <a:ea typeface="Calibri"/>
                <a:cs typeface="Calibri"/>
              </a:rPr>
              <a:t>\ANALYSIS-PENDING}</a:t>
            </a:r>
            <a:r>
              <a:rPr lang="en-US" sz="2000">
                <a:solidFill>
                  <a:schemeClr val="bg1"/>
                </a:solidFill>
                <a:latin typeface="Times New Roman"/>
                <a:ea typeface="+mn-lt"/>
                <a:cs typeface="+mn-lt"/>
              </a:rPr>
              <a:t> for further processing in Step-3</a:t>
            </a:r>
          </a:p>
          <a:p>
            <a:pPr marL="800100" lvl="1" indent="-342900">
              <a:buFont typeface="Wingdings"/>
              <a:buChar char="Ø"/>
            </a:pPr>
            <a:r>
              <a:rPr lang="en-US" sz="2000">
                <a:solidFill>
                  <a:schemeClr val="bg1"/>
                </a:solidFill>
                <a:latin typeface="Times New Roman"/>
                <a:ea typeface="Calibri"/>
                <a:cs typeface="Calibri"/>
              </a:rPr>
              <a:t>Updating the </a:t>
            </a:r>
            <a:r>
              <a:rPr lang="en-US" sz="2000" err="1">
                <a:solidFill>
                  <a:schemeClr val="bg1"/>
                </a:solidFill>
                <a:latin typeface="Times New Roman"/>
                <a:ea typeface="Calibri"/>
                <a:cs typeface="Calibri"/>
              </a:rPr>
              <a:t>TaskID</a:t>
            </a:r>
            <a:r>
              <a:rPr lang="en-US" sz="2000">
                <a:solidFill>
                  <a:schemeClr val="bg1"/>
                </a:solidFill>
                <a:latin typeface="Times New Roman"/>
                <a:ea typeface="Calibri"/>
                <a:cs typeface="Calibri"/>
              </a:rPr>
              <a:t> in all </a:t>
            </a:r>
            <a:r>
              <a:rPr lang="en-US" sz="2000" err="1">
                <a:solidFill>
                  <a:schemeClr val="bg1"/>
                </a:solidFill>
                <a:latin typeface="Times New Roman"/>
                <a:ea typeface="Calibri"/>
                <a:cs typeface="Calibri"/>
              </a:rPr>
              <a:t>BillID</a:t>
            </a:r>
            <a:r>
              <a:rPr lang="en-US" sz="2000">
                <a:solidFill>
                  <a:schemeClr val="bg1"/>
                </a:solidFill>
                <a:latin typeface="Times New Roman"/>
                <a:ea typeface="Calibri"/>
                <a:cs typeface="Calibri"/>
              </a:rPr>
              <a:t> in BillPay Portal</a:t>
            </a:r>
          </a:p>
          <a:p>
            <a:pPr marL="285750" indent="-285750">
              <a:buFont typeface="Wingdings"/>
              <a:buChar char="Ø"/>
            </a:pPr>
            <a:r>
              <a:rPr lang="en-US" sz="2000" u="sng">
                <a:solidFill>
                  <a:schemeClr val="bg1"/>
                </a:solidFill>
                <a:latin typeface="Times New Roman"/>
                <a:ea typeface="Calibri"/>
                <a:cs typeface="Calibri"/>
              </a:rPr>
              <a:t>Process Management:</a:t>
            </a:r>
            <a:endParaRPr lang="en-US" sz="2000">
              <a:solidFill>
                <a:schemeClr val="bg1"/>
              </a:solidFill>
              <a:latin typeface="Times New Roman"/>
              <a:ea typeface="+mn-lt"/>
              <a:cs typeface="+mn-lt"/>
            </a:endParaRPr>
          </a:p>
          <a:p>
            <a:pPr marL="742950" lvl="1" indent="-285750">
              <a:buFont typeface="Wingdings"/>
              <a:buChar char="Ø"/>
            </a:pPr>
            <a:r>
              <a:rPr lang="en-US" sz="2000">
                <a:solidFill>
                  <a:schemeClr val="bg1"/>
                </a:solidFill>
                <a:latin typeface="Times New Roman"/>
                <a:ea typeface="+mn-lt"/>
                <a:cs typeface="+mn-lt"/>
              </a:rPr>
              <a:t>Every vendor has different response timelines; system should capture SLA (days/hours) for each vendor in Vendor Master. The SLA must be tracked from request sent to response received, with alerts/escalations on breach</a:t>
            </a:r>
            <a:endParaRPr lang="en-US" sz="2000">
              <a:solidFill>
                <a:schemeClr val="bg1"/>
              </a:solidFill>
              <a:latin typeface="Times New Roman"/>
              <a:ea typeface="Calibri"/>
              <a:cs typeface="Calibri"/>
            </a:endParaRPr>
          </a:p>
        </p:txBody>
      </p:sp>
    </p:spTree>
    <p:extLst>
      <p:ext uri="{BB962C8B-B14F-4D97-AF65-F5344CB8AC3E}">
        <p14:creationId xmlns:p14="http://schemas.microsoft.com/office/powerpoint/2010/main" val="2200285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FB3B7-E94A-92F5-E841-BFF4025BD48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8C066A-2813-55EE-1110-6E7BB6980FE3}"/>
              </a:ext>
            </a:extLst>
          </p:cNvPr>
          <p:cNvSpPr txBox="1"/>
          <p:nvPr/>
        </p:nvSpPr>
        <p:spPr>
          <a:xfrm>
            <a:off x="498882" y="155303"/>
            <a:ext cx="14610221" cy="11172289"/>
          </a:xfrm>
          <a:prstGeom prst="rect">
            <a:avLst/>
          </a:prstGeom>
          <a:noFill/>
        </p:spPr>
        <p:txBody>
          <a:bodyPr wrap="square" lIns="91440" tIns="45720" rIns="91440" bIns="45720" anchor="t">
            <a:spAutoFit/>
          </a:bodyPr>
          <a:lstStyle/>
          <a:p>
            <a:r>
              <a:rPr lang="en-US" sz="2400" b="1" u="sng" dirty="0">
                <a:solidFill>
                  <a:schemeClr val="bg1"/>
                </a:solidFill>
                <a:ea typeface="Calibri"/>
                <a:cs typeface="Calibri"/>
              </a:rPr>
              <a:t>STEP 3: Analyzing is the process of three categories by received Documents from Vendor</a:t>
            </a:r>
            <a:endParaRPr lang="en-US" sz="2000" b="1" u="sng" dirty="0">
              <a:solidFill>
                <a:schemeClr val="bg1"/>
              </a:solidFill>
              <a:ea typeface="Calibri"/>
              <a:cs typeface="Calibri"/>
            </a:endParaRPr>
          </a:p>
          <a:p>
            <a:r>
              <a:rPr lang="en-US" sz="2000" u="sng" dirty="0">
                <a:solidFill>
                  <a:schemeClr val="bg1"/>
                </a:solidFill>
                <a:ea typeface="Calibri"/>
                <a:cs typeface="Calibri"/>
              </a:rPr>
              <a:t>Overview</a:t>
            </a:r>
            <a:r>
              <a:rPr lang="en-US" sz="2000" u="sng" dirty="0">
                <a:solidFill>
                  <a:schemeClr val="bg1"/>
                </a:solidFill>
              </a:rPr>
              <a:t>:</a:t>
            </a:r>
            <a:endParaRPr lang="en-US" sz="2000" u="sng" dirty="0">
              <a:solidFill>
                <a:schemeClr val="bg1"/>
              </a:solidFill>
              <a:ea typeface="Calibri"/>
              <a:cs typeface="Calibri"/>
            </a:endParaRPr>
          </a:p>
          <a:p>
            <a:pPr marL="342900" indent="-342900">
              <a:buFont typeface="Wingdings"/>
              <a:buChar char="Ø"/>
            </a:pPr>
            <a:r>
              <a:rPr lang="en-US" sz="2000" b="1" dirty="0">
                <a:solidFill>
                  <a:schemeClr val="bg1"/>
                </a:solidFill>
                <a:ea typeface="Calibri"/>
                <a:cs typeface="Calibri"/>
              </a:rPr>
              <a:t>Loading</a:t>
            </a:r>
            <a:r>
              <a:rPr lang="en-US" sz="2000" dirty="0">
                <a:solidFill>
                  <a:schemeClr val="bg1"/>
                </a:solidFill>
                <a:ea typeface="Calibri"/>
                <a:cs typeface="Calibri"/>
              </a:rPr>
              <a:t> the vendor response file into the system by placing it into the designated settlement folder</a:t>
            </a:r>
          </a:p>
          <a:p>
            <a:r>
              <a:rPr lang="en-US" sz="2000" dirty="0">
                <a:solidFill>
                  <a:schemeClr val="bg1"/>
                </a:solidFill>
                <a:ea typeface="Calibri"/>
                <a:cs typeface="Calibri"/>
              </a:rPr>
              <a:t>             { Process = STLMT-ANALYSIS  ; Stage = " VALIDATE VENDOR FILE"  Stage Phase = "VERIFIED/"MISSING INFO"}.</a:t>
            </a:r>
          </a:p>
          <a:p>
            <a:pPr marL="342900" indent="-342900">
              <a:buFont typeface="Wingdings"/>
              <a:buChar char="Ø"/>
            </a:pPr>
            <a:r>
              <a:rPr lang="en-US" sz="2000" dirty="0">
                <a:solidFill>
                  <a:schemeClr val="bg1"/>
                </a:solidFill>
                <a:ea typeface="+mn-lt"/>
                <a:cs typeface="+mn-lt"/>
              </a:rPr>
              <a:t>"Proceeding to </a:t>
            </a:r>
            <a:r>
              <a:rPr lang="en-US" sz="2000" b="1" dirty="0">
                <a:solidFill>
                  <a:schemeClr val="bg1"/>
                </a:solidFill>
                <a:ea typeface="+mn-lt"/>
                <a:cs typeface="+mn-lt"/>
              </a:rPr>
              <a:t>"Step-1"</a:t>
            </a:r>
            <a:r>
              <a:rPr lang="en-US" sz="2000" dirty="0">
                <a:solidFill>
                  <a:schemeClr val="bg1"/>
                </a:solidFill>
                <a:ea typeface="+mn-lt"/>
                <a:cs typeface="+mn-lt"/>
              </a:rPr>
              <a:t> when the Stage Phase is marked as MISSING INFO."</a:t>
            </a:r>
          </a:p>
          <a:p>
            <a:pPr marL="342900" indent="-342900">
              <a:buFont typeface="Wingdings"/>
              <a:buChar char="Ø"/>
            </a:pPr>
            <a:r>
              <a:rPr lang="en-US" sz="2000" b="1" dirty="0">
                <a:solidFill>
                  <a:schemeClr val="bg1"/>
                </a:solidFill>
                <a:ea typeface="Calibri"/>
                <a:cs typeface="Calibri"/>
              </a:rPr>
              <a:t>Extracting</a:t>
            </a:r>
            <a:r>
              <a:rPr lang="en-US" sz="2000" dirty="0">
                <a:solidFill>
                  <a:schemeClr val="bg1"/>
                </a:solidFill>
                <a:ea typeface="Calibri"/>
                <a:cs typeface="Calibri"/>
              </a:rPr>
              <a:t> updated analysis results from the System.</a:t>
            </a:r>
          </a:p>
          <a:p>
            <a:pPr marL="342900" indent="-342900">
              <a:buFont typeface="Wingdings,Sans-Serif"/>
              <a:buChar char="Ø"/>
            </a:pPr>
            <a:r>
              <a:rPr lang="en-US" sz="2000">
                <a:solidFill>
                  <a:schemeClr val="bg1"/>
                </a:solidFill>
                <a:ea typeface="Calibri"/>
                <a:cs typeface="Calibri"/>
              </a:rPr>
              <a:t>  Analyzing Check List :  </a:t>
            </a:r>
          </a:p>
          <a:p>
            <a:pPr marL="342900" indent="-342900">
              <a:buFont typeface="Arial,Sans-Serif"/>
              <a:buChar char="•"/>
            </a:pPr>
            <a:r>
              <a:rPr lang="en-US" sz="2000" dirty="0">
                <a:solidFill>
                  <a:schemeClr val="bg1"/>
                </a:solidFill>
                <a:ea typeface="Calibri"/>
                <a:cs typeface="Calibri"/>
              </a:rPr>
              <a:t>Derive Vehicle Number , Derive Unit ID, Pate ID,</a:t>
            </a:r>
            <a:endParaRPr lang="en-US" dirty="0">
              <a:solidFill>
                <a:schemeClr val="bg1"/>
              </a:solidFill>
            </a:endParaRPr>
          </a:p>
          <a:p>
            <a:pPr marL="800100" lvl="1" indent="-342900">
              <a:buFont typeface="Courier New"/>
              <a:buChar char="o"/>
            </a:pPr>
            <a:r>
              <a:rPr lang="en-US" sz="2000" dirty="0">
                <a:solidFill>
                  <a:schemeClr val="bg1"/>
                </a:solidFill>
                <a:ea typeface="Calibri"/>
                <a:cs typeface="Calibri"/>
              </a:rPr>
              <a:t>Valid Plate/ Invalid Plate</a:t>
            </a:r>
          </a:p>
          <a:p>
            <a:pPr marL="800100" lvl="1" indent="-342900">
              <a:buFont typeface="Courier New"/>
              <a:buChar char="o"/>
            </a:pPr>
            <a:r>
              <a:rPr lang="en-US" sz="2000" dirty="0">
                <a:solidFill>
                  <a:schemeClr val="bg1"/>
                </a:solidFill>
                <a:ea typeface="Calibri"/>
                <a:cs typeface="Calibri"/>
              </a:rPr>
              <a:t> Already Billed  </a:t>
            </a:r>
          </a:p>
          <a:p>
            <a:pPr marL="800100" lvl="1" indent="-342900">
              <a:buFont typeface="Courier New"/>
              <a:buChar char="o"/>
            </a:pPr>
            <a:r>
              <a:rPr lang="en-US" sz="2000" dirty="0">
                <a:solidFill>
                  <a:schemeClr val="bg1"/>
                </a:solidFill>
                <a:ea typeface="Calibri"/>
                <a:cs typeface="Calibri"/>
              </a:rPr>
              <a:t>Plate Never Received</a:t>
            </a:r>
            <a:endParaRPr lang="en-US">
              <a:solidFill>
                <a:schemeClr val="bg1"/>
              </a:solidFill>
            </a:endParaRPr>
          </a:p>
          <a:p>
            <a:pPr marL="800100" lvl="1" indent="-342900">
              <a:buFont typeface="Courier New"/>
              <a:buChar char="o"/>
            </a:pPr>
            <a:r>
              <a:rPr lang="en-US" sz="2000" dirty="0">
                <a:solidFill>
                  <a:schemeClr val="bg1"/>
                </a:solidFill>
                <a:ea typeface="Calibri"/>
                <a:cs typeface="Calibri"/>
              </a:rPr>
              <a:t>Before Active </a:t>
            </a:r>
          </a:p>
          <a:p>
            <a:pPr marL="800100" lvl="1" indent="-342900">
              <a:buFont typeface="Courier New"/>
              <a:buChar char="o"/>
            </a:pPr>
            <a:r>
              <a:rPr lang="en-US" sz="2000" dirty="0">
                <a:solidFill>
                  <a:schemeClr val="bg1"/>
                </a:solidFill>
                <a:ea typeface="Calibri"/>
                <a:cs typeface="Calibri"/>
              </a:rPr>
              <a:t>After Inactive</a:t>
            </a:r>
          </a:p>
          <a:p>
            <a:pPr marL="800100" lvl="1" indent="-342900">
              <a:buFont typeface="Courier New"/>
              <a:buChar char="o"/>
            </a:pPr>
            <a:r>
              <a:rPr lang="en-US" sz="2000" dirty="0">
                <a:solidFill>
                  <a:schemeClr val="bg1"/>
                </a:solidFill>
                <a:ea typeface="Calibri"/>
                <a:cs typeface="Calibri"/>
              </a:rPr>
              <a:t>Plate Active</a:t>
            </a:r>
          </a:p>
          <a:p>
            <a:pPr marL="800100" lvl="1" indent="-342900">
              <a:buFont typeface="Courier New"/>
              <a:buChar char="o"/>
            </a:pPr>
            <a:r>
              <a:rPr lang="en-US" sz="2000" dirty="0">
                <a:solidFill>
                  <a:schemeClr val="bg1"/>
                </a:solidFill>
                <a:ea typeface="Calibri"/>
                <a:cs typeface="Calibri"/>
              </a:rPr>
              <a:t>Unit Active Plate Inactive</a:t>
            </a:r>
          </a:p>
          <a:p>
            <a:pPr marL="800100" lvl="1" indent="-342900">
              <a:buFont typeface="Courier New"/>
              <a:buChar char="o"/>
            </a:pPr>
            <a:r>
              <a:rPr lang="en-US" sz="2000" dirty="0">
                <a:solidFill>
                  <a:schemeClr val="bg1"/>
                </a:solidFill>
                <a:ea typeface="Calibri"/>
                <a:cs typeface="Calibri"/>
              </a:rPr>
              <a:t>Transactions occurs during Plate Active  Period</a:t>
            </a:r>
          </a:p>
          <a:p>
            <a:pPr marL="800100" lvl="1" indent="-342900">
              <a:buFont typeface="Courier New"/>
              <a:buChar char="o"/>
            </a:pPr>
            <a:r>
              <a:rPr lang="en-US" sz="2000" dirty="0">
                <a:solidFill>
                  <a:schemeClr val="bg1"/>
                </a:solidFill>
                <a:ea typeface="Calibri"/>
                <a:cs typeface="Calibri"/>
              </a:rPr>
              <a:t>Transactions occurs during Unit Active Period</a:t>
            </a:r>
          </a:p>
          <a:p>
            <a:pPr marL="800100" lvl="1" indent="-342900">
              <a:buFont typeface="Courier New"/>
              <a:buChar char="o"/>
            </a:pPr>
            <a:endParaRPr lang="en-US" sz="2000" dirty="0">
              <a:solidFill>
                <a:schemeClr val="bg1"/>
              </a:solidFill>
              <a:ea typeface="Calibri"/>
              <a:cs typeface="Calibri"/>
            </a:endParaRPr>
          </a:p>
          <a:p>
            <a:pPr marL="800100" lvl="1" indent="-342900">
              <a:buFont typeface="Courier New"/>
              <a:buChar char="o"/>
            </a:pPr>
            <a:endParaRPr lang="en-US" sz="2000" dirty="0">
              <a:solidFill>
                <a:schemeClr val="bg1"/>
              </a:solidFill>
              <a:ea typeface="Calibri"/>
              <a:cs typeface="Calibri"/>
            </a:endParaRPr>
          </a:p>
          <a:p>
            <a:r>
              <a:rPr lang="en-US" sz="2000" dirty="0">
                <a:solidFill>
                  <a:schemeClr val="bg1"/>
                </a:solidFill>
                <a:ea typeface="Calibri"/>
                <a:cs typeface="Calibri"/>
              </a:rPr>
              <a:t>             { Process = STLMT-ANALYSIS  ; Stage = "Report Generation"  ; Stage Phase = "</a:t>
            </a:r>
            <a:r>
              <a:rPr lang="en-US" sz="2000" b="1" dirty="0">
                <a:solidFill>
                  <a:schemeClr val="bg1"/>
                </a:solidFill>
                <a:latin typeface="Consolas"/>
                <a:ea typeface="Calibri"/>
                <a:cs typeface="Calibri"/>
              </a:rPr>
              <a:t>Generated</a:t>
            </a:r>
            <a:r>
              <a:rPr lang="en-US" sz="2000" dirty="0">
                <a:solidFill>
                  <a:schemeClr val="bg1"/>
                </a:solidFill>
                <a:ea typeface="+mn-lt"/>
                <a:cs typeface="+mn-lt"/>
              </a:rPr>
              <a:t> </a:t>
            </a:r>
            <a:r>
              <a:rPr lang="en-US" sz="2000" dirty="0">
                <a:solidFill>
                  <a:schemeClr val="bg1"/>
                </a:solidFill>
                <a:ea typeface="Calibri"/>
                <a:cs typeface="Calibri"/>
              </a:rPr>
              <a:t>"}.</a:t>
            </a:r>
          </a:p>
          <a:p>
            <a:pPr marL="342900" indent="-342900">
              <a:buFont typeface="Wingdings,Sans-Serif"/>
              <a:buChar char="Ø"/>
            </a:pPr>
            <a:r>
              <a:rPr lang="en-US" sz="2000" b="1" dirty="0">
                <a:solidFill>
                  <a:schemeClr val="bg1"/>
                </a:solidFill>
                <a:ea typeface="Calibri"/>
                <a:cs typeface="Calibri"/>
              </a:rPr>
              <a:t>Separating</a:t>
            </a:r>
            <a:r>
              <a:rPr lang="en-US" sz="2000" dirty="0">
                <a:solidFill>
                  <a:schemeClr val="bg1"/>
                </a:solidFill>
                <a:ea typeface="Calibri"/>
                <a:cs typeface="Calibri"/>
              </a:rPr>
              <a:t> transactions into </a:t>
            </a:r>
            <a:r>
              <a:rPr lang="en-US" sz="2000" b="1" dirty="0">
                <a:solidFill>
                  <a:schemeClr val="bg1"/>
                </a:solidFill>
                <a:ea typeface="Calibri"/>
                <a:cs typeface="Calibri"/>
              </a:rPr>
              <a:t>three new processes</a:t>
            </a:r>
            <a:r>
              <a:rPr lang="en-US" sz="2000" dirty="0">
                <a:solidFill>
                  <a:schemeClr val="bg1"/>
                </a:solidFill>
                <a:ea typeface="Calibri"/>
                <a:cs typeface="Calibri"/>
              </a:rPr>
              <a:t> ,For each Process New Child Task should be Created and linked to the Parent Task.</a:t>
            </a:r>
          </a:p>
          <a:p>
            <a:pPr marL="1200150" lvl="2" indent="-285750">
              <a:buFont typeface="Wingdings,Sans-Serif"/>
              <a:buChar char="Ø"/>
            </a:pPr>
            <a:r>
              <a:rPr lang="en-US" b="1" dirty="0">
                <a:solidFill>
                  <a:schemeClr val="bg1"/>
                </a:solidFill>
                <a:ea typeface="Calibri"/>
                <a:cs typeface="Calibri"/>
              </a:rPr>
              <a:t>    STML-CUSTOMER-APPROVAL-TRANSACTIONS</a:t>
            </a:r>
            <a:endParaRPr lang="en-US" dirty="0">
              <a:solidFill>
                <a:schemeClr val="bg1"/>
              </a:solidFill>
              <a:ea typeface="Calibri"/>
              <a:cs typeface="Calibri"/>
            </a:endParaRPr>
          </a:p>
          <a:p>
            <a:pPr marL="1257300" lvl="2" indent="-342900">
              <a:buFont typeface="Wingdings,Sans-Serif"/>
              <a:buChar char="Ø"/>
            </a:pPr>
            <a:r>
              <a:rPr lang="en-US" sz="2000" dirty="0">
                <a:solidFill>
                  <a:schemeClr val="bg1"/>
                </a:solidFill>
                <a:ea typeface="Calibri"/>
                <a:cs typeface="Calibri"/>
              </a:rPr>
              <a:t>   </a:t>
            </a:r>
            <a:r>
              <a:rPr lang="en-US" b="1" dirty="0">
                <a:solidFill>
                  <a:schemeClr val="bg1"/>
                </a:solidFill>
                <a:ea typeface="Calibri"/>
                <a:cs typeface="Calibri"/>
              </a:rPr>
              <a:t>STML-PAYABLE-TRANSACTIONS</a:t>
            </a:r>
            <a:endParaRPr lang="en-US" dirty="0">
              <a:solidFill>
                <a:schemeClr val="bg1"/>
              </a:solidFill>
              <a:ea typeface="Calibri"/>
              <a:cs typeface="Calibri"/>
            </a:endParaRPr>
          </a:p>
          <a:p>
            <a:pPr marL="1200150" lvl="2" indent="-285750">
              <a:buFont typeface="Wingdings,Sans-Serif"/>
              <a:buChar char="Ø"/>
            </a:pPr>
            <a:r>
              <a:rPr lang="en-US" b="1" dirty="0">
                <a:solidFill>
                  <a:schemeClr val="bg1"/>
                </a:solidFill>
                <a:ea typeface="Calibri"/>
                <a:cs typeface="Calibri"/>
              </a:rPr>
              <a:t>   STML-DISPUTABLE-TRANSACTIONS</a:t>
            </a:r>
            <a:endParaRPr lang="en-US" dirty="0">
              <a:solidFill>
                <a:schemeClr val="bg1"/>
              </a:solidFill>
            </a:endParaRPr>
          </a:p>
          <a:p>
            <a:pPr marL="342900" indent="-342900">
              <a:buFont typeface="Wingdings"/>
              <a:buChar char="Ø"/>
            </a:pPr>
            <a:r>
              <a:rPr lang="en-US" sz="2000" dirty="0">
                <a:solidFill>
                  <a:schemeClr val="bg1"/>
                </a:solidFill>
                <a:ea typeface="Calibri"/>
                <a:cs typeface="Calibri"/>
              </a:rPr>
              <a:t> </a:t>
            </a:r>
            <a:r>
              <a:rPr lang="en-US" sz="2000" b="1" dirty="0">
                <a:solidFill>
                  <a:schemeClr val="bg1"/>
                </a:solidFill>
                <a:ea typeface="+mn-lt"/>
                <a:cs typeface="+mn-lt"/>
              </a:rPr>
              <a:t>Waiting</a:t>
            </a:r>
            <a:r>
              <a:rPr lang="en-US" sz="2000" dirty="0">
                <a:solidFill>
                  <a:schemeClr val="bg1"/>
                </a:solidFill>
                <a:ea typeface="+mn-lt"/>
                <a:cs typeface="+mn-lt"/>
              </a:rPr>
              <a:t> for </a:t>
            </a:r>
            <a:r>
              <a:rPr lang="en-US" sz="2000" b="1" dirty="0">
                <a:solidFill>
                  <a:schemeClr val="bg1"/>
                </a:solidFill>
                <a:ea typeface="+mn-lt"/>
                <a:cs typeface="+mn-lt"/>
              </a:rPr>
              <a:t>"Settlement Team Lead"</a:t>
            </a:r>
            <a:r>
              <a:rPr lang="en-US" sz="2000" dirty="0">
                <a:solidFill>
                  <a:schemeClr val="bg1"/>
                </a:solidFill>
                <a:ea typeface="+mn-lt"/>
                <a:cs typeface="+mn-lt"/>
              </a:rPr>
              <a:t> to begin the review of the generated report</a:t>
            </a:r>
            <a:endParaRPr lang="en-US" sz="2000" dirty="0">
              <a:solidFill>
                <a:schemeClr val="bg1"/>
              </a:solidFill>
              <a:ea typeface="Calibri"/>
              <a:cs typeface="Calibri"/>
            </a:endParaRPr>
          </a:p>
          <a:p>
            <a:r>
              <a:rPr lang="en-US" sz="2000" dirty="0">
                <a:solidFill>
                  <a:schemeClr val="bg1"/>
                </a:solidFill>
                <a:ea typeface="Calibri"/>
                <a:cs typeface="Calibri"/>
              </a:rPr>
              <a:t>             { Process = STLMT-ANALYSIS  ; Stage = "Report Generation"   ; Stage Phase = "Review Pending" }.</a:t>
            </a:r>
          </a:p>
          <a:p>
            <a:pPr marL="342900" indent="-342900">
              <a:buFont typeface="Wingdings"/>
              <a:buChar char="Ø"/>
            </a:pPr>
            <a:r>
              <a:rPr lang="en-US" sz="2000" b="1" dirty="0">
                <a:solidFill>
                  <a:schemeClr val="bg1"/>
                </a:solidFill>
                <a:ea typeface="+mn-lt"/>
                <a:cs typeface="+mn-lt"/>
              </a:rPr>
              <a:t>Confirming</a:t>
            </a:r>
            <a:r>
              <a:rPr lang="en-US" sz="2000" dirty="0">
                <a:solidFill>
                  <a:schemeClr val="bg1"/>
                </a:solidFill>
                <a:ea typeface="+mn-lt"/>
                <a:cs typeface="+mn-lt"/>
              </a:rPr>
              <a:t> that </a:t>
            </a:r>
            <a:r>
              <a:rPr lang="en-US" sz="2000" b="1" dirty="0">
                <a:solidFill>
                  <a:schemeClr val="bg1"/>
                </a:solidFill>
                <a:ea typeface="+mn-lt"/>
                <a:cs typeface="+mn-lt"/>
              </a:rPr>
              <a:t>"Settlement Team Lead" </a:t>
            </a:r>
            <a:r>
              <a:rPr lang="en-US" sz="2000" dirty="0">
                <a:solidFill>
                  <a:schemeClr val="bg1"/>
                </a:solidFill>
                <a:ea typeface="+mn-lt"/>
                <a:cs typeface="+mn-lt"/>
              </a:rPr>
              <a:t> have reviewed and accepted the report</a:t>
            </a:r>
            <a:endParaRPr lang="en-US" sz="2000" dirty="0">
              <a:solidFill>
                <a:schemeClr val="bg1"/>
              </a:solidFill>
              <a:ea typeface="Calibri"/>
              <a:cs typeface="Calibri"/>
            </a:endParaRPr>
          </a:p>
          <a:p>
            <a:r>
              <a:rPr lang="en-US" sz="2000" dirty="0">
                <a:solidFill>
                  <a:schemeClr val="bg1"/>
                </a:solidFill>
                <a:ea typeface="Calibri"/>
                <a:cs typeface="Calibri"/>
              </a:rPr>
              <a:t>              { Process = STLMT-ANALYSIS  ; Stage = "Report Generation"   ; Stage Phase = "Approved" }.</a:t>
            </a:r>
          </a:p>
          <a:p>
            <a:pPr marL="342900" indent="-342900">
              <a:buFont typeface="Wingdings"/>
              <a:buChar char="Ø"/>
            </a:pPr>
            <a:r>
              <a:rPr lang="en-US" sz="2000" b="1" dirty="0">
                <a:solidFill>
                  <a:schemeClr val="bg1"/>
                </a:solidFill>
                <a:ea typeface="+mn-lt"/>
                <a:cs typeface="+mn-lt"/>
              </a:rPr>
              <a:t>Receiving</a:t>
            </a:r>
            <a:r>
              <a:rPr lang="en-US" sz="2000" dirty="0">
                <a:solidFill>
                  <a:schemeClr val="bg1"/>
                </a:solidFill>
                <a:ea typeface="+mn-lt"/>
                <a:cs typeface="+mn-lt"/>
              </a:rPr>
              <a:t> feedback or objections from </a:t>
            </a:r>
            <a:r>
              <a:rPr lang="en-US" sz="2000" b="1" dirty="0">
                <a:solidFill>
                  <a:schemeClr val="bg1"/>
                </a:solidFill>
                <a:ea typeface="+mn-lt"/>
                <a:cs typeface="+mn-lt"/>
              </a:rPr>
              <a:t>"Settlement Team Lead" </a:t>
            </a:r>
            <a:r>
              <a:rPr lang="en-US" sz="2000" dirty="0">
                <a:solidFill>
                  <a:schemeClr val="bg1"/>
                </a:solidFill>
                <a:ea typeface="+mn-lt"/>
                <a:cs typeface="+mn-lt"/>
              </a:rPr>
              <a:t> regarding the report</a:t>
            </a:r>
            <a:endParaRPr lang="en-US" sz="2000" dirty="0">
              <a:solidFill>
                <a:schemeClr val="bg1"/>
              </a:solidFill>
              <a:ea typeface="Calibri"/>
              <a:cs typeface="Calibri"/>
            </a:endParaRPr>
          </a:p>
          <a:p>
            <a:r>
              <a:rPr lang="en-US" sz="2000" dirty="0">
                <a:solidFill>
                  <a:schemeClr val="bg1"/>
                </a:solidFill>
                <a:ea typeface="Calibri"/>
                <a:cs typeface="Calibri"/>
              </a:rPr>
              <a:t>           { Process = STLMT-ANALYSIS  ; Stage = "Report Generation"   ; Stage Phase = "Rejected" }.</a:t>
            </a:r>
          </a:p>
          <a:p>
            <a:pPr>
              <a:buFont typeface="Wingdings"/>
              <a:buChar char="Ø"/>
            </a:pPr>
            <a:endParaRPr lang="en-US" sz="2000">
              <a:solidFill>
                <a:schemeClr val="bg1"/>
              </a:solidFill>
              <a:ea typeface="Calibri"/>
              <a:cs typeface="Calibri"/>
            </a:endParaRPr>
          </a:p>
          <a:p>
            <a:pPr>
              <a:buFont typeface="Wingdings"/>
              <a:buChar char="Ø"/>
            </a:pPr>
            <a:endParaRPr lang="en-US" sz="2000">
              <a:solidFill>
                <a:schemeClr val="bg1"/>
              </a:solidFill>
              <a:ea typeface="Calibri"/>
              <a:cs typeface="Calibri"/>
            </a:endParaRPr>
          </a:p>
          <a:p>
            <a:pPr>
              <a:buFont typeface="Wingdings"/>
              <a:buChar char="Ø"/>
            </a:pPr>
            <a:endParaRPr lang="en-US" sz="2000">
              <a:solidFill>
                <a:schemeClr val="bg1"/>
              </a:solidFill>
              <a:ea typeface="Calibri"/>
              <a:cs typeface="Calibri"/>
            </a:endParaRPr>
          </a:p>
          <a:p>
            <a:pPr>
              <a:buFont typeface="Wingdings"/>
              <a:buChar char="Ø"/>
            </a:pPr>
            <a:endParaRPr lang="en-US" sz="2000">
              <a:solidFill>
                <a:schemeClr val="bg1"/>
              </a:solidFill>
              <a:ea typeface="Calibri"/>
              <a:cs typeface="Calibri"/>
            </a:endParaRPr>
          </a:p>
          <a:p>
            <a:pPr>
              <a:buFont typeface="Wingdings"/>
              <a:buChar char="Ø"/>
            </a:pPr>
            <a:endParaRPr lang="en-US" sz="2000">
              <a:solidFill>
                <a:schemeClr val="bg1"/>
              </a:solidFill>
              <a:ea typeface="Calibri"/>
              <a:cs typeface="Calibri"/>
            </a:endParaRPr>
          </a:p>
          <a:p>
            <a:pPr>
              <a:buFont typeface="Wingdings"/>
              <a:buChar char="Ø"/>
            </a:pPr>
            <a:endParaRPr lang="en-US" sz="2000">
              <a:solidFill>
                <a:schemeClr val="bg1"/>
              </a:solidFill>
              <a:ea typeface="Calibri"/>
              <a:cs typeface="Calibri"/>
            </a:endParaRPr>
          </a:p>
        </p:txBody>
      </p:sp>
    </p:spTree>
    <p:extLst>
      <p:ext uri="{BB962C8B-B14F-4D97-AF65-F5344CB8AC3E}">
        <p14:creationId xmlns:p14="http://schemas.microsoft.com/office/powerpoint/2010/main" val="3632884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86699-3C81-F9C7-714A-3678FBF90D29}"/>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2979F0BF-EA4C-D982-1235-697C0064A11A}"/>
              </a:ext>
            </a:extLst>
          </p:cNvPr>
          <p:cNvGraphicFramePr>
            <a:graphicFrameLocks noGrp="1"/>
          </p:cNvGraphicFramePr>
          <p:nvPr>
            <p:extLst>
              <p:ext uri="{D42A27DB-BD31-4B8C-83A1-F6EECF244321}">
                <p14:modId xmlns:p14="http://schemas.microsoft.com/office/powerpoint/2010/main" val="3241661317"/>
              </p:ext>
            </p:extLst>
          </p:nvPr>
        </p:nvGraphicFramePr>
        <p:xfrm>
          <a:off x="115613" y="536027"/>
          <a:ext cx="14516905" cy="6019987"/>
        </p:xfrm>
        <a:graphic>
          <a:graphicData uri="http://schemas.openxmlformats.org/drawingml/2006/table">
            <a:tbl>
              <a:tblPr bandRow="1">
                <a:tableStyleId>{5C22544A-7EE6-4342-B048-85BDC9FD1C3A}</a:tableStyleId>
              </a:tblPr>
              <a:tblGrid>
                <a:gridCol w="3100387">
                  <a:extLst>
                    <a:ext uri="{9D8B030D-6E8A-4147-A177-3AD203B41FA5}">
                      <a16:colId xmlns:a16="http://schemas.microsoft.com/office/drawing/2014/main" val="660193934"/>
                    </a:ext>
                  </a:extLst>
                </a:gridCol>
                <a:gridCol w="5927271">
                  <a:extLst>
                    <a:ext uri="{9D8B030D-6E8A-4147-A177-3AD203B41FA5}">
                      <a16:colId xmlns:a16="http://schemas.microsoft.com/office/drawing/2014/main" val="1023073047"/>
                    </a:ext>
                  </a:extLst>
                </a:gridCol>
                <a:gridCol w="5489247">
                  <a:extLst>
                    <a:ext uri="{9D8B030D-6E8A-4147-A177-3AD203B41FA5}">
                      <a16:colId xmlns:a16="http://schemas.microsoft.com/office/drawing/2014/main" val="702195977"/>
                    </a:ext>
                  </a:extLst>
                </a:gridCol>
              </a:tblGrid>
              <a:tr h="337921">
                <a:tc>
                  <a:txBody>
                    <a:bodyPr/>
                    <a:lstStyle/>
                    <a:p>
                      <a:pPr>
                        <a:buNone/>
                      </a:pPr>
                      <a:r>
                        <a:rPr lang="en-US" sz="2400" b="1">
                          <a:solidFill>
                            <a:schemeClr val="accent2">
                              <a:lumMod val="20000"/>
                              <a:lumOff val="80000"/>
                            </a:schemeClr>
                          </a:solidFill>
                        </a:rPr>
                        <a:t>Process Name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2400" b="1">
                          <a:solidFill>
                            <a:schemeClr val="accent2">
                              <a:lumMod val="20000"/>
                              <a:lumOff val="80000"/>
                            </a:schemeClr>
                          </a:solidFill>
                        </a:rPr>
                        <a:t>Condition (When to Move Here)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2400" b="1">
                          <a:solidFill>
                            <a:schemeClr val="accent2">
                              <a:lumMod val="20000"/>
                              <a:lumOff val="80000"/>
                            </a:schemeClr>
                          </a:solidFill>
                        </a:rPr>
                        <a:t>Action / Next Step</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986342214"/>
                  </a:ext>
                </a:extLst>
              </a:tr>
              <a:tr h="861154">
                <a:tc>
                  <a:txBody>
                    <a:bodyPr/>
                    <a:lstStyle/>
                    <a:p>
                      <a:pPr>
                        <a:buNone/>
                      </a:pPr>
                      <a:r>
                        <a:rPr lang="en-US" b="1">
                          <a:solidFill>
                            <a:schemeClr val="bg1"/>
                          </a:solidFill>
                        </a:rPr>
                        <a:t>STML-CUSTOMER-APPROVAL-TRANSACTIONS</a:t>
                      </a:r>
                      <a:endParaRPr lang="en-US">
                        <a:solidFill>
                          <a:schemeClr val="bg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Vehicle not active during transaction period(Grace Period)</a:t>
                      </a:r>
                      <a:endParaRPr lang="en-US"/>
                    </a:p>
                    <a:p>
                      <a:pPr lvl="0">
                        <a:buNone/>
                      </a:pPr>
                      <a:r>
                        <a:rPr lang="en-US">
                          <a:solidFill>
                            <a:schemeClr val="bg1"/>
                          </a:solidFill>
                        </a:rPr>
                        <a:t>Plate not in customer approval list</a:t>
                      </a:r>
                    </a:p>
                    <a:p>
                      <a:pPr lvl="0">
                        <a:buNone/>
                      </a:pPr>
                      <a:r>
                        <a:rPr lang="en-US">
                          <a:solidFill>
                            <a:schemeClr val="bg1"/>
                          </a:solidFill>
                        </a:rPr>
                        <a:t>Prior Transactions should be approved by customer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Create task under Customer Approval process, attach bills/documents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207963521"/>
                  </a:ext>
                </a:extLst>
              </a:tr>
              <a:tr h="664941">
                <a:tc>
                  <a:txBody>
                    <a:bodyPr/>
                    <a:lstStyle/>
                    <a:p>
                      <a:pPr>
                        <a:buNone/>
                      </a:pPr>
                      <a:endParaRPr lang="en-US">
                        <a:solidFill>
                          <a:schemeClr val="bg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Settlement team is contacting customer for decision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Customer decides: PAY → move to Payable process, DISPUTE → move to Disputable process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771459202"/>
                  </a:ext>
                </a:extLst>
              </a:tr>
              <a:tr h="599537">
                <a:tc>
                  <a:txBody>
                    <a:bodyPr/>
                    <a:lstStyle/>
                    <a:p>
                      <a:pPr>
                        <a:buNone/>
                      </a:pPr>
                      <a:endParaRPr lang="en-US">
                        <a:solidFill>
                          <a:schemeClr val="bg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Plate Never Received and not in the Approval List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Close approval task; route transaction to correct process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552435522"/>
                  </a:ext>
                </a:extLst>
              </a:tr>
              <a:tr h="861154">
                <a:tc>
                  <a:txBody>
                    <a:bodyPr/>
                    <a:lstStyle/>
                    <a:p>
                      <a:pPr>
                        <a:buNone/>
                      </a:pPr>
                      <a:r>
                        <a:rPr lang="en-US" b="1">
                          <a:solidFill>
                            <a:schemeClr val="bg1"/>
                          </a:solidFill>
                        </a:rPr>
                        <a:t>STML-PAYABLE TRANSACTIONS</a:t>
                      </a:r>
                      <a:endParaRPr lang="en-US">
                        <a:solidFill>
                          <a:schemeClr val="bg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Vehicle active during transaction period</a:t>
                      </a:r>
                      <a:endParaRPr lang="en-US"/>
                    </a:p>
                    <a:p>
                      <a:pPr lvl="0">
                        <a:buNone/>
                      </a:pPr>
                      <a:r>
                        <a:rPr lang="en-US">
                          <a:solidFill>
                            <a:schemeClr val="bg1"/>
                          </a:solidFill>
                        </a:rPr>
                        <a:t>Plate active (current or before)</a:t>
                      </a:r>
                    </a:p>
                    <a:p>
                      <a:pPr lvl="0">
                        <a:buNone/>
                      </a:pPr>
                      <a:r>
                        <a:rPr lang="en-US">
                          <a:solidFill>
                            <a:schemeClr val="bg1"/>
                          </a:solidFill>
                        </a:rPr>
                        <a:t>Plate in approval list marked as " PAY"</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Create task under Payable process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020034560"/>
                  </a:ext>
                </a:extLst>
              </a:tr>
              <a:tr h="337921">
                <a:tc>
                  <a:txBody>
                    <a:bodyPr/>
                    <a:lstStyle/>
                    <a:p>
                      <a:pPr>
                        <a:buNone/>
                      </a:pPr>
                      <a:endParaRPr lang="en-US">
                        <a:solidFill>
                          <a:schemeClr val="bg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Vendor contacted for payment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Track payment status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987256947"/>
                  </a:ext>
                </a:extLst>
              </a:tr>
              <a:tr h="337921">
                <a:tc>
                  <a:txBody>
                    <a:bodyPr/>
                    <a:lstStyle/>
                    <a:p>
                      <a:pPr>
                        <a:buNone/>
                      </a:pPr>
                      <a:endParaRPr lang="en-US">
                        <a:solidFill>
                          <a:schemeClr val="bg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Payment made to vendor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Forward to billing/invoicing (Step-9 &amp; Step-10)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880054870"/>
                  </a:ext>
                </a:extLst>
              </a:tr>
              <a:tr h="599537">
                <a:tc>
                  <a:txBody>
                    <a:bodyPr/>
                    <a:lstStyle/>
                    <a:p>
                      <a:pPr>
                        <a:buNone/>
                      </a:pPr>
                      <a:r>
                        <a:rPr lang="en-US" b="1">
                          <a:solidFill>
                            <a:schemeClr val="bg1"/>
                          </a:solidFill>
                        </a:rPr>
                        <a:t>STML-DISPUTABLE TRANSACTIONS</a:t>
                      </a:r>
                      <a:endParaRPr lang="en-US">
                        <a:solidFill>
                          <a:schemeClr val="bg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 Plate exists in approval list and marked as DO NOT PAY.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Create task under Disputable process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839528952"/>
                  </a:ext>
                </a:extLst>
              </a:tr>
              <a:tr h="599537">
                <a:tc>
                  <a:txBody>
                    <a:bodyPr/>
                    <a:lstStyle/>
                    <a:p>
                      <a:pPr>
                        <a:buNone/>
                      </a:pPr>
                      <a:endParaRPr lang="en-US">
                        <a:solidFill>
                          <a:schemeClr val="bg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Vendor contacted with backup docs (Police Report, DMV Report, Sold Vehicle Report)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Track dispute resolution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694357474"/>
                  </a:ext>
                </a:extLst>
              </a:tr>
              <a:tr h="457829">
                <a:tc>
                  <a:txBody>
                    <a:bodyPr/>
                    <a:lstStyle/>
                    <a:p>
                      <a:pPr>
                        <a:buNone/>
                      </a:pPr>
                      <a:endParaRPr lang="en-US">
                        <a:solidFill>
                          <a:schemeClr val="bg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Vendor confirms removal of liability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bg1"/>
                          </a:solidFill>
                        </a:rPr>
                        <a:t>Close disputable task; update customer &amp; system</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627100786"/>
                  </a:ext>
                </a:extLst>
              </a:tr>
            </a:tbl>
          </a:graphicData>
        </a:graphic>
      </p:graphicFrame>
    </p:spTree>
    <p:extLst>
      <p:ext uri="{BB962C8B-B14F-4D97-AF65-F5344CB8AC3E}">
        <p14:creationId xmlns:p14="http://schemas.microsoft.com/office/powerpoint/2010/main" val="2344020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E2C03-446A-F482-68DC-4FC9B47832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CC94028-8FEB-4ABD-463A-66BE20AC3070}"/>
              </a:ext>
            </a:extLst>
          </p:cNvPr>
          <p:cNvSpPr txBox="1"/>
          <p:nvPr/>
        </p:nvSpPr>
        <p:spPr>
          <a:xfrm>
            <a:off x="518691" y="206423"/>
            <a:ext cx="13223631" cy="461665"/>
          </a:xfrm>
          <a:prstGeom prst="rect">
            <a:avLst/>
          </a:prstGeom>
          <a:noFill/>
        </p:spPr>
        <p:txBody>
          <a:bodyPr wrap="square" lIns="91440" tIns="45720" rIns="91440" bIns="45720" anchor="t">
            <a:spAutoFit/>
          </a:bodyPr>
          <a:lstStyle/>
          <a:p>
            <a:r>
              <a:rPr lang="en-US" sz="2400" b="1" u="sng">
                <a:solidFill>
                  <a:schemeClr val="bg1"/>
                </a:solidFill>
              </a:rPr>
              <a:t>STEP 4: Contacting Vendor with the “</a:t>
            </a:r>
            <a:r>
              <a:rPr lang="en-US" sz="2400" b="1" i="1" u="sng">
                <a:solidFill>
                  <a:schemeClr val="bg1"/>
                </a:solidFill>
              </a:rPr>
              <a:t>Payable transactions</a:t>
            </a:r>
            <a:r>
              <a:rPr lang="en-US" sz="2400" b="1" u="sng">
                <a:solidFill>
                  <a:schemeClr val="bg1"/>
                </a:solidFill>
              </a:rPr>
              <a:t>” to pay on time to avoid “</a:t>
            </a:r>
            <a:r>
              <a:rPr lang="en-US" sz="2400" b="1" i="1" u="sng">
                <a:solidFill>
                  <a:schemeClr val="bg1"/>
                </a:solidFill>
              </a:rPr>
              <a:t>late fees and fines</a:t>
            </a:r>
            <a:endParaRPr lang="en-US" sz="2000" b="1" u="sng">
              <a:solidFill>
                <a:schemeClr val="bg1"/>
              </a:solidFill>
              <a:ea typeface="Calibri"/>
              <a:cs typeface="Calibri"/>
            </a:endParaRPr>
          </a:p>
        </p:txBody>
      </p:sp>
      <p:sp>
        <p:nvSpPr>
          <p:cNvPr id="5" name="TextBox 4">
            <a:extLst>
              <a:ext uri="{FF2B5EF4-FFF2-40B4-BE49-F238E27FC236}">
                <a16:creationId xmlns:a16="http://schemas.microsoft.com/office/drawing/2014/main" id="{77D144DD-2380-94A9-1B5F-B226C2D94413}"/>
              </a:ext>
            </a:extLst>
          </p:cNvPr>
          <p:cNvSpPr txBox="1"/>
          <p:nvPr/>
        </p:nvSpPr>
        <p:spPr>
          <a:xfrm>
            <a:off x="694094" y="1052449"/>
            <a:ext cx="13223631" cy="6370975"/>
          </a:xfrm>
          <a:prstGeom prst="rect">
            <a:avLst/>
          </a:prstGeom>
          <a:noFill/>
        </p:spPr>
        <p:txBody>
          <a:bodyPr wrap="square" lIns="91440" tIns="45720" rIns="91440" bIns="45720" anchor="t">
            <a:spAutoFit/>
          </a:bodyPr>
          <a:lstStyle/>
          <a:p>
            <a:r>
              <a:rPr lang="en-US" sz="2400" b="1">
                <a:solidFill>
                  <a:schemeClr val="bg1"/>
                </a:solidFill>
                <a:ea typeface="+mn-lt"/>
                <a:cs typeface="+mn-lt"/>
              </a:rPr>
              <a:t>Plate Verification</a:t>
            </a:r>
            <a:endParaRPr lang="en-US" sz="2400">
              <a:solidFill>
                <a:schemeClr val="bg1"/>
              </a:solidFill>
              <a:ea typeface="Calibri"/>
              <a:cs typeface="Calibri"/>
            </a:endParaRPr>
          </a:p>
          <a:p>
            <a:endParaRPr lang="en-US" sz="2400" b="1">
              <a:solidFill>
                <a:schemeClr val="bg1"/>
              </a:solidFill>
              <a:ea typeface="+mn-lt"/>
              <a:cs typeface="+mn-lt"/>
            </a:endParaRPr>
          </a:p>
          <a:p>
            <a:pPr>
              <a:buFont typeface="Wingdings"/>
              <a:buChar char="Ø"/>
            </a:pPr>
            <a:r>
              <a:rPr lang="en-US" sz="2400">
                <a:solidFill>
                  <a:schemeClr val="bg1"/>
                </a:solidFill>
                <a:ea typeface="+mn-lt"/>
                <a:cs typeface="+mn-lt"/>
              </a:rPr>
              <a:t>First, check whether the plate is </a:t>
            </a:r>
            <a:r>
              <a:rPr lang="en-US" sz="2400" b="1">
                <a:solidFill>
                  <a:schemeClr val="bg1"/>
                </a:solidFill>
                <a:ea typeface="+mn-lt"/>
                <a:cs typeface="+mn-lt"/>
              </a:rPr>
              <a:t>active</a:t>
            </a:r>
            <a:r>
              <a:rPr lang="en-US" sz="2400">
                <a:solidFill>
                  <a:schemeClr val="bg1"/>
                </a:solidFill>
                <a:ea typeface="+mn-lt"/>
                <a:cs typeface="+mn-lt"/>
              </a:rPr>
              <a:t> or included in the list of </a:t>
            </a:r>
            <a:r>
              <a:rPr lang="en-US" sz="2400" b="1">
                <a:solidFill>
                  <a:schemeClr val="bg1"/>
                </a:solidFill>
                <a:ea typeface="+mn-lt"/>
                <a:cs typeface="+mn-lt"/>
              </a:rPr>
              <a:t>approved plates</a:t>
            </a:r>
            <a:r>
              <a:rPr lang="en-US" sz="2400">
                <a:solidFill>
                  <a:schemeClr val="bg1"/>
                </a:solidFill>
                <a:ea typeface="+mn-lt"/>
                <a:cs typeface="+mn-lt"/>
              </a:rPr>
              <a:t>.</a:t>
            </a:r>
            <a:endParaRPr lang="en-US">
              <a:solidFill>
                <a:schemeClr val="bg1"/>
              </a:solidFill>
              <a:ea typeface="Calibri"/>
              <a:cs typeface="Calibri"/>
            </a:endParaRPr>
          </a:p>
          <a:p>
            <a:pPr marL="342900" indent="-342900">
              <a:buFont typeface="Wingdings"/>
              <a:buChar char="Ø"/>
            </a:pPr>
            <a:r>
              <a:rPr lang="en-US" sz="2400">
                <a:solidFill>
                  <a:schemeClr val="bg1"/>
                </a:solidFill>
                <a:ea typeface="+mn-lt"/>
                <a:cs typeface="+mn-lt"/>
              </a:rPr>
              <a:t>If the plate meets the criteria, </a:t>
            </a:r>
            <a:r>
              <a:rPr lang="en-US" sz="2400" b="1">
                <a:solidFill>
                  <a:schemeClr val="bg1"/>
                </a:solidFill>
                <a:ea typeface="+mn-lt"/>
                <a:cs typeface="+mn-lt"/>
              </a:rPr>
              <a:t>contact the vendor</a:t>
            </a:r>
            <a:r>
              <a:rPr lang="en-US" sz="2400">
                <a:solidFill>
                  <a:schemeClr val="bg1"/>
                </a:solidFill>
                <a:ea typeface="+mn-lt"/>
                <a:cs typeface="+mn-lt"/>
              </a:rPr>
              <a:t> for confirmation.</a:t>
            </a:r>
            <a:endParaRPr lang="en-US">
              <a:solidFill>
                <a:schemeClr val="bg1"/>
              </a:solidFill>
              <a:ea typeface="Calibri"/>
              <a:cs typeface="Calibri"/>
            </a:endParaRPr>
          </a:p>
          <a:p>
            <a:pPr>
              <a:buFont typeface="Wingdings"/>
              <a:buChar char="Ø"/>
            </a:pPr>
            <a:r>
              <a:rPr lang="en-US" sz="2400">
                <a:solidFill>
                  <a:schemeClr val="bg1"/>
                </a:solidFill>
                <a:ea typeface="+mn-lt"/>
                <a:cs typeface="+mn-lt"/>
              </a:rPr>
              <a:t>During this verification, also confirm with the vendor if there are any </a:t>
            </a:r>
            <a:r>
              <a:rPr lang="en-US" sz="2400" b="1">
                <a:solidFill>
                  <a:schemeClr val="bg1"/>
                </a:solidFill>
                <a:ea typeface="+mn-lt"/>
                <a:cs typeface="+mn-lt"/>
              </a:rPr>
              <a:t>new transactions</a:t>
            </a:r>
            <a:r>
              <a:rPr lang="en-US" sz="2400">
                <a:solidFill>
                  <a:schemeClr val="bg1"/>
                </a:solidFill>
                <a:ea typeface="+mn-lt"/>
                <a:cs typeface="+mn-lt"/>
              </a:rPr>
              <a:t> recently received for the same plate. This ensures that all possible transactions are captured before proceeding further.</a:t>
            </a:r>
            <a:endParaRPr lang="en-US">
              <a:solidFill>
                <a:schemeClr val="bg1"/>
              </a:solidFill>
              <a:ea typeface="Calibri"/>
              <a:cs typeface="Calibri"/>
            </a:endParaRPr>
          </a:p>
          <a:p>
            <a:endParaRPr lang="en-US" sz="2400" b="1">
              <a:solidFill>
                <a:schemeClr val="bg1"/>
              </a:solidFill>
              <a:ea typeface="+mn-lt"/>
              <a:cs typeface="+mn-lt"/>
            </a:endParaRPr>
          </a:p>
          <a:p>
            <a:r>
              <a:rPr lang="en-US" sz="2400" b="1">
                <a:solidFill>
                  <a:schemeClr val="bg1"/>
                </a:solidFill>
                <a:ea typeface="+mn-lt"/>
                <a:cs typeface="+mn-lt"/>
              </a:rPr>
              <a:t>Duplicate Validation</a:t>
            </a:r>
            <a:endParaRPr lang="en-US">
              <a:solidFill>
                <a:schemeClr val="bg1"/>
              </a:solidFill>
              <a:ea typeface="Calibri" panose="020F0502020204030204"/>
              <a:cs typeface="Calibri" panose="020F0502020204030204"/>
            </a:endParaRPr>
          </a:p>
          <a:p>
            <a:endParaRPr lang="en-US" sz="2400" b="1">
              <a:solidFill>
                <a:schemeClr val="bg1"/>
              </a:solidFill>
              <a:ea typeface="+mn-lt"/>
              <a:cs typeface="+mn-lt"/>
            </a:endParaRPr>
          </a:p>
          <a:p>
            <a:pPr>
              <a:buFont typeface="Wingdings"/>
              <a:buChar char="Ø"/>
            </a:pPr>
            <a:r>
              <a:rPr lang="en-US" sz="2400">
                <a:solidFill>
                  <a:schemeClr val="bg1"/>
                </a:solidFill>
                <a:ea typeface="+mn-lt"/>
                <a:cs typeface="+mn-lt"/>
              </a:rPr>
              <a:t>Once verification is complete, initiate the </a:t>
            </a:r>
            <a:r>
              <a:rPr lang="en-US" sz="2400" b="1">
                <a:solidFill>
                  <a:schemeClr val="bg1"/>
                </a:solidFill>
                <a:ea typeface="+mn-lt"/>
                <a:cs typeface="+mn-lt"/>
              </a:rPr>
              <a:t>duplicate check process</a:t>
            </a:r>
            <a:r>
              <a:rPr lang="en-US" sz="2400">
                <a:solidFill>
                  <a:schemeClr val="bg1"/>
                </a:solidFill>
                <a:ea typeface="+mn-lt"/>
                <a:cs typeface="+mn-lt"/>
              </a:rPr>
              <a:t> on the file.</a:t>
            </a:r>
            <a:endParaRPr lang="en-US">
              <a:solidFill>
                <a:schemeClr val="bg1"/>
              </a:solidFill>
              <a:ea typeface="Calibri"/>
              <a:cs typeface="Calibri"/>
            </a:endParaRPr>
          </a:p>
          <a:p>
            <a:pPr>
              <a:buFont typeface="Wingdings"/>
              <a:buChar char="Ø"/>
            </a:pPr>
            <a:r>
              <a:rPr lang="en-US" sz="2400">
                <a:solidFill>
                  <a:schemeClr val="bg1"/>
                </a:solidFill>
                <a:ea typeface="+mn-lt"/>
                <a:cs typeface="+mn-lt"/>
              </a:rPr>
              <a:t>The duplicate check is carried out using the following key parameters:</a:t>
            </a:r>
            <a:endParaRPr lang="en-US">
              <a:solidFill>
                <a:schemeClr val="bg1"/>
              </a:solidFill>
              <a:ea typeface="Calibri"/>
              <a:cs typeface="Calibri"/>
            </a:endParaRPr>
          </a:p>
          <a:p>
            <a:pPr lvl="1">
              <a:buFont typeface="Arial"/>
              <a:buChar char="•"/>
            </a:pPr>
            <a:r>
              <a:rPr lang="en-US" sz="2400" b="1">
                <a:solidFill>
                  <a:schemeClr val="bg1"/>
                </a:solidFill>
                <a:ea typeface="+mn-lt"/>
                <a:cs typeface="+mn-lt"/>
              </a:rPr>
              <a:t>Plate Number</a:t>
            </a:r>
            <a:r>
              <a:rPr lang="en-US" sz="2400">
                <a:solidFill>
                  <a:schemeClr val="bg1"/>
                </a:solidFill>
                <a:ea typeface="+mn-lt"/>
                <a:cs typeface="+mn-lt"/>
              </a:rPr>
              <a:t> – ensures identification is plate-specific.</a:t>
            </a:r>
            <a:endParaRPr lang="en-US">
              <a:solidFill>
                <a:schemeClr val="bg1"/>
              </a:solidFill>
              <a:ea typeface="Calibri"/>
              <a:cs typeface="Calibri"/>
            </a:endParaRPr>
          </a:p>
          <a:p>
            <a:pPr lvl="1">
              <a:buFont typeface="Arial"/>
              <a:buChar char="•"/>
            </a:pPr>
            <a:r>
              <a:rPr lang="en-US" sz="2400" b="1">
                <a:solidFill>
                  <a:schemeClr val="bg1"/>
                </a:solidFill>
                <a:ea typeface="+mn-lt"/>
                <a:cs typeface="+mn-lt"/>
              </a:rPr>
              <a:t>State</a:t>
            </a:r>
            <a:r>
              <a:rPr lang="en-US" sz="2400">
                <a:solidFill>
                  <a:schemeClr val="bg1"/>
                </a:solidFill>
                <a:ea typeface="+mn-lt"/>
                <a:cs typeface="+mn-lt"/>
              </a:rPr>
              <a:t> – validates jurisdiction/state-specific entries.</a:t>
            </a:r>
            <a:endParaRPr lang="en-US">
              <a:solidFill>
                <a:schemeClr val="bg1"/>
              </a:solidFill>
              <a:ea typeface="Calibri"/>
              <a:cs typeface="Calibri"/>
            </a:endParaRPr>
          </a:p>
          <a:p>
            <a:pPr lvl="1">
              <a:buFont typeface="Arial"/>
              <a:buChar char="•"/>
            </a:pPr>
            <a:r>
              <a:rPr lang="en-US" sz="2400" b="1">
                <a:solidFill>
                  <a:schemeClr val="bg1"/>
                </a:solidFill>
                <a:ea typeface="+mn-lt"/>
                <a:cs typeface="+mn-lt"/>
              </a:rPr>
              <a:t>Transaction Date</a:t>
            </a:r>
            <a:r>
              <a:rPr lang="en-US" sz="2400">
                <a:solidFill>
                  <a:schemeClr val="bg1"/>
                </a:solidFill>
                <a:ea typeface="+mn-lt"/>
                <a:cs typeface="+mn-lt"/>
              </a:rPr>
              <a:t> – ensures transactions from the same day are not repeated.</a:t>
            </a:r>
            <a:endParaRPr lang="en-US">
              <a:solidFill>
                <a:schemeClr val="bg1"/>
              </a:solidFill>
              <a:ea typeface="Calibri"/>
              <a:cs typeface="Calibri"/>
            </a:endParaRPr>
          </a:p>
          <a:p>
            <a:pPr lvl="1">
              <a:buFont typeface="Arial"/>
              <a:buChar char="•"/>
            </a:pPr>
            <a:r>
              <a:rPr lang="en-US" sz="2400" b="1">
                <a:solidFill>
                  <a:schemeClr val="bg1"/>
                </a:solidFill>
                <a:ea typeface="+mn-lt"/>
                <a:cs typeface="+mn-lt"/>
              </a:rPr>
              <a:t>Transaction Time</a:t>
            </a:r>
            <a:r>
              <a:rPr lang="en-US" sz="2400">
                <a:solidFill>
                  <a:schemeClr val="bg1"/>
                </a:solidFill>
                <a:ea typeface="+mn-lt"/>
                <a:cs typeface="+mn-lt"/>
              </a:rPr>
              <a:t> – adds precision to the validation by capturing exact transaction time.</a:t>
            </a:r>
            <a:endParaRPr lang="en-US">
              <a:solidFill>
                <a:schemeClr val="bg1"/>
              </a:solidFill>
              <a:ea typeface="Calibri"/>
              <a:cs typeface="Calibri"/>
            </a:endParaRPr>
          </a:p>
          <a:p>
            <a:pPr>
              <a:buFont typeface="Wingdings"/>
              <a:buChar char="Ø"/>
            </a:pPr>
            <a:r>
              <a:rPr lang="en-US" sz="2400">
                <a:solidFill>
                  <a:schemeClr val="bg1"/>
                </a:solidFill>
                <a:ea typeface="+mn-lt"/>
                <a:cs typeface="+mn-lt"/>
              </a:rPr>
              <a:t>This process helps to filter out repeated entries and prevents duplicate billing or payment processing.</a:t>
            </a:r>
            <a:endParaRPr lang="en-US">
              <a:solidFill>
                <a:schemeClr val="bg1"/>
              </a:solidFill>
              <a:ea typeface="Calibri"/>
              <a:cs typeface="Calibri"/>
            </a:endParaRPr>
          </a:p>
        </p:txBody>
      </p:sp>
    </p:spTree>
    <p:extLst>
      <p:ext uri="{BB962C8B-B14F-4D97-AF65-F5344CB8AC3E}">
        <p14:creationId xmlns:p14="http://schemas.microsoft.com/office/powerpoint/2010/main" val="4116292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AA1B3225-EA6A-5CBC-E529-A0F4F1C38E0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04ED38A-A248-8277-2829-1091EB4AF4A9}"/>
              </a:ext>
            </a:extLst>
          </p:cNvPr>
          <p:cNvSpPr txBox="1"/>
          <p:nvPr/>
        </p:nvSpPr>
        <p:spPr>
          <a:xfrm>
            <a:off x="694094" y="207061"/>
            <a:ext cx="13223631" cy="3046988"/>
          </a:xfrm>
          <a:prstGeom prst="rect">
            <a:avLst/>
          </a:prstGeom>
          <a:noFill/>
        </p:spPr>
        <p:txBody>
          <a:bodyPr wrap="square" lIns="91440" tIns="45720" rIns="91440" bIns="45720" anchor="t">
            <a:spAutoFit/>
          </a:bodyPr>
          <a:lstStyle/>
          <a:p>
            <a:pPr>
              <a:buFont typeface="Wingdings"/>
              <a:buChar char="Ø"/>
            </a:pPr>
            <a:endParaRPr lang="en-US" sz="2400" b="1">
              <a:solidFill>
                <a:srgbClr val="FFFFFF"/>
              </a:solidFill>
              <a:ea typeface="Calibri"/>
              <a:cs typeface="Calibri"/>
            </a:endParaRPr>
          </a:p>
          <a:p>
            <a:r>
              <a:rPr lang="en-US" sz="2400" b="1">
                <a:solidFill>
                  <a:srgbClr val="FFFFFF"/>
                </a:solidFill>
                <a:ea typeface="+mn-lt"/>
                <a:cs typeface="+mn-lt"/>
              </a:rPr>
              <a:t>Post-Validation Process</a:t>
            </a:r>
            <a:endParaRPr lang="en-US">
              <a:solidFill>
                <a:srgbClr val="FFFFFF"/>
              </a:solidFill>
              <a:ea typeface="Calibri" panose="020F0502020204030204"/>
              <a:cs typeface="Calibri" panose="020F0502020204030204"/>
            </a:endParaRPr>
          </a:p>
          <a:p>
            <a:endParaRPr lang="en-US" sz="2400" b="1">
              <a:solidFill>
                <a:srgbClr val="FFFFFF"/>
              </a:solidFill>
              <a:ea typeface="+mn-lt"/>
              <a:cs typeface="+mn-lt"/>
            </a:endParaRPr>
          </a:p>
          <a:p>
            <a:pPr marL="342900" indent="-342900">
              <a:buFont typeface="Wingdings"/>
              <a:buChar char="Ø"/>
            </a:pPr>
            <a:r>
              <a:rPr lang="en-US" sz="2400">
                <a:solidFill>
                  <a:srgbClr val="FFFFFF"/>
                </a:solidFill>
                <a:ea typeface="+mn-lt"/>
                <a:cs typeface="+mn-lt"/>
              </a:rPr>
              <a:t>After completing the duplicate check, classify the transactions accordingly:</a:t>
            </a:r>
            <a:endParaRPr lang="en-US">
              <a:solidFill>
                <a:srgbClr val="FFFFFF"/>
              </a:solidFill>
              <a:ea typeface="Calibri" panose="020F0502020204030204"/>
              <a:cs typeface="Calibri" panose="020F0502020204030204"/>
            </a:endParaRPr>
          </a:p>
          <a:p>
            <a:pPr lvl="1">
              <a:buFont typeface="Arial"/>
              <a:buChar char="•"/>
            </a:pPr>
            <a:r>
              <a:rPr lang="en-US" sz="2400" b="1">
                <a:solidFill>
                  <a:srgbClr val="FFFFFF"/>
                </a:solidFill>
                <a:ea typeface="+mn-lt"/>
                <a:cs typeface="+mn-lt"/>
              </a:rPr>
              <a:t>Valid Transactions</a:t>
            </a:r>
            <a:r>
              <a:rPr lang="en-US" sz="2400">
                <a:solidFill>
                  <a:srgbClr val="FFFFFF"/>
                </a:solidFill>
                <a:ea typeface="+mn-lt"/>
                <a:cs typeface="+mn-lt"/>
              </a:rPr>
              <a:t> → Move forward to the </a:t>
            </a:r>
            <a:r>
              <a:rPr lang="en-US" sz="2400" b="1">
                <a:solidFill>
                  <a:srgbClr val="FFFFFF"/>
                </a:solidFill>
                <a:ea typeface="+mn-lt"/>
                <a:cs typeface="+mn-lt"/>
              </a:rPr>
              <a:t>Payment Process</a:t>
            </a:r>
            <a:r>
              <a:rPr lang="en-US" sz="2400">
                <a:solidFill>
                  <a:srgbClr val="FFFFFF"/>
                </a:solidFill>
                <a:ea typeface="+mn-lt"/>
                <a:cs typeface="+mn-lt"/>
              </a:rPr>
              <a:t> for settlement.</a:t>
            </a:r>
            <a:endParaRPr lang="en-US">
              <a:solidFill>
                <a:srgbClr val="FFFFFF"/>
              </a:solidFill>
            </a:endParaRPr>
          </a:p>
          <a:p>
            <a:pPr lvl="1">
              <a:buFont typeface="Arial"/>
              <a:buChar char="•"/>
            </a:pPr>
            <a:r>
              <a:rPr lang="en-US" sz="2400" b="1">
                <a:solidFill>
                  <a:srgbClr val="FFFFFF"/>
                </a:solidFill>
                <a:ea typeface="+mn-lt"/>
                <a:cs typeface="+mn-lt"/>
              </a:rPr>
              <a:t>Duplicate Transactions</a:t>
            </a:r>
            <a:r>
              <a:rPr lang="en-US" sz="2400">
                <a:solidFill>
                  <a:srgbClr val="FFFFFF"/>
                </a:solidFill>
                <a:ea typeface="+mn-lt"/>
                <a:cs typeface="+mn-lt"/>
              </a:rPr>
              <a:t> → Flag them under the </a:t>
            </a:r>
            <a:r>
              <a:rPr lang="en-US" sz="2400" b="1">
                <a:solidFill>
                  <a:srgbClr val="FFFFFF"/>
                </a:solidFill>
                <a:ea typeface="+mn-lt"/>
                <a:cs typeface="+mn-lt"/>
              </a:rPr>
              <a:t>Duplicate Resolution Process</a:t>
            </a:r>
            <a:r>
              <a:rPr lang="en-US" sz="2400">
                <a:solidFill>
                  <a:srgbClr val="FFFFFF"/>
                </a:solidFill>
                <a:ea typeface="+mn-lt"/>
                <a:cs typeface="+mn-lt"/>
              </a:rPr>
              <a:t> to avoid incorrect or repeated payments.</a:t>
            </a:r>
            <a:endParaRPr lang="en-US">
              <a:solidFill>
                <a:srgbClr val="FFFFFF"/>
              </a:solidFill>
            </a:endParaRPr>
          </a:p>
          <a:p>
            <a:pPr marL="342900" indent="-342900">
              <a:buFont typeface="Wingdings"/>
              <a:buChar char="Ø"/>
            </a:pPr>
            <a:endParaRPr lang="en-US" sz="2400">
              <a:solidFill>
                <a:srgbClr val="FFFFFF"/>
              </a:solidFill>
              <a:ea typeface="Calibri"/>
              <a:cs typeface="Calibri"/>
            </a:endParaRPr>
          </a:p>
        </p:txBody>
      </p:sp>
    </p:spTree>
    <p:extLst>
      <p:ext uri="{BB962C8B-B14F-4D97-AF65-F5344CB8AC3E}">
        <p14:creationId xmlns:p14="http://schemas.microsoft.com/office/powerpoint/2010/main" val="1368435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65A07DA0-1EB6-D52D-C20D-C135278F455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86379A8-FCF7-6D11-FD1B-9082A22A31FA}"/>
              </a:ext>
            </a:extLst>
          </p:cNvPr>
          <p:cNvSpPr txBox="1"/>
          <p:nvPr/>
        </p:nvSpPr>
        <p:spPr>
          <a:xfrm>
            <a:off x="485144" y="207061"/>
            <a:ext cx="14103524" cy="830997"/>
          </a:xfrm>
          <a:prstGeom prst="rect">
            <a:avLst/>
          </a:prstGeom>
          <a:noFill/>
        </p:spPr>
        <p:txBody>
          <a:bodyPr wrap="square" lIns="91440" tIns="45720" rIns="91440" bIns="45720" anchor="t">
            <a:spAutoFit/>
          </a:bodyPr>
          <a:lstStyle/>
          <a:p>
            <a:r>
              <a:rPr lang="en-US" sz="2400" b="1" u="sng">
                <a:solidFill>
                  <a:srgbClr val="FFFFFF"/>
                </a:solidFill>
                <a:ea typeface="Calibri"/>
                <a:cs typeface="Calibri"/>
              </a:rPr>
              <a:t>STEP 5: Contacting Vendor with the “</a:t>
            </a:r>
            <a:r>
              <a:rPr lang="en-US" sz="2400" b="1" i="1" u="sng">
                <a:solidFill>
                  <a:srgbClr val="FFFFFF"/>
                </a:solidFill>
                <a:ea typeface="Calibri"/>
                <a:cs typeface="Calibri"/>
              </a:rPr>
              <a:t>Disputable Transactions</a:t>
            </a:r>
            <a:r>
              <a:rPr lang="en-US" sz="2400" b="1" u="sng">
                <a:solidFill>
                  <a:srgbClr val="FFFFFF"/>
                </a:solidFill>
                <a:ea typeface="Calibri"/>
                <a:cs typeface="Calibri"/>
              </a:rPr>
              <a:t>” along with </a:t>
            </a:r>
            <a:r>
              <a:rPr lang="en-US" sz="2400" b="1" i="1" u="sng">
                <a:solidFill>
                  <a:srgbClr val="FFFFFF"/>
                </a:solidFill>
                <a:ea typeface="Calibri"/>
                <a:cs typeface="Calibri"/>
              </a:rPr>
              <a:t>Police Report , DMV </a:t>
            </a:r>
            <a:r>
              <a:rPr lang="en-US" sz="2400" b="1" i="1" u="sng" err="1">
                <a:solidFill>
                  <a:srgbClr val="FFFFFF"/>
                </a:solidFill>
                <a:ea typeface="Calibri"/>
                <a:cs typeface="Calibri"/>
              </a:rPr>
              <a:t>Report,Sold</a:t>
            </a:r>
            <a:r>
              <a:rPr lang="en-US" sz="2400" b="1" i="1" u="sng">
                <a:solidFill>
                  <a:srgbClr val="FFFFFF"/>
                </a:solidFill>
                <a:ea typeface="Calibri"/>
                <a:cs typeface="Calibri"/>
              </a:rPr>
              <a:t> Vehicle</a:t>
            </a:r>
            <a:r>
              <a:rPr lang="en-US" sz="2400" b="1" u="sng">
                <a:solidFill>
                  <a:srgbClr val="FFFFFF"/>
                </a:solidFill>
                <a:ea typeface="Calibri"/>
                <a:cs typeface="Calibri"/>
              </a:rPr>
              <a:t> </a:t>
            </a:r>
            <a:r>
              <a:rPr lang="en-US" sz="2400" b="1" i="1" u="sng">
                <a:solidFill>
                  <a:srgbClr val="FFFFFF"/>
                </a:solidFill>
                <a:ea typeface="Calibri"/>
                <a:cs typeface="Calibri"/>
              </a:rPr>
              <a:t>Report</a:t>
            </a:r>
            <a:r>
              <a:rPr lang="en-US" sz="2400" b="1" u="sng">
                <a:solidFill>
                  <a:srgbClr val="FFFFFF"/>
                </a:solidFill>
                <a:ea typeface="Calibri"/>
                <a:cs typeface="Calibri"/>
              </a:rPr>
              <a:t> for </a:t>
            </a:r>
            <a:r>
              <a:rPr lang="en-US" sz="2400" b="1" u="sng">
                <a:solidFill>
                  <a:srgbClr val="FFFFFF"/>
                </a:solidFill>
                <a:ea typeface="+mn-lt"/>
                <a:cs typeface="+mn-lt"/>
              </a:rPr>
              <a:t>removing customer liability.</a:t>
            </a:r>
            <a:endParaRPr lang="en-US" sz="2400" b="1" u="sng">
              <a:solidFill>
                <a:srgbClr val="FFFFFF"/>
              </a:solidFill>
              <a:ea typeface="Calibri"/>
              <a:cs typeface="Calibri"/>
            </a:endParaRPr>
          </a:p>
        </p:txBody>
      </p:sp>
      <p:sp>
        <p:nvSpPr>
          <p:cNvPr id="3" name="TextBox 2">
            <a:extLst>
              <a:ext uri="{FF2B5EF4-FFF2-40B4-BE49-F238E27FC236}">
                <a16:creationId xmlns:a16="http://schemas.microsoft.com/office/drawing/2014/main" id="{9DD0A70E-6D16-99AE-D2CF-D4033BF8D9D9}"/>
              </a:ext>
            </a:extLst>
          </p:cNvPr>
          <p:cNvSpPr txBox="1"/>
          <p:nvPr/>
        </p:nvSpPr>
        <p:spPr>
          <a:xfrm>
            <a:off x="526211" y="1350034"/>
            <a:ext cx="13854022"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a:solidFill>
                  <a:srgbClr val="FFFFFF"/>
                </a:solidFill>
              </a:rPr>
              <a:t>Identify Invalid Transactions</a:t>
            </a:r>
            <a:endParaRPr lang="en-US" sz="2200">
              <a:solidFill>
                <a:srgbClr val="FFFFFF"/>
              </a:solidFill>
              <a:ea typeface="Calibri"/>
              <a:cs typeface="Calibri"/>
            </a:endParaRPr>
          </a:p>
          <a:p>
            <a:endParaRPr lang="en-US" sz="2200" b="1">
              <a:solidFill>
                <a:srgbClr val="FFFFFF"/>
              </a:solidFill>
            </a:endParaRPr>
          </a:p>
          <a:p>
            <a:pPr marL="228600" lvl="1" indent="-228600">
              <a:buFont typeface=""/>
              <a:buChar char="•"/>
            </a:pPr>
            <a:r>
              <a:rPr lang="en-US" sz="2200">
                <a:solidFill>
                  <a:srgbClr val="FFFFFF"/>
                </a:solidFill>
              </a:rPr>
              <a:t>Review all transactions that are marked as </a:t>
            </a:r>
            <a:r>
              <a:rPr lang="en-US" sz="2200" b="1">
                <a:solidFill>
                  <a:srgbClr val="FFFFFF"/>
                </a:solidFill>
              </a:rPr>
              <a:t>invalid</a:t>
            </a:r>
            <a:r>
              <a:rPr lang="en-US" sz="2200">
                <a:solidFill>
                  <a:srgbClr val="FFFFFF"/>
                </a:solidFill>
              </a:rPr>
              <a:t> during the validation process.</a:t>
            </a:r>
            <a:endParaRPr lang="en-US" sz="2200">
              <a:solidFill>
                <a:srgbClr val="FFFFFF"/>
              </a:solidFill>
              <a:ea typeface="Calibri"/>
              <a:cs typeface="Calibri"/>
            </a:endParaRPr>
          </a:p>
          <a:p>
            <a:pPr marL="228600" lvl="1" indent="-228600">
              <a:buFont typeface=""/>
              <a:buChar char="•"/>
            </a:pPr>
            <a:r>
              <a:rPr lang="en-US" sz="2200">
                <a:solidFill>
                  <a:srgbClr val="FFFFFF"/>
                </a:solidFill>
              </a:rPr>
              <a:t>These invalid transactions are to be moved into the </a:t>
            </a:r>
            <a:r>
              <a:rPr lang="en-US" sz="2200" b="1">
                <a:solidFill>
                  <a:srgbClr val="FFFFFF"/>
                </a:solidFill>
              </a:rPr>
              <a:t>Disputable Transaction</a:t>
            </a:r>
            <a:r>
              <a:rPr lang="en-US" sz="2200">
                <a:solidFill>
                  <a:srgbClr val="FFFFFF"/>
                </a:solidFill>
              </a:rPr>
              <a:t> category for further investigation.</a:t>
            </a:r>
            <a:endParaRPr lang="en-US" sz="2200">
              <a:solidFill>
                <a:srgbClr val="FFFFFF"/>
              </a:solidFill>
              <a:ea typeface="Calibri"/>
              <a:cs typeface="Calibri"/>
            </a:endParaRPr>
          </a:p>
          <a:p>
            <a:endParaRPr lang="en-US" sz="2200" b="1">
              <a:solidFill>
                <a:srgbClr val="FFFFFF"/>
              </a:solidFill>
            </a:endParaRPr>
          </a:p>
          <a:p>
            <a:r>
              <a:rPr lang="en-US" sz="2200" b="1">
                <a:solidFill>
                  <a:srgbClr val="FFFFFF"/>
                </a:solidFill>
              </a:rPr>
              <a:t>Vendor Backup &amp; Documentation</a:t>
            </a:r>
            <a:endParaRPr lang="en-US" sz="2200" b="1">
              <a:solidFill>
                <a:srgbClr val="FFFFFF"/>
              </a:solidFill>
              <a:ea typeface="Calibri" panose="020F0502020204030204"/>
              <a:cs typeface="Calibri" panose="020F0502020204030204"/>
            </a:endParaRPr>
          </a:p>
          <a:p>
            <a:endParaRPr lang="en-US" sz="2200" b="1">
              <a:solidFill>
                <a:srgbClr val="FFFFFF"/>
              </a:solidFill>
            </a:endParaRPr>
          </a:p>
          <a:p>
            <a:pPr marL="228600" lvl="1" indent="-228600">
              <a:buFont typeface=""/>
              <a:buChar char="•"/>
            </a:pPr>
            <a:r>
              <a:rPr lang="en-US" sz="2200">
                <a:solidFill>
                  <a:srgbClr val="FFFFFF"/>
                </a:solidFill>
              </a:rPr>
              <a:t>For each disputable transaction, request </a:t>
            </a:r>
            <a:r>
              <a:rPr lang="en-US" sz="2200" b="1">
                <a:solidFill>
                  <a:srgbClr val="FFFFFF"/>
                </a:solidFill>
              </a:rPr>
              <a:t>supporting backup documents</a:t>
            </a:r>
            <a:r>
              <a:rPr lang="en-US" sz="2200">
                <a:solidFill>
                  <a:srgbClr val="FFFFFF"/>
                </a:solidFill>
              </a:rPr>
              <a:t> from the vendor.</a:t>
            </a:r>
            <a:endParaRPr lang="en-US" sz="2200">
              <a:solidFill>
                <a:srgbClr val="FFFFFF"/>
              </a:solidFill>
              <a:ea typeface="Calibri"/>
              <a:cs typeface="Calibri"/>
            </a:endParaRPr>
          </a:p>
          <a:p>
            <a:pPr marL="228600" lvl="1" indent="-228600">
              <a:buFont typeface=""/>
              <a:buChar char="•"/>
            </a:pPr>
            <a:r>
              <a:rPr lang="en-US" sz="2200">
                <a:solidFill>
                  <a:srgbClr val="FFFF00"/>
                </a:solidFill>
              </a:rPr>
              <a:t>The vendor should provide one or more of the following documents to support the dispute:</a:t>
            </a:r>
            <a:endParaRPr lang="en-US" sz="2200">
              <a:solidFill>
                <a:srgbClr val="FFFF00"/>
              </a:solidFill>
              <a:ea typeface="Calibri"/>
              <a:cs typeface="Calibri"/>
            </a:endParaRPr>
          </a:p>
          <a:p>
            <a:pPr marL="228600" lvl="2" indent="-228600">
              <a:buFont typeface=""/>
              <a:buChar char="•"/>
            </a:pPr>
            <a:r>
              <a:rPr lang="en-US" sz="2200" b="1">
                <a:solidFill>
                  <a:srgbClr val="FFFFFF"/>
                </a:solidFill>
              </a:rPr>
              <a:t>BOS (Bill of Sale)</a:t>
            </a:r>
            <a:endParaRPr lang="en-US" sz="2200" b="1">
              <a:solidFill>
                <a:srgbClr val="FFFFFF"/>
              </a:solidFill>
              <a:ea typeface="Calibri"/>
              <a:cs typeface="Calibri"/>
            </a:endParaRPr>
          </a:p>
          <a:p>
            <a:pPr marL="228600" lvl="2" indent="-228600">
              <a:buFont typeface=""/>
              <a:buChar char="•"/>
            </a:pPr>
            <a:r>
              <a:rPr lang="en-US" sz="2200" b="1">
                <a:solidFill>
                  <a:srgbClr val="FFFFFF"/>
                </a:solidFill>
              </a:rPr>
              <a:t>Police Report</a:t>
            </a:r>
            <a:endParaRPr lang="en-US" sz="2200" b="1">
              <a:solidFill>
                <a:srgbClr val="FFFFFF"/>
              </a:solidFill>
              <a:ea typeface="Calibri"/>
              <a:cs typeface="Calibri"/>
            </a:endParaRPr>
          </a:p>
          <a:p>
            <a:pPr marL="228600" lvl="2" indent="-228600">
              <a:buFont typeface=""/>
              <a:buChar char="•"/>
            </a:pPr>
            <a:r>
              <a:rPr lang="en-US" sz="2200" b="1">
                <a:solidFill>
                  <a:srgbClr val="FFFFFF"/>
                </a:solidFill>
              </a:rPr>
              <a:t>Sold Report</a:t>
            </a:r>
            <a:endParaRPr lang="en-US" sz="2200" b="1">
              <a:solidFill>
                <a:srgbClr val="FFFFFF"/>
              </a:solidFill>
              <a:ea typeface="Calibri"/>
              <a:cs typeface="Calibri"/>
            </a:endParaRPr>
          </a:p>
          <a:p>
            <a:pPr marL="228600" lvl="2" indent="-228600">
              <a:buFont typeface=""/>
              <a:buChar char="•"/>
            </a:pPr>
            <a:r>
              <a:rPr lang="en-US" sz="2200" b="1">
                <a:solidFill>
                  <a:srgbClr val="FFFFFF"/>
                </a:solidFill>
              </a:rPr>
              <a:t>Vehicle Report</a:t>
            </a:r>
            <a:endParaRPr lang="en-US" sz="2200" b="1">
              <a:solidFill>
                <a:srgbClr val="FFFFFF"/>
              </a:solidFill>
              <a:ea typeface="Calibri"/>
              <a:cs typeface="Calibri"/>
            </a:endParaRPr>
          </a:p>
          <a:p>
            <a:pPr marL="228600" lvl="1" indent="-228600">
              <a:buFont typeface=""/>
              <a:buChar char="•"/>
            </a:pPr>
            <a:r>
              <a:rPr lang="en-US" sz="2200">
                <a:solidFill>
                  <a:srgbClr val="FFFFFF"/>
                </a:solidFill>
              </a:rPr>
              <a:t>These documents help determine whether the liability belongs to the customer or should be removed from their responsibility.</a:t>
            </a:r>
            <a:endParaRPr lang="en-US" sz="2200">
              <a:solidFill>
                <a:srgbClr val="FFFFFF"/>
              </a:solidFill>
              <a:ea typeface="Calibri"/>
              <a:cs typeface="Calibri"/>
            </a:endParaRPr>
          </a:p>
        </p:txBody>
      </p:sp>
    </p:spTree>
    <p:extLst>
      <p:ext uri="{BB962C8B-B14F-4D97-AF65-F5344CB8AC3E}">
        <p14:creationId xmlns:p14="http://schemas.microsoft.com/office/powerpoint/2010/main" val="2162599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78E43576-3DE3-8E06-C8B2-D9EEAA2FFB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3B89350-91E0-78AE-7BFC-0A5050F13AAB}"/>
              </a:ext>
            </a:extLst>
          </p:cNvPr>
          <p:cNvSpPr txBox="1"/>
          <p:nvPr/>
        </p:nvSpPr>
        <p:spPr>
          <a:xfrm>
            <a:off x="526211" y="245853"/>
            <a:ext cx="13854022" cy="58477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200" b="1">
              <a:ea typeface="Calibri"/>
              <a:cs typeface="Calibri"/>
            </a:endParaRPr>
          </a:p>
          <a:p>
            <a:r>
              <a:rPr lang="en-US" sz="2200" b="1">
                <a:solidFill>
                  <a:schemeClr val="bg1"/>
                </a:solidFill>
              </a:rPr>
              <a:t>Bill of Sale (BOS) Handling</a:t>
            </a:r>
            <a:endParaRPr lang="en-US" sz="2200" b="1">
              <a:solidFill>
                <a:schemeClr val="bg1"/>
              </a:solidFill>
              <a:ea typeface="Calibri" panose="020F0502020204030204"/>
              <a:cs typeface="Calibri" panose="020F0502020204030204"/>
            </a:endParaRPr>
          </a:p>
          <a:p>
            <a:pPr marL="228600" lvl="1" indent="-228600">
              <a:buFont typeface=""/>
              <a:buChar char="•"/>
            </a:pPr>
            <a:r>
              <a:rPr lang="en-US" sz="2200" b="1">
                <a:solidFill>
                  <a:schemeClr val="bg1"/>
                </a:solidFill>
              </a:rPr>
              <a:t>If the vehicle already has a valid Bill of Sale (BOS):</a:t>
            </a:r>
            <a:endParaRPr lang="en-US" sz="2200" b="1">
              <a:solidFill>
                <a:schemeClr val="bg1"/>
              </a:solidFill>
              <a:ea typeface="Calibri"/>
              <a:cs typeface="Calibri"/>
            </a:endParaRPr>
          </a:p>
          <a:p>
            <a:pPr marL="228600" lvl="2" indent="-228600">
              <a:buFont typeface=""/>
              <a:buChar char="•"/>
            </a:pPr>
            <a:r>
              <a:rPr lang="en-US" sz="2200">
                <a:solidFill>
                  <a:schemeClr val="bg1"/>
                </a:solidFill>
              </a:rPr>
              <a:t>Move the transaction directly into the </a:t>
            </a:r>
            <a:r>
              <a:rPr lang="en-US" sz="2200" b="1">
                <a:solidFill>
                  <a:schemeClr val="bg1"/>
                </a:solidFill>
              </a:rPr>
              <a:t>Dispute Category</a:t>
            </a:r>
            <a:r>
              <a:rPr lang="en-US" sz="2200">
                <a:solidFill>
                  <a:schemeClr val="bg1"/>
                </a:solidFill>
              </a:rPr>
              <a:t> with the attached BOS.</a:t>
            </a:r>
            <a:endParaRPr lang="en-US" sz="2200">
              <a:solidFill>
                <a:schemeClr val="bg1"/>
              </a:solidFill>
              <a:ea typeface="Calibri"/>
              <a:cs typeface="Calibri"/>
            </a:endParaRPr>
          </a:p>
          <a:p>
            <a:pPr marL="228600" lvl="1" indent="-228600">
              <a:buFont typeface=""/>
              <a:buChar char="•"/>
            </a:pPr>
            <a:r>
              <a:rPr lang="en-US" sz="2200" b="1">
                <a:solidFill>
                  <a:schemeClr val="bg1"/>
                </a:solidFill>
              </a:rPr>
              <a:t>If the vehicle does not have a BOS:</a:t>
            </a:r>
            <a:endParaRPr lang="en-US" sz="2200" b="1">
              <a:solidFill>
                <a:schemeClr val="bg1"/>
              </a:solidFill>
              <a:ea typeface="Calibri"/>
              <a:cs typeface="Calibri"/>
            </a:endParaRPr>
          </a:p>
          <a:p>
            <a:pPr marL="228600" lvl="2" indent="-228600">
              <a:buFont typeface=""/>
              <a:buChar char="•"/>
            </a:pPr>
            <a:r>
              <a:rPr lang="en-US" sz="2200">
                <a:solidFill>
                  <a:schemeClr val="bg1"/>
                </a:solidFill>
              </a:rPr>
              <a:t>Contact the vendor and request accurate and complete documentation.</a:t>
            </a:r>
            <a:endParaRPr lang="en-US" sz="2200">
              <a:solidFill>
                <a:schemeClr val="bg1"/>
              </a:solidFill>
              <a:ea typeface="Calibri"/>
              <a:cs typeface="Calibri"/>
            </a:endParaRPr>
          </a:p>
          <a:p>
            <a:pPr marL="228600" lvl="2" indent="-228600">
              <a:buFont typeface=""/>
              <a:buChar char="•"/>
            </a:pPr>
            <a:r>
              <a:rPr lang="en-US" sz="2200">
                <a:solidFill>
                  <a:schemeClr val="bg1"/>
                </a:solidFill>
              </a:rPr>
              <a:t>Ensure the proper BOS or other valid proof is obtained to process the dispute.</a:t>
            </a:r>
            <a:endParaRPr lang="en-US" sz="2200">
              <a:solidFill>
                <a:schemeClr val="bg1"/>
              </a:solidFill>
              <a:ea typeface="Calibri"/>
              <a:cs typeface="Calibri"/>
            </a:endParaRPr>
          </a:p>
          <a:p>
            <a:pPr marL="228600" lvl="2" indent="-228600">
              <a:buFont typeface=""/>
              <a:buChar char="•"/>
            </a:pPr>
            <a:endParaRPr lang="en-US" sz="2200">
              <a:solidFill>
                <a:schemeClr val="bg1"/>
              </a:solidFill>
              <a:ea typeface="Calibri"/>
              <a:cs typeface="Calibri"/>
            </a:endParaRPr>
          </a:p>
          <a:p>
            <a:r>
              <a:rPr lang="en-US" sz="2200" b="1">
                <a:solidFill>
                  <a:schemeClr val="bg1"/>
                </a:solidFill>
              </a:rPr>
              <a:t>Customer Liability Adjustment</a:t>
            </a:r>
            <a:endParaRPr lang="en-US" sz="2200" b="1">
              <a:solidFill>
                <a:schemeClr val="bg1"/>
              </a:solidFill>
              <a:ea typeface="Calibri" panose="020F0502020204030204"/>
              <a:cs typeface="Calibri" panose="020F0502020204030204"/>
            </a:endParaRPr>
          </a:p>
          <a:p>
            <a:pPr marL="228600" lvl="1" indent="-228600">
              <a:buFont typeface=""/>
              <a:buChar char="•"/>
            </a:pPr>
            <a:r>
              <a:rPr lang="en-US" sz="2200">
                <a:solidFill>
                  <a:schemeClr val="bg1"/>
                </a:solidFill>
              </a:rPr>
              <a:t>Once verified documentation is obtained, </a:t>
            </a:r>
            <a:r>
              <a:rPr lang="en-US" sz="2200" b="1">
                <a:solidFill>
                  <a:schemeClr val="bg1"/>
                </a:solidFill>
              </a:rPr>
              <a:t>remove the disputed transaction from the customer’s liability</a:t>
            </a:r>
            <a:r>
              <a:rPr lang="en-US" sz="2200">
                <a:solidFill>
                  <a:schemeClr val="bg1"/>
                </a:solidFill>
              </a:rPr>
              <a:t>.</a:t>
            </a:r>
            <a:endParaRPr lang="en-US" sz="2200">
              <a:solidFill>
                <a:schemeClr val="bg1"/>
              </a:solidFill>
              <a:ea typeface="Calibri"/>
              <a:cs typeface="Calibri"/>
            </a:endParaRPr>
          </a:p>
          <a:p>
            <a:pPr marL="228600" lvl="1" indent="-228600">
              <a:buFont typeface=""/>
              <a:buChar char="•"/>
            </a:pPr>
            <a:r>
              <a:rPr lang="en-US" sz="2200">
                <a:solidFill>
                  <a:schemeClr val="bg1"/>
                </a:solidFill>
              </a:rPr>
              <a:t>Ensure that the records are updated to reflect that the customer is no longer responsible for the invalid charge.</a:t>
            </a:r>
            <a:endParaRPr lang="en-US" sz="2200">
              <a:solidFill>
                <a:schemeClr val="bg1"/>
              </a:solidFill>
              <a:ea typeface="Calibri"/>
              <a:cs typeface="Calibri"/>
            </a:endParaRPr>
          </a:p>
          <a:p>
            <a:pPr marL="228600" lvl="1" indent="-228600">
              <a:buFont typeface=""/>
              <a:buChar char="•"/>
            </a:pPr>
            <a:endParaRPr lang="en-US" sz="2200">
              <a:solidFill>
                <a:schemeClr val="bg1"/>
              </a:solidFill>
              <a:ea typeface="Calibri"/>
              <a:cs typeface="Calibri"/>
            </a:endParaRPr>
          </a:p>
          <a:p>
            <a:r>
              <a:rPr lang="en-US" sz="2200" b="1">
                <a:solidFill>
                  <a:schemeClr val="bg1"/>
                </a:solidFill>
              </a:rPr>
              <a:t>Disputable Transaction Processing</a:t>
            </a:r>
            <a:endParaRPr lang="en-US" sz="2200" b="1">
              <a:solidFill>
                <a:schemeClr val="bg1"/>
              </a:solidFill>
              <a:ea typeface="Calibri" panose="020F0502020204030204"/>
              <a:cs typeface="Calibri" panose="020F0502020204030204"/>
            </a:endParaRPr>
          </a:p>
          <a:p>
            <a:pPr marL="228600" lvl="1" indent="-228600">
              <a:buFont typeface=""/>
              <a:buChar char="•"/>
            </a:pPr>
            <a:r>
              <a:rPr lang="en-US" sz="2200">
                <a:solidFill>
                  <a:schemeClr val="bg1"/>
                </a:solidFill>
              </a:rPr>
              <a:t>All verified disputable transactions (with BOS, Police Report, or related documents) should be finalized under the </a:t>
            </a:r>
            <a:r>
              <a:rPr lang="en-US" sz="2200" b="1">
                <a:solidFill>
                  <a:schemeClr val="bg1"/>
                </a:solidFill>
              </a:rPr>
              <a:t>Dispute Transaction Process</a:t>
            </a:r>
            <a:r>
              <a:rPr lang="en-US" sz="2200">
                <a:solidFill>
                  <a:schemeClr val="bg1"/>
                </a:solidFill>
              </a:rPr>
              <a:t>.</a:t>
            </a:r>
            <a:endParaRPr lang="en-US" sz="2200">
              <a:solidFill>
                <a:schemeClr val="bg1"/>
              </a:solidFill>
              <a:ea typeface="Calibri"/>
              <a:cs typeface="Calibri"/>
            </a:endParaRPr>
          </a:p>
          <a:p>
            <a:pPr marL="228600" lvl="1" indent="-228600">
              <a:buFont typeface=""/>
              <a:buChar char="•"/>
            </a:pPr>
            <a:r>
              <a:rPr lang="en-US" sz="2200">
                <a:solidFill>
                  <a:schemeClr val="bg1"/>
                </a:solidFill>
              </a:rPr>
              <a:t>In cases involving DMV (e.g., </a:t>
            </a:r>
            <a:r>
              <a:rPr lang="en-US" sz="2200" b="1">
                <a:solidFill>
                  <a:schemeClr val="bg1"/>
                </a:solidFill>
              </a:rPr>
              <a:t>Sold vehicles reported to DMV</a:t>
            </a:r>
            <a:r>
              <a:rPr lang="en-US" sz="2200">
                <a:solidFill>
                  <a:schemeClr val="bg1"/>
                </a:solidFill>
              </a:rPr>
              <a:t>), ensure the DMV-provided data is also captured and recorded to strengthen the dispute resolution.</a:t>
            </a:r>
            <a:endParaRPr lang="en-US" sz="2200">
              <a:solidFill>
                <a:schemeClr val="bg1"/>
              </a:solidFill>
              <a:ea typeface="Calibri"/>
              <a:cs typeface="Calibri"/>
            </a:endParaRPr>
          </a:p>
        </p:txBody>
      </p:sp>
    </p:spTree>
    <p:extLst>
      <p:ext uri="{BB962C8B-B14F-4D97-AF65-F5344CB8AC3E}">
        <p14:creationId xmlns:p14="http://schemas.microsoft.com/office/powerpoint/2010/main" val="2526658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60CA0852-BA42-F4CC-DD18-F6CCC688EB4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C0D58E2-337A-FA01-CBDE-9A22BC18B73B}"/>
              </a:ext>
            </a:extLst>
          </p:cNvPr>
          <p:cNvSpPr txBox="1"/>
          <p:nvPr/>
        </p:nvSpPr>
        <p:spPr>
          <a:xfrm>
            <a:off x="442298" y="234019"/>
            <a:ext cx="1365504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a:solidFill>
                  <a:srgbClr val="FFFFFF"/>
                </a:solidFill>
                <a:ea typeface="Calibri"/>
                <a:cs typeface="Calibri"/>
              </a:rPr>
              <a:t>STEP 6: Contacting the Customer with the “Customer Approval Transactions” to decide whether to make </a:t>
            </a:r>
            <a:r>
              <a:rPr lang="en-US" sz="2400" b="1" u="sng" err="1">
                <a:solidFill>
                  <a:srgbClr val="FFFFFF"/>
                </a:solidFill>
                <a:ea typeface="Calibri"/>
                <a:cs typeface="Calibri"/>
              </a:rPr>
              <a:t>aPayment</a:t>
            </a:r>
            <a:r>
              <a:rPr lang="en-US" sz="2400" b="1" u="sng">
                <a:solidFill>
                  <a:srgbClr val="FFFFFF"/>
                </a:solidFill>
                <a:ea typeface="Calibri"/>
                <a:cs typeface="Calibri"/>
              </a:rPr>
              <a:t> (Step 4)</a:t>
            </a:r>
            <a:r>
              <a:rPr lang="en-US" sz="2400" b="1" u="sng" err="1">
                <a:solidFill>
                  <a:srgbClr val="FFFFFF"/>
                </a:solidFill>
                <a:ea typeface="Calibri"/>
                <a:cs typeface="Calibri"/>
              </a:rPr>
              <a:t>orDispute</a:t>
            </a:r>
            <a:r>
              <a:rPr lang="en-US" sz="2400" b="1" u="sng">
                <a:solidFill>
                  <a:srgbClr val="FFFFFF"/>
                </a:solidFill>
                <a:ea typeface="Calibri"/>
                <a:cs typeface="Calibri"/>
              </a:rPr>
              <a:t>(Step 5).</a:t>
            </a:r>
            <a:endParaRPr lang="en-US" u="sng">
              <a:solidFill>
                <a:srgbClr val="FFFFFF"/>
              </a:solidFill>
              <a:ea typeface="Calibri"/>
              <a:cs typeface="Calibri"/>
            </a:endParaRPr>
          </a:p>
        </p:txBody>
      </p:sp>
      <p:sp>
        <p:nvSpPr>
          <p:cNvPr id="5" name="TextBox 1">
            <a:extLst>
              <a:ext uri="{FF2B5EF4-FFF2-40B4-BE49-F238E27FC236}">
                <a16:creationId xmlns:a16="http://schemas.microsoft.com/office/drawing/2014/main" id="{DA911FF3-E29F-D861-403A-A574CF40216C}"/>
              </a:ext>
            </a:extLst>
          </p:cNvPr>
          <p:cNvSpPr txBox="1"/>
          <p:nvPr/>
        </p:nvSpPr>
        <p:spPr>
          <a:xfrm>
            <a:off x="639318" y="1560575"/>
            <a:ext cx="13546072" cy="5293757"/>
          </a:xfrm>
          <a:prstGeom prst="rect">
            <a:avLst/>
          </a:prstGeom>
          <a:noFill/>
          <a:ln>
            <a:solidFill>
              <a:schemeClr val="bg1"/>
            </a:solid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b="1">
              <a:solidFill>
                <a:srgbClr val="FFFFFF"/>
              </a:solidFill>
              <a:ea typeface="Calibri"/>
              <a:cs typeface="Calibri"/>
            </a:endParaRPr>
          </a:p>
          <a:p>
            <a:endParaRPr lang="en-US" sz="2000">
              <a:solidFill>
                <a:srgbClr val="FFFFFF"/>
              </a:solidFill>
              <a:ea typeface="Calibri"/>
              <a:cs typeface="Calibri"/>
            </a:endParaRPr>
          </a:p>
          <a:p>
            <a:r>
              <a:rPr lang="en-US" sz="2000">
                <a:solidFill>
                  <a:srgbClr val="FFFFFF"/>
                </a:solidFill>
                <a:ea typeface="+mn-lt"/>
                <a:cs typeface="+mn-lt"/>
              </a:rPr>
              <a:t>1: Collecting bills under process "TRANSACTION APPROVAL and PLATE/UNIT APPROVAL.</a:t>
            </a:r>
            <a:endParaRPr lang="en-US" sz="2000">
              <a:solidFill>
                <a:srgbClr val="FFFFFF"/>
              </a:solidFill>
              <a:ea typeface="Calibri"/>
              <a:cs typeface="Calibri"/>
            </a:endParaRPr>
          </a:p>
          <a:p>
            <a:endParaRPr lang="en-US" sz="2000">
              <a:solidFill>
                <a:srgbClr val="FFFFFF"/>
              </a:solidFill>
              <a:ea typeface="Calibri"/>
              <a:cs typeface="Calibri"/>
            </a:endParaRPr>
          </a:p>
          <a:p>
            <a:r>
              <a:rPr lang="en-US" sz="2000">
                <a:solidFill>
                  <a:srgbClr val="FFFFFF"/>
                </a:solidFill>
                <a:ea typeface="+mn-lt"/>
                <a:cs typeface="+mn-lt"/>
              </a:rPr>
              <a:t>In the BillPay category: UTN BILL SETTLEMENT PROCESS: UTN BILL APPROVAL, stage: CUSTOMER APPROVAL, stage phase: TRANSACTION APPROVAL /PLATE/UNIT APPROVAL</a:t>
            </a:r>
            <a:endParaRPr lang="en-US" sz="2000">
              <a:solidFill>
                <a:srgbClr val="FFFFFF"/>
              </a:solidFill>
              <a:ea typeface="Calibri"/>
              <a:cs typeface="Calibri"/>
            </a:endParaRPr>
          </a:p>
          <a:p>
            <a:endParaRPr lang="en-US" sz="2000">
              <a:solidFill>
                <a:srgbClr val="FFFFFF"/>
              </a:solidFill>
              <a:ea typeface="Calibri"/>
              <a:cs typeface="Calibri"/>
            </a:endParaRPr>
          </a:p>
          <a:p>
            <a:r>
              <a:rPr lang="en-US" sz="2000">
                <a:solidFill>
                  <a:srgbClr val="FFFFFF"/>
                </a:solidFill>
                <a:ea typeface="+mn-lt"/>
                <a:cs typeface="+mn-lt"/>
              </a:rPr>
              <a:t> 2 : Moving collected bills to the under category STML, Process -SETTLEMENT CUSTOMER APPROVAL, and under stage -TRANSACTION APPROVAL /PLATE APPROVAL  </a:t>
            </a:r>
            <a:endParaRPr lang="en-US" sz="2000">
              <a:solidFill>
                <a:srgbClr val="FFFFFF"/>
              </a:solidFill>
              <a:ea typeface="Calibri"/>
              <a:cs typeface="Calibri"/>
            </a:endParaRPr>
          </a:p>
          <a:p>
            <a:endParaRPr lang="en-US" sz="2000">
              <a:solidFill>
                <a:srgbClr val="FFFFFF"/>
              </a:solidFill>
              <a:ea typeface="Calibri"/>
              <a:cs typeface="Calibri"/>
            </a:endParaRPr>
          </a:p>
          <a:p>
            <a:r>
              <a:rPr lang="en-US" sz="2000">
                <a:solidFill>
                  <a:srgbClr val="FFFFFF"/>
                </a:solidFill>
                <a:ea typeface="+mn-lt"/>
                <a:cs typeface="+mn-lt"/>
              </a:rPr>
              <a:t> 3 : Extract the reports for Transaction and plate approval details to approach the customer.</a:t>
            </a:r>
            <a:endParaRPr lang="en-US" sz="2000">
              <a:solidFill>
                <a:srgbClr val="FFFFFF"/>
              </a:solidFill>
              <a:ea typeface="Calibri"/>
              <a:cs typeface="Calibri"/>
            </a:endParaRPr>
          </a:p>
          <a:p>
            <a:endParaRPr lang="en-US" sz="2000">
              <a:solidFill>
                <a:srgbClr val="FFFFFF"/>
              </a:solidFill>
              <a:ea typeface="Calibri"/>
              <a:cs typeface="Calibri"/>
            </a:endParaRPr>
          </a:p>
          <a:p>
            <a:r>
              <a:rPr lang="en-US" sz="2000">
                <a:solidFill>
                  <a:srgbClr val="FFFFFF"/>
                </a:solidFill>
                <a:ea typeface="+mn-lt"/>
                <a:cs typeface="+mn-lt"/>
              </a:rPr>
              <a:t> 4 : Contacting a customer to get the approval for the transaction, plates inactive /PNF  to clear outstanding citations.</a:t>
            </a:r>
            <a:endParaRPr lang="en-US" sz="2000">
              <a:solidFill>
                <a:srgbClr val="FFFFFF"/>
              </a:solidFill>
              <a:ea typeface="Calibri"/>
              <a:cs typeface="Calibri"/>
            </a:endParaRPr>
          </a:p>
          <a:p>
            <a:endParaRPr lang="en-US" sz="2000">
              <a:solidFill>
                <a:srgbClr val="FFFFFF"/>
              </a:solidFill>
              <a:ea typeface="Calibri"/>
              <a:cs typeface="Calibri"/>
            </a:endParaRPr>
          </a:p>
          <a:p>
            <a:r>
              <a:rPr lang="en-US" sz="2000">
                <a:solidFill>
                  <a:srgbClr val="FFFFFF"/>
                </a:solidFill>
                <a:ea typeface="+mn-lt"/>
                <a:cs typeface="+mn-lt"/>
              </a:rPr>
              <a:t> 5: Moving Customer Accepted transactions and plates to Next Process’s –“PAYMENT "  to make payments for all customer approvals, and then customer rejected transactions, plates are moved to Process " SETTLEMENT DISPUTES ".</a:t>
            </a:r>
            <a:endParaRPr lang="en-US" sz="2000">
              <a:solidFill>
                <a:srgbClr val="FFFFFF"/>
              </a:solidFill>
            </a:endParaRPr>
          </a:p>
          <a:p>
            <a:pPr algn="l"/>
            <a:endParaRPr lang="en-US">
              <a:solidFill>
                <a:srgbClr val="FFFFFF"/>
              </a:solidFill>
              <a:ea typeface="Calibri"/>
              <a:cs typeface="Calibri"/>
            </a:endParaRPr>
          </a:p>
        </p:txBody>
      </p:sp>
      <p:sp>
        <p:nvSpPr>
          <p:cNvPr id="2" name="TextBox 1">
            <a:extLst>
              <a:ext uri="{FF2B5EF4-FFF2-40B4-BE49-F238E27FC236}">
                <a16:creationId xmlns:a16="http://schemas.microsoft.com/office/drawing/2014/main" id="{D9017513-1999-A30C-BCCB-E819103A09C0}"/>
              </a:ext>
            </a:extLst>
          </p:cNvPr>
          <p:cNvSpPr txBox="1"/>
          <p:nvPr/>
        </p:nvSpPr>
        <p:spPr>
          <a:xfrm>
            <a:off x="643467" y="7086600"/>
            <a:ext cx="1293706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u="sng">
                <a:solidFill>
                  <a:srgbClr val="FFFFFF"/>
                </a:solidFill>
              </a:rPr>
              <a:t>STEP 7: Follow up with Vendor for Step 4 &amp; 5 to complete.</a:t>
            </a:r>
            <a:endParaRPr lang="en-US" b="1">
              <a:ea typeface="Calibri"/>
              <a:cs typeface="Calibri"/>
            </a:endParaRPr>
          </a:p>
        </p:txBody>
      </p:sp>
    </p:spTree>
    <p:extLst>
      <p:ext uri="{BB962C8B-B14F-4D97-AF65-F5344CB8AC3E}">
        <p14:creationId xmlns:p14="http://schemas.microsoft.com/office/powerpoint/2010/main" val="4124840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2177B09A-33F1-9E82-19CC-4B8D6B9A4B5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36E0881-B208-458F-DE0B-4EE4D4FAB92A}"/>
              </a:ext>
            </a:extLst>
          </p:cNvPr>
          <p:cNvSpPr txBox="1"/>
          <p:nvPr/>
        </p:nvSpPr>
        <p:spPr>
          <a:xfrm>
            <a:off x="399626" y="215053"/>
            <a:ext cx="1211884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a:solidFill>
                  <a:srgbClr val="FFFFFF"/>
                </a:solidFill>
              </a:rPr>
              <a:t>STEP 8: Following up with the Customer for Customer Approval and Customer Backups (Police Report , DMV Report, Sold Vehicle Report)</a:t>
            </a:r>
            <a:endParaRPr lang="en-US" sz="2400" b="1" u="sng">
              <a:solidFill>
                <a:srgbClr val="FFFFFF"/>
              </a:solidFill>
              <a:ea typeface="Calibri"/>
              <a:cs typeface="Calibri"/>
            </a:endParaRPr>
          </a:p>
        </p:txBody>
      </p:sp>
      <p:sp>
        <p:nvSpPr>
          <p:cNvPr id="7" name="TextBox 6">
            <a:extLst>
              <a:ext uri="{FF2B5EF4-FFF2-40B4-BE49-F238E27FC236}">
                <a16:creationId xmlns:a16="http://schemas.microsoft.com/office/drawing/2014/main" id="{A84D75B1-5FA9-72D3-6C04-3EFF8BFCC1D5}"/>
              </a:ext>
            </a:extLst>
          </p:cNvPr>
          <p:cNvSpPr txBox="1"/>
          <p:nvPr/>
        </p:nvSpPr>
        <p:spPr>
          <a:xfrm>
            <a:off x="433112" y="1268115"/>
            <a:ext cx="13781720" cy="4062651"/>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b="1">
              <a:ea typeface="Calibri"/>
              <a:cs typeface="Calibri"/>
            </a:endParaRPr>
          </a:p>
          <a:p>
            <a:endParaRPr lang="en-US" sz="2000">
              <a:ea typeface="Calibri"/>
              <a:cs typeface="Calibri"/>
            </a:endParaRPr>
          </a:p>
          <a:p>
            <a:r>
              <a:rPr lang="en-US" sz="2000">
                <a:solidFill>
                  <a:schemeClr val="bg1"/>
                </a:solidFill>
                <a:ea typeface="+mn-lt"/>
                <a:cs typeface="+mn-lt"/>
              </a:rPr>
              <a:t>Step 1 : Collecting details " Customer Approval " to follow up with the customer.</a:t>
            </a:r>
            <a:endParaRPr lang="en-US" sz="2000">
              <a:solidFill>
                <a:schemeClr val="bg1"/>
              </a:solidFill>
              <a:ea typeface="Calibri"/>
              <a:cs typeface="Calibri"/>
            </a:endParaRPr>
          </a:p>
          <a:p>
            <a:endParaRPr lang="en-US" sz="2000">
              <a:solidFill>
                <a:schemeClr val="bg1"/>
              </a:solidFill>
              <a:ea typeface="Calibri"/>
              <a:cs typeface="Calibri"/>
            </a:endParaRPr>
          </a:p>
          <a:p>
            <a:r>
              <a:rPr lang="en-US" sz="2000">
                <a:solidFill>
                  <a:schemeClr val="bg1"/>
                </a:solidFill>
                <a:ea typeface="+mn-lt"/>
                <a:cs typeface="+mn-lt"/>
              </a:rPr>
              <a:t>Step 2 : Contacting the customer for BOS for Vehicle sold, FIR copy for Vehicle stolen, and DMV reports. Once image backup for these disputes are received, change the stage accordingly -choose Stage -CUSTOMER CONTACT, </a:t>
            </a:r>
            <a:r>
              <a:rPr lang="en-US" sz="2000" err="1">
                <a:solidFill>
                  <a:schemeClr val="bg1"/>
                </a:solidFill>
                <a:ea typeface="+mn-lt"/>
                <a:cs typeface="+mn-lt"/>
              </a:rPr>
              <a:t>Stageclass</a:t>
            </a:r>
            <a:r>
              <a:rPr lang="en-US" sz="2000">
                <a:solidFill>
                  <a:schemeClr val="bg1"/>
                </a:solidFill>
                <a:ea typeface="+mn-lt"/>
                <a:cs typeface="+mn-lt"/>
              </a:rPr>
              <a:t> -BOS/POLICE REPORTS/DMV REPORTS, and stage phase BOS received/Police reports received/DMV received.</a:t>
            </a:r>
            <a:endParaRPr lang="en-US" sz="2000">
              <a:solidFill>
                <a:schemeClr val="bg1"/>
              </a:solidFill>
              <a:ea typeface="Calibri"/>
              <a:cs typeface="Calibri"/>
            </a:endParaRPr>
          </a:p>
          <a:p>
            <a:endParaRPr lang="en-US" sz="2000">
              <a:solidFill>
                <a:schemeClr val="bg1"/>
              </a:solidFill>
              <a:ea typeface="Calibri"/>
              <a:cs typeface="Calibri"/>
            </a:endParaRPr>
          </a:p>
          <a:p>
            <a:r>
              <a:rPr lang="en-US" sz="2000">
                <a:solidFill>
                  <a:schemeClr val="bg1"/>
                </a:solidFill>
                <a:ea typeface="+mn-lt"/>
                <a:cs typeface="+mn-lt"/>
              </a:rPr>
              <a:t>Step 3 : Move image backup received items to  Process "SETTLEMENT DISPUTE " to stage " CONTACT VENDOR " to remove the Vehicle/plates from the  Vendor settlement file Details permanently  .</a:t>
            </a:r>
            <a:endParaRPr lang="en-US" sz="2000">
              <a:solidFill>
                <a:schemeClr val="bg1"/>
              </a:solidFill>
              <a:ea typeface="Calibri"/>
              <a:cs typeface="Calibri"/>
            </a:endParaRPr>
          </a:p>
          <a:p>
            <a:endParaRPr lang="en-US" sz="2000">
              <a:solidFill>
                <a:schemeClr val="bg1"/>
              </a:solidFill>
              <a:ea typeface="Calibri"/>
              <a:cs typeface="Calibri"/>
            </a:endParaRPr>
          </a:p>
          <a:p>
            <a:r>
              <a:rPr lang="en-US" sz="2000">
                <a:solidFill>
                  <a:schemeClr val="bg1"/>
                </a:solidFill>
                <a:ea typeface="+mn-lt"/>
                <a:cs typeface="+mn-lt"/>
              </a:rPr>
              <a:t>Step 4 : Continue the follow-up until we receive the Image backup from the customer ( Step 2 and Step 3 ).</a:t>
            </a:r>
            <a:endParaRPr lang="en-US" sz="2000">
              <a:solidFill>
                <a:schemeClr val="bg1"/>
              </a:solidFill>
              <a:ea typeface="Calibri"/>
              <a:cs typeface="Calibri"/>
            </a:endParaRPr>
          </a:p>
          <a:p>
            <a:pPr algn="l"/>
            <a:endParaRPr lang="en-US">
              <a:solidFill>
                <a:schemeClr val="bg1"/>
              </a:solidFill>
              <a:ea typeface="Calibri"/>
              <a:cs typeface="Calibri"/>
            </a:endParaRPr>
          </a:p>
        </p:txBody>
      </p:sp>
    </p:spTree>
    <p:extLst>
      <p:ext uri="{BB962C8B-B14F-4D97-AF65-F5344CB8AC3E}">
        <p14:creationId xmlns:p14="http://schemas.microsoft.com/office/powerpoint/2010/main" val="1012392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D7D3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3A3F78-8313-59AA-C783-BC0BB935F65F}"/>
              </a:ext>
            </a:extLst>
          </p:cNvPr>
          <p:cNvSpPr txBox="1"/>
          <p:nvPr/>
        </p:nvSpPr>
        <p:spPr>
          <a:xfrm>
            <a:off x="282005" y="135765"/>
            <a:ext cx="13998657" cy="8894743"/>
          </a:xfrm>
          <a:prstGeom prst="rect">
            <a:avLst/>
          </a:prstGeom>
          <a:noFill/>
        </p:spPr>
        <p:txBody>
          <a:bodyPr wrap="square" lIns="91440" tIns="45720" rIns="91440" bIns="45720" anchor="t">
            <a:spAutoFit/>
          </a:bodyPr>
          <a:lstStyle/>
          <a:p>
            <a:r>
              <a:rPr lang="en-US" sz="2400" b="1" u="sng">
                <a:solidFill>
                  <a:schemeClr val="bg1"/>
                </a:solidFill>
              </a:rPr>
              <a:t> STEP 9: Paying vendor for all the “Payable Transactions” :</a:t>
            </a:r>
            <a:br>
              <a:rPr lang="en-US" sz="2400" b="1" u="sng">
                <a:solidFill>
                  <a:schemeClr val="bg1"/>
                </a:solidFill>
              </a:rPr>
            </a:br>
            <a:endParaRPr lang="en-US" sz="2400" b="1" u="sng">
              <a:solidFill>
                <a:schemeClr val="bg1"/>
              </a:solidFill>
              <a:ea typeface="Calibri"/>
              <a:cs typeface="Calibri"/>
            </a:endParaRPr>
          </a:p>
          <a:p>
            <a:r>
              <a:rPr lang="en-US" sz="2400" b="1" u="sng">
                <a:solidFill>
                  <a:schemeClr val="bg1"/>
                </a:solidFill>
              </a:rPr>
              <a:t>Overview:</a:t>
            </a:r>
            <a:endParaRPr lang="en-US" sz="2400" b="1" u="sng">
              <a:solidFill>
                <a:schemeClr val="bg1"/>
              </a:solidFill>
              <a:ea typeface="Calibri"/>
              <a:cs typeface="Calibri"/>
            </a:endParaRPr>
          </a:p>
          <a:p>
            <a:r>
              <a:rPr lang="en-US" sz="2400" b="1">
                <a:solidFill>
                  <a:schemeClr val="bg1"/>
                </a:solidFill>
              </a:rPr>
              <a:t>	</a:t>
            </a:r>
            <a:r>
              <a:rPr lang="en-US" sz="2000">
                <a:solidFill>
                  <a:schemeClr val="bg1"/>
                </a:solidFill>
              </a:rPr>
              <a:t>1.Paying the bills that are under in “</a:t>
            </a:r>
            <a:r>
              <a:rPr lang="en-US" sz="2000" b="1">
                <a:solidFill>
                  <a:schemeClr val="bg1"/>
                </a:solidFill>
              </a:rPr>
              <a:t>Customer Approval Accepted</a:t>
            </a:r>
            <a:r>
              <a:rPr lang="en-US" sz="2000">
                <a:solidFill>
                  <a:schemeClr val="bg1"/>
                </a:solidFill>
              </a:rPr>
              <a:t>” and “</a:t>
            </a:r>
            <a:r>
              <a:rPr lang="en-US" sz="2000" b="1">
                <a:solidFill>
                  <a:schemeClr val="bg1"/>
                </a:solidFill>
              </a:rPr>
              <a:t>Dispute Rejected</a:t>
            </a:r>
            <a:r>
              <a:rPr lang="en-US" sz="2000">
                <a:solidFill>
                  <a:schemeClr val="bg1"/>
                </a:solidFill>
              </a:rPr>
              <a:t>” Bills are Approved by Onsite 	team.</a:t>
            </a:r>
            <a:endParaRPr lang="en-US" sz="2000">
              <a:solidFill>
                <a:schemeClr val="bg1"/>
              </a:solidFill>
              <a:ea typeface="Calibri"/>
              <a:cs typeface="Calibri"/>
            </a:endParaRPr>
          </a:p>
          <a:p>
            <a:r>
              <a:rPr lang="en-US" sz="2000">
                <a:solidFill>
                  <a:schemeClr val="bg1"/>
                </a:solidFill>
              </a:rPr>
              <a:t>		1.1 - Bills that are under Category = “</a:t>
            </a:r>
            <a:r>
              <a:rPr lang="en-US" sz="2000" b="1" i="1">
                <a:solidFill>
                  <a:schemeClr val="bg1"/>
                </a:solidFill>
              </a:rPr>
              <a:t>STML</a:t>
            </a:r>
            <a:r>
              <a:rPr lang="en-US" sz="2000" i="1">
                <a:solidFill>
                  <a:schemeClr val="bg1"/>
                </a:solidFill>
              </a:rPr>
              <a:t>”</a:t>
            </a:r>
            <a:r>
              <a:rPr lang="en-US" sz="2000">
                <a:solidFill>
                  <a:schemeClr val="bg1"/>
                </a:solidFill>
              </a:rPr>
              <a:t> , Process = “</a:t>
            </a:r>
            <a:r>
              <a:rPr lang="en-US" sz="2000" b="1" i="1">
                <a:solidFill>
                  <a:schemeClr val="bg1"/>
                </a:solidFill>
              </a:rPr>
              <a:t>STML-CUSTOMER-APPROVAL</a:t>
            </a:r>
            <a:r>
              <a:rPr lang="en-US" sz="2000" i="1">
                <a:solidFill>
                  <a:schemeClr val="bg1"/>
                </a:solidFill>
              </a:rPr>
              <a:t>” &amp; “</a:t>
            </a:r>
            <a:r>
              <a:rPr lang="en-US" sz="2000" b="1" i="1">
                <a:solidFill>
                  <a:schemeClr val="bg1"/>
                </a:solidFill>
              </a:rPr>
              <a:t>STML-DISPUTE</a:t>
            </a:r>
            <a:r>
              <a:rPr lang="en-US" sz="2000" i="1">
                <a:solidFill>
                  <a:schemeClr val="bg1"/>
                </a:solidFill>
              </a:rPr>
              <a:t>”</a:t>
            </a:r>
            <a:r>
              <a:rPr lang="en-US" sz="2000">
                <a:solidFill>
                  <a:schemeClr val="bg1"/>
                </a:solidFill>
              </a:rPr>
              <a:t>, Stages = 		“</a:t>
            </a:r>
            <a:r>
              <a:rPr lang="en-US" sz="2000" b="1" i="1">
                <a:solidFill>
                  <a:schemeClr val="bg1"/>
                </a:solidFill>
              </a:rPr>
              <a:t>Transaction</a:t>
            </a:r>
            <a:r>
              <a:rPr lang="en-US" sz="2000" i="1">
                <a:solidFill>
                  <a:schemeClr val="bg1"/>
                </a:solidFill>
              </a:rPr>
              <a:t> , </a:t>
            </a:r>
            <a:r>
              <a:rPr lang="en-US" sz="2000" b="1" i="1">
                <a:solidFill>
                  <a:schemeClr val="bg1"/>
                </a:solidFill>
              </a:rPr>
              <a:t>Plate Approval</a:t>
            </a:r>
            <a:r>
              <a:rPr lang="en-US" sz="2000">
                <a:solidFill>
                  <a:schemeClr val="bg1"/>
                </a:solidFill>
              </a:rPr>
              <a:t>”, Stage Phase = “</a:t>
            </a:r>
            <a:r>
              <a:rPr lang="en-US" sz="2000" b="1" i="1">
                <a:solidFill>
                  <a:schemeClr val="bg1"/>
                </a:solidFill>
              </a:rPr>
              <a:t>Approval Accepted</a:t>
            </a:r>
            <a:r>
              <a:rPr lang="en-US" sz="2000">
                <a:solidFill>
                  <a:schemeClr val="bg1"/>
                </a:solidFill>
              </a:rPr>
              <a:t>”</a:t>
            </a:r>
            <a:endParaRPr lang="en-US" sz="2000">
              <a:solidFill>
                <a:schemeClr val="bg1"/>
              </a:solidFill>
              <a:ea typeface="Calibri"/>
              <a:cs typeface="Calibri"/>
            </a:endParaRPr>
          </a:p>
          <a:p>
            <a:r>
              <a:rPr lang="en-US" sz="2000">
                <a:solidFill>
                  <a:schemeClr val="bg1"/>
                </a:solidFill>
              </a:rPr>
              <a:t>	2. Assigning the Approved bills to the Settlement team for making a payment, through the BillPay Portal.</a:t>
            </a:r>
            <a:endParaRPr lang="en-US" sz="2000">
              <a:solidFill>
                <a:schemeClr val="bg1"/>
              </a:solidFill>
              <a:ea typeface="Calibri"/>
              <a:cs typeface="Calibri"/>
            </a:endParaRPr>
          </a:p>
          <a:p>
            <a:r>
              <a:rPr lang="en-US" sz="2000">
                <a:solidFill>
                  <a:schemeClr val="bg1"/>
                </a:solidFill>
              </a:rPr>
              <a:t>		2.1 - Bills Assigned to the </a:t>
            </a:r>
            <a:endParaRPr lang="en-US" sz="2000">
              <a:solidFill>
                <a:schemeClr val="bg1"/>
              </a:solidFill>
              <a:ea typeface="Calibri"/>
              <a:cs typeface="Calibri"/>
            </a:endParaRPr>
          </a:p>
          <a:p>
            <a:r>
              <a:rPr lang="en-US" sz="2000">
                <a:solidFill>
                  <a:schemeClr val="bg1"/>
                </a:solidFill>
              </a:rPr>
              <a:t>	3.Making the Vendor Payment through the Phone call method</a:t>
            </a:r>
            <a:endParaRPr lang="en-US" sz="2000">
              <a:solidFill>
                <a:schemeClr val="bg1"/>
              </a:solidFill>
              <a:ea typeface="Calibri"/>
              <a:cs typeface="Calibri"/>
            </a:endParaRPr>
          </a:p>
          <a:p>
            <a:r>
              <a:rPr lang="en-US" sz="2000">
                <a:solidFill>
                  <a:schemeClr val="bg1"/>
                </a:solidFill>
              </a:rPr>
              <a:t>	4.Receiving the Payment Confirmation email from Vendor.</a:t>
            </a:r>
            <a:endParaRPr lang="en-US" sz="2000">
              <a:solidFill>
                <a:schemeClr val="bg1"/>
              </a:solidFill>
              <a:ea typeface="Calibri"/>
              <a:cs typeface="Calibri"/>
            </a:endParaRPr>
          </a:p>
          <a:p>
            <a:r>
              <a:rPr lang="en-US" sz="2000">
                <a:solidFill>
                  <a:schemeClr val="bg1"/>
                </a:solidFill>
              </a:rPr>
              <a:t>	5.Sending the Formatting Paid file to the Billing Team.</a:t>
            </a:r>
            <a:endParaRPr lang="en-US" sz="2000">
              <a:solidFill>
                <a:schemeClr val="bg1"/>
              </a:solidFill>
              <a:ea typeface="Calibri"/>
              <a:cs typeface="Calibri"/>
            </a:endParaRPr>
          </a:p>
          <a:p>
            <a:r>
              <a:rPr lang="en-US" sz="2000">
                <a:solidFill>
                  <a:schemeClr val="bg1"/>
                </a:solidFill>
              </a:rPr>
              <a:t>	6.Closing the Paid bills in the BillPay Portal.</a:t>
            </a:r>
            <a:endParaRPr lang="en-US" sz="2000">
              <a:solidFill>
                <a:schemeClr val="bg1"/>
              </a:solidFill>
              <a:ea typeface="Calibri"/>
              <a:cs typeface="Calibri"/>
            </a:endParaRPr>
          </a:p>
          <a:p>
            <a:endParaRPr lang="en-US" sz="2000" b="1">
              <a:solidFill>
                <a:schemeClr val="bg1"/>
              </a:solidFill>
              <a:ea typeface="Calibri"/>
              <a:cs typeface="Calibri"/>
            </a:endParaRPr>
          </a:p>
          <a:p>
            <a:r>
              <a:rPr lang="en-US" sz="2000" b="1" u="sng">
                <a:solidFill>
                  <a:schemeClr val="bg1"/>
                </a:solidFill>
              </a:rPr>
              <a:t>Report Management:</a:t>
            </a:r>
            <a:endParaRPr lang="en-US" sz="2000" b="1" u="sng">
              <a:solidFill>
                <a:schemeClr val="bg1"/>
              </a:solidFill>
              <a:ea typeface="Calibri"/>
              <a:cs typeface="Calibri"/>
            </a:endParaRPr>
          </a:p>
          <a:p>
            <a:r>
              <a:rPr lang="en-US" sz="2000">
                <a:solidFill>
                  <a:schemeClr val="bg1"/>
                </a:solidFill>
              </a:rPr>
              <a:t>	1. Overall Customer Settlement for Date</a:t>
            </a:r>
            <a:endParaRPr lang="en-US" sz="2000">
              <a:solidFill>
                <a:schemeClr val="bg1"/>
              </a:solidFill>
              <a:ea typeface="Calibri"/>
              <a:cs typeface="Calibri"/>
            </a:endParaRPr>
          </a:p>
          <a:p>
            <a:r>
              <a:rPr lang="en-US" sz="2000">
                <a:solidFill>
                  <a:schemeClr val="bg1"/>
                </a:solidFill>
              </a:rPr>
              <a:t>	2. Vendor wise payment Report</a:t>
            </a:r>
            <a:endParaRPr lang="en-US" sz="2000">
              <a:solidFill>
                <a:schemeClr val="bg1"/>
              </a:solidFill>
              <a:ea typeface="Calibri"/>
              <a:cs typeface="Calibri"/>
            </a:endParaRPr>
          </a:p>
          <a:p>
            <a:r>
              <a:rPr lang="en-US" sz="2000">
                <a:solidFill>
                  <a:schemeClr val="bg1"/>
                </a:solidFill>
              </a:rPr>
              <a:t>	3. Vendor wise waive Report</a:t>
            </a:r>
            <a:endParaRPr lang="en-US" sz="2000">
              <a:solidFill>
                <a:schemeClr val="bg1"/>
              </a:solidFill>
              <a:ea typeface="Calibri"/>
              <a:cs typeface="Calibri"/>
            </a:endParaRPr>
          </a:p>
          <a:p>
            <a:r>
              <a:rPr lang="en-US" sz="2000">
                <a:solidFill>
                  <a:schemeClr val="bg1"/>
                </a:solidFill>
              </a:rPr>
              <a:t>		- Batch wise Report</a:t>
            </a:r>
            <a:endParaRPr lang="en-US" sz="2000">
              <a:solidFill>
                <a:schemeClr val="bg1"/>
              </a:solidFill>
              <a:ea typeface="Calibri"/>
              <a:cs typeface="Calibri"/>
            </a:endParaRPr>
          </a:p>
          <a:p>
            <a:r>
              <a:rPr lang="en-US" sz="2000">
                <a:solidFill>
                  <a:schemeClr val="bg1"/>
                </a:solidFill>
              </a:rPr>
              <a:t>	4. Approved for but not paid bills</a:t>
            </a:r>
            <a:endParaRPr lang="en-US" sz="2000">
              <a:solidFill>
                <a:schemeClr val="bg1"/>
              </a:solidFill>
              <a:ea typeface="Calibri"/>
              <a:cs typeface="Calibri"/>
            </a:endParaRPr>
          </a:p>
          <a:p>
            <a:r>
              <a:rPr lang="en-US" sz="2000">
                <a:solidFill>
                  <a:schemeClr val="bg1"/>
                </a:solidFill>
              </a:rPr>
              <a:t>	5. Pending for Customer Approval (Inactive plates &amp; PNR)</a:t>
            </a:r>
            <a:endParaRPr lang="en-US" sz="2000">
              <a:solidFill>
                <a:schemeClr val="bg1"/>
              </a:solidFill>
              <a:ea typeface="Calibri"/>
              <a:cs typeface="Calibri"/>
            </a:endParaRPr>
          </a:p>
          <a:p>
            <a:r>
              <a:rPr lang="en-US" sz="2000">
                <a:solidFill>
                  <a:schemeClr val="bg1"/>
                </a:solidFill>
              </a:rPr>
              <a:t>	6. Waiting for Bill of sale from Customer</a:t>
            </a:r>
            <a:endParaRPr lang="en-US" sz="2000">
              <a:solidFill>
                <a:schemeClr val="bg1"/>
              </a:solidFill>
              <a:ea typeface="Calibri"/>
              <a:cs typeface="Calibri"/>
            </a:endParaRPr>
          </a:p>
          <a:p>
            <a:r>
              <a:rPr lang="en-US" sz="2000">
                <a:solidFill>
                  <a:schemeClr val="bg1"/>
                </a:solidFill>
              </a:rPr>
              <a:t>	7. Paid but waiting for vendor confirmation</a:t>
            </a:r>
            <a:endParaRPr lang="en-US" sz="2000">
              <a:solidFill>
                <a:schemeClr val="bg1"/>
              </a:solidFill>
              <a:ea typeface="Calibri"/>
              <a:cs typeface="Calibri"/>
            </a:endParaRPr>
          </a:p>
          <a:p>
            <a:r>
              <a:rPr lang="en-US" sz="2000">
                <a:solidFill>
                  <a:schemeClr val="bg1"/>
                </a:solidFill>
              </a:rPr>
              <a:t>	8. Paid bill ready for billing (Bills Still in Formatting Stage)</a:t>
            </a:r>
            <a:endParaRPr lang="en-US" sz="2000">
              <a:solidFill>
                <a:schemeClr val="bg1"/>
              </a:solidFill>
              <a:ea typeface="Calibri"/>
              <a:cs typeface="Calibri"/>
            </a:endParaRPr>
          </a:p>
          <a:p>
            <a:r>
              <a:rPr lang="en-US" sz="2000">
                <a:solidFill>
                  <a:schemeClr val="bg1"/>
                </a:solidFill>
              </a:rPr>
              <a:t>	9. Paid bills Moved to Billing</a:t>
            </a:r>
            <a:endParaRPr lang="en-US" sz="2000">
              <a:solidFill>
                <a:schemeClr val="bg1"/>
              </a:solidFill>
              <a:ea typeface="Calibri"/>
              <a:cs typeface="Calibri"/>
            </a:endParaRPr>
          </a:p>
          <a:p>
            <a:br>
              <a:rPr lang="en-US" sz="2800" b="1"/>
            </a:br>
            <a:r>
              <a:rPr lang="en-US" sz="2800" b="1">
                <a:solidFill>
                  <a:schemeClr val="bg1"/>
                </a:solidFill>
              </a:rPr>
              <a:t> </a:t>
            </a:r>
          </a:p>
        </p:txBody>
      </p:sp>
    </p:spTree>
    <p:extLst>
      <p:ext uri="{BB962C8B-B14F-4D97-AF65-F5344CB8AC3E}">
        <p14:creationId xmlns:p14="http://schemas.microsoft.com/office/powerpoint/2010/main" val="984381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E365A-2D50-3178-B745-29E870E5534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7597FF-4BC3-5E77-CEE6-888A2D4415C5}"/>
              </a:ext>
            </a:extLst>
          </p:cNvPr>
          <p:cNvSpPr/>
          <p:nvPr/>
        </p:nvSpPr>
        <p:spPr>
          <a:xfrm>
            <a:off x="793790" y="1633299"/>
            <a:ext cx="11053286" cy="708779"/>
          </a:xfrm>
          <a:prstGeom prst="rect">
            <a:avLst/>
          </a:prstGeom>
          <a:noFill/>
          <a:ln/>
        </p:spPr>
        <p:txBody>
          <a:bodyPr wrap="none" lIns="0" tIns="0" rIns="0" bIns="0" rtlCol="0" anchor="t"/>
          <a:lstStyle/>
          <a:p>
            <a:pPr marL="0" indent="0" algn="l">
              <a:lnSpc>
                <a:spcPts val="5550"/>
              </a:lnSpc>
              <a:buNone/>
            </a:pPr>
            <a:r>
              <a:rPr lang="en-US" sz="4450" b="1">
                <a:solidFill>
                  <a:srgbClr val="FFF8F5"/>
                </a:solidFill>
                <a:latin typeface="Noto Serif HK Bold" pitchFamily="34" charset="0"/>
                <a:ea typeface="Noto Serif HK Bold" pitchFamily="34" charset="-122"/>
                <a:cs typeface="Noto Serif HK Bold" pitchFamily="34" charset="-120"/>
              </a:rPr>
              <a:t>Understanding the Settlement Process</a:t>
            </a:r>
            <a:endParaRPr lang="en-US" sz="4450"/>
          </a:p>
        </p:txBody>
      </p:sp>
      <p:sp>
        <p:nvSpPr>
          <p:cNvPr id="3" name="Shape 1">
            <a:extLst>
              <a:ext uri="{FF2B5EF4-FFF2-40B4-BE49-F238E27FC236}">
                <a16:creationId xmlns:a16="http://schemas.microsoft.com/office/drawing/2014/main" id="{5E9EBBCA-7C20-3510-6DA4-8A7BF76B3DC9}"/>
              </a:ext>
            </a:extLst>
          </p:cNvPr>
          <p:cNvSpPr/>
          <p:nvPr/>
        </p:nvSpPr>
        <p:spPr>
          <a:xfrm>
            <a:off x="793790" y="2795707"/>
            <a:ext cx="4196358" cy="3182422"/>
          </a:xfrm>
          <a:prstGeom prst="roundRect">
            <a:avLst>
              <a:gd name="adj" fmla="val 1069"/>
            </a:avLst>
          </a:prstGeom>
          <a:solidFill>
            <a:srgbClr val="403234"/>
          </a:solidFill>
          <a:ln w="30480">
            <a:solidFill>
              <a:srgbClr val="786A6C"/>
            </a:solidFill>
            <a:prstDash val="solid"/>
          </a:ln>
        </p:spPr>
        <p:txBody>
          <a:bodyPr/>
          <a:lstStyle/>
          <a:p>
            <a:endParaRPr lang="en-US"/>
          </a:p>
        </p:txBody>
      </p:sp>
      <p:sp>
        <p:nvSpPr>
          <p:cNvPr id="4" name="Shape 2">
            <a:extLst>
              <a:ext uri="{FF2B5EF4-FFF2-40B4-BE49-F238E27FC236}">
                <a16:creationId xmlns:a16="http://schemas.microsoft.com/office/drawing/2014/main" id="{46F091F8-17DB-1948-D05F-5C2A5B9F2CF7}"/>
              </a:ext>
            </a:extLst>
          </p:cNvPr>
          <p:cNvSpPr/>
          <p:nvPr/>
        </p:nvSpPr>
        <p:spPr>
          <a:xfrm>
            <a:off x="793790" y="2795707"/>
            <a:ext cx="121920" cy="3182422"/>
          </a:xfrm>
          <a:prstGeom prst="roundRect">
            <a:avLst>
              <a:gd name="adj" fmla="val 27907"/>
            </a:avLst>
          </a:prstGeom>
          <a:solidFill>
            <a:srgbClr val="E2C2B3"/>
          </a:solidFill>
          <a:ln/>
        </p:spPr>
        <p:txBody>
          <a:bodyPr/>
          <a:lstStyle/>
          <a:p>
            <a:endParaRPr lang="en-US"/>
          </a:p>
        </p:txBody>
      </p:sp>
      <p:sp>
        <p:nvSpPr>
          <p:cNvPr id="5" name="Text 3">
            <a:extLst>
              <a:ext uri="{FF2B5EF4-FFF2-40B4-BE49-F238E27FC236}">
                <a16:creationId xmlns:a16="http://schemas.microsoft.com/office/drawing/2014/main" id="{C49E02F1-8D2D-A7A3-3D3D-CE8C034E533D}"/>
              </a:ext>
            </a:extLst>
          </p:cNvPr>
          <p:cNvSpPr/>
          <p:nvPr/>
        </p:nvSpPr>
        <p:spPr>
          <a:xfrm>
            <a:off x="1173004" y="3053001"/>
            <a:ext cx="3088243" cy="354330"/>
          </a:xfrm>
          <a:prstGeom prst="rect">
            <a:avLst/>
          </a:prstGeom>
          <a:noFill/>
          <a:ln/>
        </p:spPr>
        <p:txBody>
          <a:bodyPr wrap="none" lIns="0" tIns="0" rIns="0" bIns="0" rtlCol="0" anchor="t"/>
          <a:lstStyle/>
          <a:p>
            <a:pPr marL="0" indent="0" algn="l">
              <a:lnSpc>
                <a:spcPts val="2750"/>
              </a:lnSpc>
              <a:buNone/>
            </a:pPr>
            <a:r>
              <a:rPr lang="en-US" sz="2200" b="1">
                <a:solidFill>
                  <a:srgbClr val="D3C9C5"/>
                </a:solidFill>
                <a:latin typeface="Noto Serif HK Bold" pitchFamily="34" charset="0"/>
                <a:ea typeface="Noto Serif HK Bold" pitchFamily="34" charset="-122"/>
                <a:cs typeface="Noto Serif HK Bold" pitchFamily="34" charset="-120"/>
              </a:rPr>
              <a:t>Objective: Fee Waiver</a:t>
            </a:r>
            <a:endParaRPr lang="en-US" sz="2200"/>
          </a:p>
        </p:txBody>
      </p:sp>
      <p:sp>
        <p:nvSpPr>
          <p:cNvPr id="6" name="Text 4">
            <a:extLst>
              <a:ext uri="{FF2B5EF4-FFF2-40B4-BE49-F238E27FC236}">
                <a16:creationId xmlns:a16="http://schemas.microsoft.com/office/drawing/2014/main" id="{C9E832E5-846B-3A72-AB6D-94659BC4A6B8}"/>
              </a:ext>
            </a:extLst>
          </p:cNvPr>
          <p:cNvSpPr/>
          <p:nvPr/>
        </p:nvSpPr>
        <p:spPr>
          <a:xfrm>
            <a:off x="1173004" y="3543419"/>
            <a:ext cx="3559850" cy="1814513"/>
          </a:xfrm>
          <a:prstGeom prst="rect">
            <a:avLst/>
          </a:prstGeom>
          <a:noFill/>
          <a:ln/>
        </p:spPr>
        <p:txBody>
          <a:bodyPr wrap="square" lIns="0" tIns="0" rIns="0" bIns="0" rtlCol="0" anchor="t"/>
          <a:lstStyle/>
          <a:p>
            <a:pPr marL="0" indent="0" algn="l">
              <a:lnSpc>
                <a:spcPts val="2850"/>
              </a:lnSpc>
              <a:buNone/>
            </a:pPr>
            <a:r>
              <a:rPr lang="en-US" sz="1750">
                <a:solidFill>
                  <a:srgbClr val="D3C9C5"/>
                </a:solidFill>
                <a:latin typeface="Noto Serif HK" pitchFamily="34" charset="0"/>
                <a:ea typeface="Noto Serif HK" pitchFamily="34" charset="-122"/>
                <a:cs typeface="Noto Serif HK" pitchFamily="34" charset="-120"/>
              </a:rPr>
              <a:t>The core goal is to waive high fees by securing vendor approval, primarily targeting fines and service charges, not the original due amount.</a:t>
            </a:r>
            <a:endParaRPr lang="en-US" sz="1750"/>
          </a:p>
        </p:txBody>
      </p:sp>
      <p:sp>
        <p:nvSpPr>
          <p:cNvPr id="7" name="Shape 5">
            <a:extLst>
              <a:ext uri="{FF2B5EF4-FFF2-40B4-BE49-F238E27FC236}">
                <a16:creationId xmlns:a16="http://schemas.microsoft.com/office/drawing/2014/main" id="{819302C5-1AC1-AE9E-0D43-A306CBC21FF1}"/>
              </a:ext>
            </a:extLst>
          </p:cNvPr>
          <p:cNvSpPr/>
          <p:nvPr/>
        </p:nvSpPr>
        <p:spPr>
          <a:xfrm>
            <a:off x="5216962" y="2795707"/>
            <a:ext cx="4196358" cy="3182422"/>
          </a:xfrm>
          <a:prstGeom prst="roundRect">
            <a:avLst>
              <a:gd name="adj" fmla="val 1069"/>
            </a:avLst>
          </a:prstGeom>
          <a:solidFill>
            <a:srgbClr val="403234"/>
          </a:solidFill>
          <a:ln w="30480">
            <a:solidFill>
              <a:srgbClr val="786A6C"/>
            </a:solidFill>
            <a:prstDash val="solid"/>
          </a:ln>
        </p:spPr>
        <p:txBody>
          <a:bodyPr/>
          <a:lstStyle/>
          <a:p>
            <a:endParaRPr lang="en-US"/>
          </a:p>
        </p:txBody>
      </p:sp>
      <p:sp>
        <p:nvSpPr>
          <p:cNvPr id="8" name="Shape 6">
            <a:extLst>
              <a:ext uri="{FF2B5EF4-FFF2-40B4-BE49-F238E27FC236}">
                <a16:creationId xmlns:a16="http://schemas.microsoft.com/office/drawing/2014/main" id="{C466748C-52B3-039E-0BB2-63ADE7B2AE17}"/>
              </a:ext>
            </a:extLst>
          </p:cNvPr>
          <p:cNvSpPr/>
          <p:nvPr/>
        </p:nvSpPr>
        <p:spPr>
          <a:xfrm>
            <a:off x="5216962" y="2795707"/>
            <a:ext cx="121920" cy="3182422"/>
          </a:xfrm>
          <a:prstGeom prst="roundRect">
            <a:avLst>
              <a:gd name="adj" fmla="val 27907"/>
            </a:avLst>
          </a:prstGeom>
          <a:solidFill>
            <a:srgbClr val="E2C2B3"/>
          </a:solidFill>
          <a:ln/>
        </p:spPr>
        <p:txBody>
          <a:bodyPr/>
          <a:lstStyle/>
          <a:p>
            <a:endParaRPr lang="en-US"/>
          </a:p>
        </p:txBody>
      </p:sp>
      <p:sp>
        <p:nvSpPr>
          <p:cNvPr id="9" name="Text 7">
            <a:extLst>
              <a:ext uri="{FF2B5EF4-FFF2-40B4-BE49-F238E27FC236}">
                <a16:creationId xmlns:a16="http://schemas.microsoft.com/office/drawing/2014/main" id="{9A211495-BC8A-B432-85F9-EC4FC91D15EE}"/>
              </a:ext>
            </a:extLst>
          </p:cNvPr>
          <p:cNvSpPr/>
          <p:nvPr/>
        </p:nvSpPr>
        <p:spPr>
          <a:xfrm>
            <a:off x="5596176" y="3053001"/>
            <a:ext cx="3548062" cy="354330"/>
          </a:xfrm>
          <a:prstGeom prst="rect">
            <a:avLst/>
          </a:prstGeom>
          <a:noFill/>
          <a:ln/>
        </p:spPr>
        <p:txBody>
          <a:bodyPr wrap="none" lIns="0" tIns="0" rIns="0" bIns="0" rtlCol="0" anchor="t"/>
          <a:lstStyle/>
          <a:p>
            <a:pPr marL="0" indent="0" algn="l">
              <a:lnSpc>
                <a:spcPts val="2750"/>
              </a:lnSpc>
              <a:buNone/>
            </a:pPr>
            <a:r>
              <a:rPr lang="en-US" sz="2200" b="1">
                <a:solidFill>
                  <a:srgbClr val="D3C9C5"/>
                </a:solidFill>
                <a:latin typeface="Noto Serif HK Bold" pitchFamily="34" charset="0"/>
                <a:ea typeface="Noto Serif HK Bold" pitchFamily="34" charset="-122"/>
                <a:cs typeface="Noto Serif HK Bold" pitchFamily="34" charset="-120"/>
              </a:rPr>
              <a:t>Scope: Fines &amp; Fees Only</a:t>
            </a:r>
            <a:endParaRPr lang="en-US" sz="2200"/>
          </a:p>
        </p:txBody>
      </p:sp>
      <p:sp>
        <p:nvSpPr>
          <p:cNvPr id="10" name="Text 8">
            <a:extLst>
              <a:ext uri="{FF2B5EF4-FFF2-40B4-BE49-F238E27FC236}">
                <a16:creationId xmlns:a16="http://schemas.microsoft.com/office/drawing/2014/main" id="{6000EAA0-78EB-0188-F474-D4F5E62F39BB}"/>
              </a:ext>
            </a:extLst>
          </p:cNvPr>
          <p:cNvSpPr/>
          <p:nvPr/>
        </p:nvSpPr>
        <p:spPr>
          <a:xfrm>
            <a:off x="5596176" y="3543419"/>
            <a:ext cx="3559850" cy="1451610"/>
          </a:xfrm>
          <a:prstGeom prst="rect">
            <a:avLst/>
          </a:prstGeom>
          <a:noFill/>
          <a:ln/>
        </p:spPr>
        <p:txBody>
          <a:bodyPr wrap="square" lIns="0" tIns="0" rIns="0" bIns="0" rtlCol="0" anchor="t"/>
          <a:lstStyle/>
          <a:p>
            <a:pPr marL="0" indent="0" algn="l">
              <a:lnSpc>
                <a:spcPts val="2850"/>
              </a:lnSpc>
              <a:buNone/>
            </a:pPr>
            <a:r>
              <a:rPr lang="en-US" sz="1750">
                <a:solidFill>
                  <a:srgbClr val="D3C9C5"/>
                </a:solidFill>
                <a:latin typeface="Noto Serif HK" pitchFamily="34" charset="0"/>
                <a:ea typeface="Noto Serif HK" pitchFamily="34" charset="-122"/>
                <a:cs typeface="Noto Serif HK" pitchFamily="34" charset="-120"/>
              </a:rPr>
              <a:t>Discounts exclusively apply to fines and service fees, ensuring the principal debt remains intact.</a:t>
            </a:r>
            <a:endParaRPr lang="en-US" sz="1750"/>
          </a:p>
        </p:txBody>
      </p:sp>
      <p:sp>
        <p:nvSpPr>
          <p:cNvPr id="11" name="Shape 9">
            <a:extLst>
              <a:ext uri="{FF2B5EF4-FFF2-40B4-BE49-F238E27FC236}">
                <a16:creationId xmlns:a16="http://schemas.microsoft.com/office/drawing/2014/main" id="{55220A59-F555-535B-3A53-6FFF4B8D577B}"/>
              </a:ext>
            </a:extLst>
          </p:cNvPr>
          <p:cNvSpPr/>
          <p:nvPr/>
        </p:nvSpPr>
        <p:spPr>
          <a:xfrm>
            <a:off x="9640133" y="2795707"/>
            <a:ext cx="4196358" cy="3182422"/>
          </a:xfrm>
          <a:prstGeom prst="roundRect">
            <a:avLst>
              <a:gd name="adj" fmla="val 1069"/>
            </a:avLst>
          </a:prstGeom>
          <a:solidFill>
            <a:srgbClr val="403234"/>
          </a:solidFill>
          <a:ln w="30480">
            <a:solidFill>
              <a:srgbClr val="786A6C"/>
            </a:solidFill>
            <a:prstDash val="solid"/>
          </a:ln>
        </p:spPr>
        <p:txBody>
          <a:bodyPr/>
          <a:lstStyle/>
          <a:p>
            <a:endParaRPr lang="en-US"/>
          </a:p>
        </p:txBody>
      </p:sp>
      <p:sp>
        <p:nvSpPr>
          <p:cNvPr id="12" name="Shape 10">
            <a:extLst>
              <a:ext uri="{FF2B5EF4-FFF2-40B4-BE49-F238E27FC236}">
                <a16:creationId xmlns:a16="http://schemas.microsoft.com/office/drawing/2014/main" id="{0199C72C-3544-1732-8423-41D67385EFCB}"/>
              </a:ext>
            </a:extLst>
          </p:cNvPr>
          <p:cNvSpPr/>
          <p:nvPr/>
        </p:nvSpPr>
        <p:spPr>
          <a:xfrm>
            <a:off x="9640133" y="2795707"/>
            <a:ext cx="121920" cy="3182422"/>
          </a:xfrm>
          <a:prstGeom prst="roundRect">
            <a:avLst>
              <a:gd name="adj" fmla="val 27907"/>
            </a:avLst>
          </a:prstGeom>
          <a:solidFill>
            <a:srgbClr val="E2C2B3"/>
          </a:solidFill>
          <a:ln/>
        </p:spPr>
        <p:txBody>
          <a:bodyPr/>
          <a:lstStyle/>
          <a:p>
            <a:endParaRPr lang="en-US"/>
          </a:p>
        </p:txBody>
      </p:sp>
      <p:sp>
        <p:nvSpPr>
          <p:cNvPr id="13" name="Text 11">
            <a:extLst>
              <a:ext uri="{FF2B5EF4-FFF2-40B4-BE49-F238E27FC236}">
                <a16:creationId xmlns:a16="http://schemas.microsoft.com/office/drawing/2014/main" id="{66974C3C-4035-0CCB-9899-91AC16CED64D}"/>
              </a:ext>
            </a:extLst>
          </p:cNvPr>
          <p:cNvSpPr/>
          <p:nvPr/>
        </p:nvSpPr>
        <p:spPr>
          <a:xfrm>
            <a:off x="10019348" y="3053001"/>
            <a:ext cx="3503057" cy="354330"/>
          </a:xfrm>
          <a:prstGeom prst="rect">
            <a:avLst/>
          </a:prstGeom>
          <a:noFill/>
          <a:ln/>
        </p:spPr>
        <p:txBody>
          <a:bodyPr wrap="none" lIns="0" tIns="0" rIns="0" bIns="0" rtlCol="0" anchor="t"/>
          <a:lstStyle/>
          <a:p>
            <a:pPr marL="0" indent="0" algn="l">
              <a:lnSpc>
                <a:spcPts val="2750"/>
              </a:lnSpc>
              <a:buNone/>
            </a:pPr>
            <a:r>
              <a:rPr lang="en-US" sz="2200" b="1">
                <a:solidFill>
                  <a:srgbClr val="D3C9C5"/>
                </a:solidFill>
                <a:latin typeface="Noto Serif HK Bold" pitchFamily="34" charset="0"/>
                <a:ea typeface="Noto Serif HK Bold" pitchFamily="34" charset="-122"/>
                <a:cs typeface="Noto Serif HK Bold" pitchFamily="34" charset="-120"/>
              </a:rPr>
              <a:t>Critical Time-Sensitivity</a:t>
            </a:r>
            <a:endParaRPr lang="en-US" sz="2200"/>
          </a:p>
        </p:txBody>
      </p:sp>
      <p:sp>
        <p:nvSpPr>
          <p:cNvPr id="14" name="Text 12">
            <a:extLst>
              <a:ext uri="{FF2B5EF4-FFF2-40B4-BE49-F238E27FC236}">
                <a16:creationId xmlns:a16="http://schemas.microsoft.com/office/drawing/2014/main" id="{852190A4-C9CC-D6EA-7CDF-B061A39F7896}"/>
              </a:ext>
            </a:extLst>
          </p:cNvPr>
          <p:cNvSpPr/>
          <p:nvPr/>
        </p:nvSpPr>
        <p:spPr>
          <a:xfrm>
            <a:off x="10019348" y="3543419"/>
            <a:ext cx="3559850" cy="2177415"/>
          </a:xfrm>
          <a:prstGeom prst="rect">
            <a:avLst/>
          </a:prstGeom>
          <a:noFill/>
          <a:ln/>
        </p:spPr>
        <p:txBody>
          <a:bodyPr wrap="square" lIns="0" tIns="0" rIns="0" bIns="0" rtlCol="0" anchor="t"/>
          <a:lstStyle/>
          <a:p>
            <a:pPr marL="0" indent="0" algn="l">
              <a:lnSpc>
                <a:spcPts val="2850"/>
              </a:lnSpc>
              <a:buNone/>
            </a:pPr>
            <a:r>
              <a:rPr lang="en-US" sz="1750">
                <a:solidFill>
                  <a:srgbClr val="D3C9C5"/>
                </a:solidFill>
                <a:latin typeface="Noto Serif HK" pitchFamily="34" charset="0"/>
                <a:ea typeface="Noto Serif HK" pitchFamily="34" charset="-122"/>
                <a:cs typeface="Noto Serif HK" pitchFamily="34" charset="-120"/>
              </a:rPr>
              <a:t>The settlement must conclude within a strict 10-business-day window. Failure to meet this deadline results in a paper notice for non-payment, rendering the settlement void.</a:t>
            </a:r>
            <a:endParaRPr lang="en-US" sz="1750"/>
          </a:p>
        </p:txBody>
      </p:sp>
      <p:sp>
        <p:nvSpPr>
          <p:cNvPr id="15" name="Text 13">
            <a:extLst>
              <a:ext uri="{FF2B5EF4-FFF2-40B4-BE49-F238E27FC236}">
                <a16:creationId xmlns:a16="http://schemas.microsoft.com/office/drawing/2014/main" id="{ABD4C256-376C-33C9-4AFE-08440BFDE547}"/>
              </a:ext>
            </a:extLst>
          </p:cNvPr>
          <p:cNvSpPr/>
          <p:nvPr/>
        </p:nvSpPr>
        <p:spPr>
          <a:xfrm>
            <a:off x="793790" y="6233279"/>
            <a:ext cx="13042821" cy="362903"/>
          </a:xfrm>
          <a:prstGeom prst="rect">
            <a:avLst/>
          </a:prstGeom>
          <a:noFill/>
          <a:ln/>
        </p:spPr>
        <p:txBody>
          <a:bodyPr wrap="none" lIns="0" tIns="0" rIns="0" bIns="0" rtlCol="0" anchor="t"/>
          <a:lstStyle/>
          <a:p>
            <a:pPr marL="0" indent="0" algn="l">
              <a:lnSpc>
                <a:spcPts val="2850"/>
              </a:lnSpc>
              <a:buNone/>
            </a:pPr>
            <a:r>
              <a:rPr lang="en-US" sz="1750">
                <a:solidFill>
                  <a:srgbClr val="D3C9C5"/>
                </a:solidFill>
                <a:latin typeface="Noto Serif HK" pitchFamily="34" charset="0"/>
                <a:ea typeface="Noto Serif HK" pitchFamily="34" charset="-122"/>
                <a:cs typeface="Noto Serif HK" pitchFamily="34" charset="-120"/>
              </a:rPr>
              <a:t>This process is crucial for optimizing our financial operations and maintaining strong vendor relationships.</a:t>
            </a:r>
            <a:endParaRPr lang="en-US" sz="1750"/>
          </a:p>
        </p:txBody>
      </p:sp>
      <p:sp>
        <p:nvSpPr>
          <p:cNvPr id="16" name="Rectangle: Rounded Corners 15">
            <a:extLst>
              <a:ext uri="{FF2B5EF4-FFF2-40B4-BE49-F238E27FC236}">
                <a16:creationId xmlns:a16="http://schemas.microsoft.com/office/drawing/2014/main" id="{9275B737-0174-1A9D-E83A-30F81F3A69B1}"/>
              </a:ext>
            </a:extLst>
          </p:cNvPr>
          <p:cNvSpPr/>
          <p:nvPr/>
        </p:nvSpPr>
        <p:spPr>
          <a:xfrm>
            <a:off x="12836501" y="7782870"/>
            <a:ext cx="1668256" cy="362903"/>
          </a:xfrm>
          <a:prstGeom prst="roundRect">
            <a:avLst/>
          </a:prstGeom>
          <a:solidFill>
            <a:schemeClr val="bg2">
              <a:lumMod val="2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0814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3C14B-9AD2-87F6-63F8-47F81114196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598EF7F-B1EB-86AA-D7E8-05B1E515C53E}"/>
              </a:ext>
            </a:extLst>
          </p:cNvPr>
          <p:cNvPicPr>
            <a:picLocks noChangeAspect="1"/>
          </p:cNvPicPr>
          <p:nvPr/>
        </p:nvPicPr>
        <p:blipFill>
          <a:blip r:embed="rId3"/>
          <a:stretch>
            <a:fillRect/>
          </a:stretch>
        </p:blipFill>
        <p:spPr>
          <a:xfrm>
            <a:off x="0" y="0"/>
            <a:ext cx="5486400" cy="8229600"/>
          </a:xfrm>
          <a:prstGeom prst="rect">
            <a:avLst/>
          </a:prstGeom>
        </p:spPr>
      </p:pic>
      <p:sp>
        <p:nvSpPr>
          <p:cNvPr id="3" name="Text 0">
            <a:extLst>
              <a:ext uri="{FF2B5EF4-FFF2-40B4-BE49-F238E27FC236}">
                <a16:creationId xmlns:a16="http://schemas.microsoft.com/office/drawing/2014/main" id="{F08AB479-F7DC-05F0-F5A0-765DC9F5FCA7}"/>
              </a:ext>
            </a:extLst>
          </p:cNvPr>
          <p:cNvSpPr/>
          <p:nvPr/>
        </p:nvSpPr>
        <p:spPr>
          <a:xfrm>
            <a:off x="8640723" y="1697712"/>
            <a:ext cx="2835235" cy="354330"/>
          </a:xfrm>
          <a:prstGeom prst="rect">
            <a:avLst/>
          </a:prstGeom>
          <a:noFill/>
          <a:ln/>
        </p:spPr>
        <p:txBody>
          <a:bodyPr wrap="none" lIns="0" tIns="0" rIns="0" bIns="0" rtlCol="0" anchor="t"/>
          <a:lstStyle/>
          <a:p>
            <a:pPr marL="0" indent="0" algn="ctr">
              <a:lnSpc>
                <a:spcPts val="2750"/>
              </a:lnSpc>
              <a:buNone/>
            </a:pPr>
            <a:r>
              <a:rPr lang="en-US" sz="2200" b="1">
                <a:solidFill>
                  <a:srgbClr val="E2C2B3"/>
                </a:solidFill>
                <a:latin typeface="Noto Serif HK Bold" pitchFamily="34" charset="0"/>
                <a:ea typeface="Noto Serif HK Bold" pitchFamily="34" charset="-122"/>
                <a:cs typeface="Noto Serif HK Bold" pitchFamily="34" charset="-120"/>
              </a:rPr>
              <a:t>CHAPTER ONE  - 3 P</a:t>
            </a:r>
            <a:endParaRPr lang="en-US" sz="2200"/>
          </a:p>
        </p:txBody>
      </p:sp>
      <p:sp>
        <p:nvSpPr>
          <p:cNvPr id="4" name="Text 1">
            <a:extLst>
              <a:ext uri="{FF2B5EF4-FFF2-40B4-BE49-F238E27FC236}">
                <a16:creationId xmlns:a16="http://schemas.microsoft.com/office/drawing/2014/main" id="{0AC1A343-72C8-A0C4-4590-F57E1F100151}"/>
              </a:ext>
            </a:extLst>
          </p:cNvPr>
          <p:cNvSpPr/>
          <p:nvPr/>
        </p:nvSpPr>
        <p:spPr>
          <a:xfrm>
            <a:off x="6280190" y="2278856"/>
            <a:ext cx="7556421" cy="4253032"/>
          </a:xfrm>
          <a:prstGeom prst="rect">
            <a:avLst/>
          </a:prstGeom>
          <a:noFill/>
          <a:ln/>
        </p:spPr>
        <p:txBody>
          <a:bodyPr wrap="square" lIns="0" tIns="0" rIns="0" bIns="0" rtlCol="0" anchor="t"/>
          <a:lstStyle/>
          <a:p>
            <a:pPr marL="0" indent="0" algn="ctr">
              <a:lnSpc>
                <a:spcPts val="11150"/>
              </a:lnSpc>
              <a:buNone/>
            </a:pPr>
            <a:r>
              <a:rPr lang="en-US" sz="8900" b="1">
                <a:solidFill>
                  <a:srgbClr val="FFF8F5"/>
                </a:solidFill>
                <a:latin typeface="Noto Serif HK Bold" pitchFamily="34" charset="0"/>
                <a:ea typeface="Noto Serif HK Bold" pitchFamily="34" charset="-122"/>
                <a:cs typeface="Noto Serif HK Bold" pitchFamily="34" charset="-120"/>
              </a:rPr>
              <a:t>People, Process, Product</a:t>
            </a:r>
            <a:endParaRPr lang="en-US" sz="8900"/>
          </a:p>
        </p:txBody>
      </p:sp>
      <p:sp>
        <p:nvSpPr>
          <p:cNvPr id="5" name="Rectangle: Rounded Corners 4">
            <a:extLst>
              <a:ext uri="{FF2B5EF4-FFF2-40B4-BE49-F238E27FC236}">
                <a16:creationId xmlns:a16="http://schemas.microsoft.com/office/drawing/2014/main" id="{EB8C17BF-20F8-1B71-A7F5-77A477DDF499}"/>
              </a:ext>
            </a:extLst>
          </p:cNvPr>
          <p:cNvSpPr/>
          <p:nvPr/>
        </p:nvSpPr>
        <p:spPr>
          <a:xfrm>
            <a:off x="12836501" y="7782870"/>
            <a:ext cx="1668256" cy="362903"/>
          </a:xfrm>
          <a:prstGeom prst="roundRect">
            <a:avLst/>
          </a:prstGeom>
          <a:solidFill>
            <a:schemeClr val="bg2">
              <a:lumMod val="2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3014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94743-471C-CAF7-4D1B-27EFB1FF595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0D04944-7603-277F-EC07-AEB49C066326}"/>
              </a:ext>
            </a:extLst>
          </p:cNvPr>
          <p:cNvSpPr/>
          <p:nvPr/>
        </p:nvSpPr>
        <p:spPr>
          <a:xfrm>
            <a:off x="793790" y="813435"/>
            <a:ext cx="9063038" cy="566976"/>
          </a:xfrm>
          <a:prstGeom prst="rect">
            <a:avLst/>
          </a:prstGeom>
          <a:noFill/>
          <a:ln/>
        </p:spPr>
        <p:txBody>
          <a:bodyPr wrap="none" lIns="0" tIns="0" rIns="0" bIns="0" rtlCol="0" anchor="t"/>
          <a:lstStyle/>
          <a:p>
            <a:pPr marL="0" indent="0" algn="l">
              <a:lnSpc>
                <a:spcPts val="4450"/>
              </a:lnSpc>
              <a:buNone/>
            </a:pPr>
            <a:r>
              <a:rPr lang="en-US" sz="3550" b="1">
                <a:solidFill>
                  <a:srgbClr val="FFF8F5"/>
                </a:solidFill>
                <a:latin typeface="Noto Serif HK Bold" pitchFamily="34" charset="0"/>
                <a:ea typeface="Noto Serif HK Bold" pitchFamily="34" charset="-122"/>
                <a:cs typeface="Noto Serif HK Bold" pitchFamily="34" charset="-120"/>
              </a:rPr>
              <a:t>Rules For Product Management </a:t>
            </a:r>
            <a:endParaRPr lang="en-US" sz="3550"/>
          </a:p>
        </p:txBody>
      </p:sp>
      <p:sp>
        <p:nvSpPr>
          <p:cNvPr id="3" name="Shape 1">
            <a:extLst>
              <a:ext uri="{FF2B5EF4-FFF2-40B4-BE49-F238E27FC236}">
                <a16:creationId xmlns:a16="http://schemas.microsoft.com/office/drawing/2014/main" id="{740D02B6-2559-35C5-0469-0323E8A26DEE}"/>
              </a:ext>
            </a:extLst>
          </p:cNvPr>
          <p:cNvSpPr/>
          <p:nvPr/>
        </p:nvSpPr>
        <p:spPr>
          <a:xfrm>
            <a:off x="793790" y="1834039"/>
            <a:ext cx="510302" cy="510302"/>
          </a:xfrm>
          <a:prstGeom prst="roundRect">
            <a:avLst>
              <a:gd name="adj" fmla="val 6667"/>
            </a:avLst>
          </a:prstGeom>
          <a:solidFill>
            <a:srgbClr val="5F5153"/>
          </a:solidFill>
          <a:ln/>
        </p:spPr>
        <p:txBody>
          <a:bodyPr/>
          <a:lstStyle/>
          <a:p>
            <a:endParaRPr lang="en-US"/>
          </a:p>
        </p:txBody>
      </p:sp>
      <p:sp>
        <p:nvSpPr>
          <p:cNvPr id="4" name="Text 2">
            <a:extLst>
              <a:ext uri="{FF2B5EF4-FFF2-40B4-BE49-F238E27FC236}">
                <a16:creationId xmlns:a16="http://schemas.microsoft.com/office/drawing/2014/main" id="{F9E402E1-E62C-7911-F0DF-908929E54AA7}"/>
              </a:ext>
            </a:extLst>
          </p:cNvPr>
          <p:cNvSpPr/>
          <p:nvPr/>
        </p:nvSpPr>
        <p:spPr>
          <a:xfrm>
            <a:off x="878860" y="1876544"/>
            <a:ext cx="340162" cy="425291"/>
          </a:xfrm>
          <a:prstGeom prst="rect">
            <a:avLst/>
          </a:prstGeom>
          <a:noFill/>
          <a:ln/>
        </p:spPr>
        <p:txBody>
          <a:bodyPr wrap="none" lIns="0" tIns="0" rIns="0" bIns="0" rtlCol="0" anchor="t"/>
          <a:lstStyle/>
          <a:p>
            <a:pPr marL="0" indent="0" algn="ctr">
              <a:lnSpc>
                <a:spcPts val="2650"/>
              </a:lnSpc>
              <a:buNone/>
            </a:pPr>
            <a:r>
              <a:rPr lang="en-US" sz="2650" b="1">
                <a:solidFill>
                  <a:srgbClr val="D3C9C5"/>
                </a:solidFill>
                <a:latin typeface="Noto Serif HK Bold" pitchFamily="34" charset="0"/>
                <a:ea typeface="Noto Serif HK Bold" pitchFamily="34" charset="-122"/>
                <a:cs typeface="Noto Serif HK Bold" pitchFamily="34" charset="-120"/>
              </a:rPr>
              <a:t>1</a:t>
            </a:r>
            <a:endParaRPr lang="en-US" sz="2650"/>
          </a:p>
        </p:txBody>
      </p:sp>
      <p:sp>
        <p:nvSpPr>
          <p:cNvPr id="5" name="Text 3">
            <a:extLst>
              <a:ext uri="{FF2B5EF4-FFF2-40B4-BE49-F238E27FC236}">
                <a16:creationId xmlns:a16="http://schemas.microsoft.com/office/drawing/2014/main" id="{B4B9F7A3-BD8D-89EE-328D-1CEDFE77DBB4}"/>
              </a:ext>
            </a:extLst>
          </p:cNvPr>
          <p:cNvSpPr/>
          <p:nvPr/>
        </p:nvSpPr>
        <p:spPr>
          <a:xfrm>
            <a:off x="1530906" y="1911906"/>
            <a:ext cx="3699153" cy="354330"/>
          </a:xfrm>
          <a:prstGeom prst="rect">
            <a:avLst/>
          </a:prstGeom>
          <a:noFill/>
          <a:ln/>
        </p:spPr>
        <p:txBody>
          <a:bodyPr wrap="none" lIns="0" tIns="0" rIns="0" bIns="0" rtlCol="0" anchor="t"/>
          <a:lstStyle/>
          <a:p>
            <a:pPr>
              <a:lnSpc>
                <a:spcPts val="2750"/>
              </a:lnSpc>
            </a:pPr>
            <a:r>
              <a:rPr lang="en-US" sz="2200" b="1">
                <a:solidFill>
                  <a:srgbClr val="D3C9C5"/>
                </a:solidFill>
                <a:latin typeface="Noto Serif HK Bold" pitchFamily="34" charset="0"/>
                <a:ea typeface="Noto Serif HK Bold" pitchFamily="34" charset="-122"/>
                <a:cs typeface="Noto Serif HK Bold" pitchFamily="34" charset="-120"/>
              </a:rPr>
              <a:t>3 P --&gt; People | Process | Product</a:t>
            </a:r>
            <a:endParaRPr lang="en-US" sz="2200"/>
          </a:p>
        </p:txBody>
      </p:sp>
      <p:sp>
        <p:nvSpPr>
          <p:cNvPr id="6" name="Text 4">
            <a:extLst>
              <a:ext uri="{FF2B5EF4-FFF2-40B4-BE49-F238E27FC236}">
                <a16:creationId xmlns:a16="http://schemas.microsoft.com/office/drawing/2014/main" id="{43A70AEE-1FE2-1EC5-AB49-E4FA92B463FB}"/>
              </a:ext>
            </a:extLst>
          </p:cNvPr>
          <p:cNvSpPr/>
          <p:nvPr/>
        </p:nvSpPr>
        <p:spPr>
          <a:xfrm>
            <a:off x="1530906" y="2402324"/>
            <a:ext cx="5642491" cy="1451610"/>
          </a:xfrm>
          <a:prstGeom prst="rect">
            <a:avLst/>
          </a:prstGeom>
          <a:noFill/>
          <a:ln/>
        </p:spPr>
        <p:txBody>
          <a:bodyPr wrap="square" lIns="0" tIns="0" rIns="0" bIns="0" rtlCol="0" anchor="t"/>
          <a:lstStyle/>
          <a:p>
            <a:pPr marL="0" indent="0" algn="l">
              <a:lnSpc>
                <a:spcPts val="2850"/>
              </a:lnSpc>
              <a:buNone/>
            </a:pPr>
            <a:r>
              <a:rPr lang="en-US" sz="1750"/>
              <a:t> </a:t>
            </a:r>
            <a:r>
              <a:rPr lang="en-US" sz="1750">
                <a:solidFill>
                  <a:srgbClr val="D3C9C5"/>
                </a:solidFill>
                <a:latin typeface="Noto Serif HK" pitchFamily="34" charset="0"/>
                <a:ea typeface="Noto Serif HK" pitchFamily="34" charset="-122"/>
              </a:rPr>
              <a:t>People ,Process, Product are involved in any process. we</a:t>
            </a:r>
          </a:p>
          <a:p>
            <a:pPr marL="0" indent="0" algn="l">
              <a:lnSpc>
                <a:spcPts val="2850"/>
              </a:lnSpc>
              <a:buNone/>
            </a:pPr>
            <a:r>
              <a:rPr lang="en-US" sz="1750">
                <a:solidFill>
                  <a:srgbClr val="D3C9C5"/>
                </a:solidFill>
                <a:latin typeface="Noto Serif HK" pitchFamily="34" charset="0"/>
                <a:ea typeface="Noto Serif HK" pitchFamily="34" charset="-122"/>
              </a:rPr>
              <a:t>Need to list out the all contacts for People . </a:t>
            </a:r>
          </a:p>
          <a:p>
            <a:pPr marL="0" indent="0" algn="l">
              <a:lnSpc>
                <a:spcPts val="2850"/>
              </a:lnSpc>
              <a:buNone/>
            </a:pPr>
            <a:r>
              <a:rPr lang="en-US" sz="1750">
                <a:solidFill>
                  <a:srgbClr val="D3C9C5"/>
                </a:solidFill>
                <a:latin typeface="Noto Serif HK" pitchFamily="34" charset="0"/>
                <a:ea typeface="Noto Serif HK" pitchFamily="34" charset="-122"/>
              </a:rPr>
              <a:t>Need to define the Process. </a:t>
            </a:r>
          </a:p>
          <a:p>
            <a:pPr marL="0" indent="0" algn="l">
              <a:lnSpc>
                <a:spcPts val="2850"/>
              </a:lnSpc>
              <a:buNone/>
            </a:pPr>
            <a:r>
              <a:rPr lang="en-US" sz="1750">
                <a:solidFill>
                  <a:srgbClr val="D3C9C5"/>
                </a:solidFill>
                <a:latin typeface="Noto Serif HK" pitchFamily="34" charset="0"/>
                <a:ea typeface="Noto Serif HK" pitchFamily="34" charset="-122"/>
              </a:rPr>
              <a:t>List the Products used for the applications</a:t>
            </a:r>
          </a:p>
          <a:p>
            <a:pPr marL="0" indent="0" algn="l">
              <a:lnSpc>
                <a:spcPts val="2850"/>
              </a:lnSpc>
              <a:buNone/>
            </a:pPr>
            <a:endParaRPr lang="en-US" sz="1750">
              <a:solidFill>
                <a:srgbClr val="D3C9C5"/>
              </a:solidFill>
              <a:latin typeface="Noto Serif HK" pitchFamily="34" charset="0"/>
              <a:ea typeface="Noto Serif HK" pitchFamily="34" charset="-122"/>
            </a:endParaRPr>
          </a:p>
        </p:txBody>
      </p:sp>
      <p:sp>
        <p:nvSpPr>
          <p:cNvPr id="7" name="Shape 5">
            <a:extLst>
              <a:ext uri="{FF2B5EF4-FFF2-40B4-BE49-F238E27FC236}">
                <a16:creationId xmlns:a16="http://schemas.microsoft.com/office/drawing/2014/main" id="{D9449034-0612-9B1A-DD43-9CC05B7EC2DB}"/>
              </a:ext>
            </a:extLst>
          </p:cNvPr>
          <p:cNvSpPr/>
          <p:nvPr/>
        </p:nvSpPr>
        <p:spPr>
          <a:xfrm>
            <a:off x="7456884" y="1834039"/>
            <a:ext cx="510302" cy="510302"/>
          </a:xfrm>
          <a:prstGeom prst="roundRect">
            <a:avLst>
              <a:gd name="adj" fmla="val 6667"/>
            </a:avLst>
          </a:prstGeom>
          <a:solidFill>
            <a:srgbClr val="5F5153"/>
          </a:solidFill>
          <a:ln/>
        </p:spPr>
        <p:txBody>
          <a:bodyPr/>
          <a:lstStyle/>
          <a:p>
            <a:endParaRPr lang="en-US"/>
          </a:p>
        </p:txBody>
      </p:sp>
      <p:sp>
        <p:nvSpPr>
          <p:cNvPr id="8" name="Text 6">
            <a:extLst>
              <a:ext uri="{FF2B5EF4-FFF2-40B4-BE49-F238E27FC236}">
                <a16:creationId xmlns:a16="http://schemas.microsoft.com/office/drawing/2014/main" id="{6F755FA3-A0D8-967D-4405-F46C57D9AAF5}"/>
              </a:ext>
            </a:extLst>
          </p:cNvPr>
          <p:cNvSpPr/>
          <p:nvPr/>
        </p:nvSpPr>
        <p:spPr>
          <a:xfrm>
            <a:off x="7541955" y="1876544"/>
            <a:ext cx="340162" cy="425291"/>
          </a:xfrm>
          <a:prstGeom prst="rect">
            <a:avLst/>
          </a:prstGeom>
          <a:noFill/>
          <a:ln/>
        </p:spPr>
        <p:txBody>
          <a:bodyPr wrap="none" lIns="0" tIns="0" rIns="0" bIns="0" rtlCol="0" anchor="t"/>
          <a:lstStyle/>
          <a:p>
            <a:pPr marL="0" indent="0" algn="ctr">
              <a:lnSpc>
                <a:spcPts val="2650"/>
              </a:lnSpc>
              <a:buNone/>
            </a:pPr>
            <a:r>
              <a:rPr lang="en-US" sz="2650" b="1">
                <a:solidFill>
                  <a:srgbClr val="D3C9C5"/>
                </a:solidFill>
                <a:latin typeface="Noto Serif HK Bold" pitchFamily="34" charset="0"/>
                <a:ea typeface="Noto Serif HK Bold" pitchFamily="34" charset="-122"/>
                <a:cs typeface="Noto Serif HK Bold" pitchFamily="34" charset="-120"/>
              </a:rPr>
              <a:t>2</a:t>
            </a:r>
            <a:endParaRPr lang="en-US" sz="2650"/>
          </a:p>
        </p:txBody>
      </p:sp>
      <p:sp>
        <p:nvSpPr>
          <p:cNvPr id="9" name="Text 7">
            <a:extLst>
              <a:ext uri="{FF2B5EF4-FFF2-40B4-BE49-F238E27FC236}">
                <a16:creationId xmlns:a16="http://schemas.microsoft.com/office/drawing/2014/main" id="{85C58806-0C4F-C83A-F722-8625C59134F5}"/>
              </a:ext>
            </a:extLst>
          </p:cNvPr>
          <p:cNvSpPr/>
          <p:nvPr/>
        </p:nvSpPr>
        <p:spPr>
          <a:xfrm>
            <a:off x="8194000" y="1911906"/>
            <a:ext cx="3690104" cy="354330"/>
          </a:xfrm>
          <a:prstGeom prst="rect">
            <a:avLst/>
          </a:prstGeom>
          <a:noFill/>
          <a:ln/>
        </p:spPr>
        <p:txBody>
          <a:bodyPr wrap="none" lIns="0" tIns="0" rIns="0" bIns="0" rtlCol="0" anchor="t"/>
          <a:lstStyle/>
          <a:p>
            <a:pPr>
              <a:lnSpc>
                <a:spcPts val="2750"/>
              </a:lnSpc>
            </a:pPr>
            <a:r>
              <a:rPr lang="en-US" sz="2200" b="1">
                <a:solidFill>
                  <a:srgbClr val="D3C9C5"/>
                </a:solidFill>
                <a:latin typeface="Noto Serif HK Bold" pitchFamily="34" charset="0"/>
                <a:ea typeface="Noto Serif HK Bold" pitchFamily="34" charset="-122"/>
                <a:cs typeface="Noto Serif HK Bold" pitchFamily="34" charset="-120"/>
              </a:rPr>
              <a:t>Baas  Setup</a:t>
            </a:r>
            <a:endParaRPr lang="en-US" sz="2200"/>
          </a:p>
        </p:txBody>
      </p:sp>
      <p:sp>
        <p:nvSpPr>
          <p:cNvPr id="10" name="Text 8">
            <a:extLst>
              <a:ext uri="{FF2B5EF4-FFF2-40B4-BE49-F238E27FC236}">
                <a16:creationId xmlns:a16="http://schemas.microsoft.com/office/drawing/2014/main" id="{C388A784-8150-F124-D5BF-181AE4A71E4F}"/>
              </a:ext>
            </a:extLst>
          </p:cNvPr>
          <p:cNvSpPr/>
          <p:nvPr/>
        </p:nvSpPr>
        <p:spPr>
          <a:xfrm>
            <a:off x="8194000" y="2402324"/>
            <a:ext cx="5642610" cy="2177415"/>
          </a:xfrm>
          <a:prstGeom prst="rect">
            <a:avLst/>
          </a:prstGeom>
          <a:noFill/>
          <a:ln/>
        </p:spPr>
        <p:txBody>
          <a:bodyPr wrap="square" lIns="0" tIns="0" rIns="0" bIns="0" rtlCol="0" anchor="t"/>
          <a:lstStyle/>
          <a:p>
            <a:pPr marL="0" indent="0" algn="l">
              <a:lnSpc>
                <a:spcPts val="2850"/>
              </a:lnSpc>
              <a:buNone/>
            </a:pPr>
            <a:r>
              <a:rPr lang="en-US" sz="1750">
                <a:solidFill>
                  <a:srgbClr val="D3C9C5"/>
                </a:solidFill>
                <a:latin typeface="Noto Serif HK" pitchFamily="34" charset="0"/>
                <a:ea typeface="Noto Serif HK" pitchFamily="34" charset="-122"/>
              </a:rPr>
              <a:t>Define the Process in Workflow and manage that in Task Application and adhere to Service Level Agreements (SLAs) for each step. This ensures timely processing and avoids penalties. Critical tasks include settlement analysis by Alita,(Bala, and Ahimsa).</a:t>
            </a:r>
          </a:p>
          <a:p>
            <a:pPr marL="0" indent="0" algn="l">
              <a:lnSpc>
                <a:spcPts val="2850"/>
              </a:lnSpc>
              <a:buNone/>
            </a:pPr>
            <a:r>
              <a:rPr lang="en-US" sz="1750">
                <a:solidFill>
                  <a:srgbClr val="D3C9C5"/>
                </a:solidFill>
                <a:latin typeface="Noto Serif HK" pitchFamily="34" charset="0"/>
                <a:ea typeface="Noto Serif HK" pitchFamily="34" charset="-122"/>
              </a:rPr>
              <a:t>payment processing by Ganga, Sarath, and Gomathy.</a:t>
            </a:r>
          </a:p>
        </p:txBody>
      </p:sp>
      <p:sp>
        <p:nvSpPr>
          <p:cNvPr id="11" name="Shape 9">
            <a:extLst>
              <a:ext uri="{FF2B5EF4-FFF2-40B4-BE49-F238E27FC236}">
                <a16:creationId xmlns:a16="http://schemas.microsoft.com/office/drawing/2014/main" id="{94A7BC39-9ED1-8CE3-8FBD-2CEF176CD058}"/>
              </a:ext>
            </a:extLst>
          </p:cNvPr>
          <p:cNvSpPr/>
          <p:nvPr/>
        </p:nvSpPr>
        <p:spPr>
          <a:xfrm>
            <a:off x="793790" y="4523065"/>
            <a:ext cx="510302" cy="510302"/>
          </a:xfrm>
          <a:prstGeom prst="roundRect">
            <a:avLst>
              <a:gd name="adj" fmla="val 6667"/>
            </a:avLst>
          </a:prstGeom>
          <a:solidFill>
            <a:srgbClr val="5F5153"/>
          </a:solidFill>
          <a:ln/>
        </p:spPr>
        <p:txBody>
          <a:bodyPr/>
          <a:lstStyle/>
          <a:p>
            <a:endParaRPr lang="en-US"/>
          </a:p>
        </p:txBody>
      </p:sp>
      <p:sp>
        <p:nvSpPr>
          <p:cNvPr id="12" name="Text 10">
            <a:extLst>
              <a:ext uri="{FF2B5EF4-FFF2-40B4-BE49-F238E27FC236}">
                <a16:creationId xmlns:a16="http://schemas.microsoft.com/office/drawing/2014/main" id="{5BB11162-E5AC-27F3-8F0D-170FE9383261}"/>
              </a:ext>
            </a:extLst>
          </p:cNvPr>
          <p:cNvSpPr/>
          <p:nvPr/>
        </p:nvSpPr>
        <p:spPr>
          <a:xfrm>
            <a:off x="878860" y="4650582"/>
            <a:ext cx="340162" cy="425291"/>
          </a:xfrm>
          <a:prstGeom prst="rect">
            <a:avLst/>
          </a:prstGeom>
          <a:noFill/>
          <a:ln/>
        </p:spPr>
        <p:txBody>
          <a:bodyPr wrap="none" lIns="0" tIns="0" rIns="0" bIns="0" rtlCol="0" anchor="t"/>
          <a:lstStyle/>
          <a:p>
            <a:pPr marL="0" indent="0" algn="ctr">
              <a:lnSpc>
                <a:spcPts val="2650"/>
              </a:lnSpc>
              <a:buNone/>
            </a:pPr>
            <a:r>
              <a:rPr lang="en-US" sz="2650" b="1">
                <a:solidFill>
                  <a:srgbClr val="D3C9C5"/>
                </a:solidFill>
                <a:latin typeface="Noto Serif HK Bold" pitchFamily="34" charset="0"/>
                <a:ea typeface="Noto Serif HK Bold" pitchFamily="34" charset="-122"/>
                <a:cs typeface="Noto Serif HK Bold" pitchFamily="34" charset="-120"/>
              </a:rPr>
              <a:t>3</a:t>
            </a:r>
            <a:endParaRPr lang="en-US" sz="2650"/>
          </a:p>
        </p:txBody>
      </p:sp>
      <p:sp>
        <p:nvSpPr>
          <p:cNvPr id="13" name="Text 11">
            <a:extLst>
              <a:ext uri="{FF2B5EF4-FFF2-40B4-BE49-F238E27FC236}">
                <a16:creationId xmlns:a16="http://schemas.microsoft.com/office/drawing/2014/main" id="{6BDDFB3A-3544-064D-F541-68EDF418F975}"/>
              </a:ext>
            </a:extLst>
          </p:cNvPr>
          <p:cNvSpPr/>
          <p:nvPr/>
        </p:nvSpPr>
        <p:spPr>
          <a:xfrm>
            <a:off x="1597610" y="4579739"/>
            <a:ext cx="2938820" cy="354330"/>
          </a:xfrm>
          <a:prstGeom prst="rect">
            <a:avLst/>
          </a:prstGeom>
          <a:noFill/>
          <a:ln/>
        </p:spPr>
        <p:txBody>
          <a:bodyPr wrap="none" lIns="0" tIns="0" rIns="0" bIns="0" rtlCol="0" anchor="t"/>
          <a:lstStyle/>
          <a:p>
            <a:pPr>
              <a:lnSpc>
                <a:spcPts val="2750"/>
              </a:lnSpc>
            </a:pPr>
            <a:r>
              <a:rPr lang="en-US" sz="2200" b="1">
                <a:solidFill>
                  <a:srgbClr val="D3C9C5"/>
                </a:solidFill>
                <a:latin typeface="Noto Serif HK Bold" pitchFamily="34" charset="0"/>
                <a:ea typeface="Noto Serif HK Bold" pitchFamily="34" charset="-122"/>
                <a:cs typeface="Noto Serif HK Bold" pitchFamily="34" charset="-120"/>
              </a:rPr>
              <a:t>Task Management</a:t>
            </a:r>
            <a:endParaRPr lang="en-US" sz="2200"/>
          </a:p>
        </p:txBody>
      </p:sp>
      <p:sp>
        <p:nvSpPr>
          <p:cNvPr id="14" name="Text 12">
            <a:extLst>
              <a:ext uri="{FF2B5EF4-FFF2-40B4-BE49-F238E27FC236}">
                <a16:creationId xmlns:a16="http://schemas.microsoft.com/office/drawing/2014/main" id="{CDFBB53A-7BD1-F194-EE83-CAD482E2C0FE}"/>
              </a:ext>
            </a:extLst>
          </p:cNvPr>
          <p:cNvSpPr/>
          <p:nvPr/>
        </p:nvSpPr>
        <p:spPr>
          <a:xfrm>
            <a:off x="1374964" y="5111234"/>
            <a:ext cx="6011049" cy="2456497"/>
          </a:xfrm>
          <a:prstGeom prst="rect">
            <a:avLst/>
          </a:prstGeom>
          <a:noFill/>
          <a:ln/>
        </p:spPr>
        <p:txBody>
          <a:bodyPr wrap="square" lIns="0" tIns="0" rIns="0" bIns="0" rtlCol="0" anchor="t"/>
          <a:lstStyle/>
          <a:p>
            <a:r>
              <a:rPr lang="en-US" b="1">
                <a:solidFill>
                  <a:schemeClr val="bg2"/>
                </a:solidFill>
              </a:rPr>
              <a:t>1</a:t>
            </a:r>
            <a:r>
              <a:rPr lang="en-US" sz="1750">
                <a:solidFill>
                  <a:srgbClr val="D3C9C5"/>
                </a:solidFill>
                <a:latin typeface="Noto Serif HK" pitchFamily="34" charset="0"/>
                <a:ea typeface="Noto Serif HK" pitchFamily="34" charset="-122"/>
              </a:rPr>
              <a:t>. Define SLA (Service Level Agreement)</a:t>
            </a:r>
          </a:p>
          <a:p>
            <a:r>
              <a:rPr lang="en-US" sz="1750">
                <a:solidFill>
                  <a:srgbClr val="D3C9C5"/>
                </a:solidFill>
                <a:latin typeface="Noto Serif HK" pitchFamily="34" charset="0"/>
                <a:ea typeface="Noto Serif HK" pitchFamily="34" charset="-122"/>
              </a:rPr>
              <a:t>SLA specifies expected timelines for each settlement step.</a:t>
            </a:r>
          </a:p>
          <a:p>
            <a:r>
              <a:rPr lang="en-US" sz="1750">
                <a:solidFill>
                  <a:srgbClr val="D3C9C5"/>
                </a:solidFill>
                <a:latin typeface="Noto Serif HK" pitchFamily="34" charset="0"/>
                <a:ea typeface="Noto Serif HK" pitchFamily="34" charset="-122"/>
              </a:rPr>
              <a:t>2. Escalation</a:t>
            </a:r>
          </a:p>
          <a:p>
            <a:r>
              <a:rPr lang="en-US" sz="1750">
                <a:solidFill>
                  <a:srgbClr val="D3C9C5"/>
                </a:solidFill>
                <a:latin typeface="Noto Serif HK" pitchFamily="34" charset="0"/>
                <a:ea typeface="Noto Serif HK" pitchFamily="34" charset="-122"/>
              </a:rPr>
              <a:t>If SLA is not met, the issue is escalated to higher authority.</a:t>
            </a:r>
          </a:p>
          <a:p>
            <a:r>
              <a:rPr lang="en-US" sz="1750">
                <a:solidFill>
                  <a:srgbClr val="D3C9C5"/>
                </a:solidFill>
                <a:latin typeface="Noto Serif HK" pitchFamily="34" charset="0"/>
                <a:ea typeface="Noto Serif HK" pitchFamily="34" charset="-122"/>
              </a:rPr>
              <a:t>Ensures quick resolution and avoids bottlenecks.</a:t>
            </a:r>
          </a:p>
          <a:p>
            <a:r>
              <a:rPr lang="en-US" sz="1750">
                <a:solidFill>
                  <a:srgbClr val="D3C9C5"/>
                </a:solidFill>
                <a:latin typeface="Noto Serif HK" pitchFamily="34" charset="0"/>
                <a:ea typeface="Noto Serif HK" pitchFamily="34" charset="-122"/>
              </a:rPr>
              <a:t>3. Report</a:t>
            </a:r>
          </a:p>
          <a:p>
            <a:r>
              <a:rPr lang="en-US" sz="1750">
                <a:solidFill>
                  <a:srgbClr val="D3C9C5"/>
                </a:solidFill>
                <a:latin typeface="Noto Serif HK" pitchFamily="34" charset="0"/>
                <a:ea typeface="Noto Serif HK" pitchFamily="34" charset="-122"/>
              </a:rPr>
              <a:t>Regular reporting of SLA adherence and escalations.</a:t>
            </a:r>
          </a:p>
          <a:p>
            <a:r>
              <a:rPr lang="en-US" sz="1750">
                <a:solidFill>
                  <a:srgbClr val="D3C9C5"/>
                </a:solidFill>
                <a:latin typeface="Noto Serif HK" pitchFamily="34" charset="0"/>
                <a:ea typeface="Noto Serif HK" pitchFamily="34" charset="-122"/>
              </a:rPr>
              <a:t>Used for monitoring, decision-making, and performance improvement.</a:t>
            </a:r>
          </a:p>
        </p:txBody>
      </p:sp>
      <p:sp>
        <p:nvSpPr>
          <p:cNvPr id="15" name="Shape 13">
            <a:extLst>
              <a:ext uri="{FF2B5EF4-FFF2-40B4-BE49-F238E27FC236}">
                <a16:creationId xmlns:a16="http://schemas.microsoft.com/office/drawing/2014/main" id="{7F1CE19D-797A-D413-9CCB-C7DB74914EDA}"/>
              </a:ext>
            </a:extLst>
          </p:cNvPr>
          <p:cNvSpPr/>
          <p:nvPr/>
        </p:nvSpPr>
        <p:spPr>
          <a:xfrm>
            <a:off x="7456884" y="5033367"/>
            <a:ext cx="510302" cy="510302"/>
          </a:xfrm>
          <a:prstGeom prst="roundRect">
            <a:avLst>
              <a:gd name="adj" fmla="val 6667"/>
            </a:avLst>
          </a:prstGeom>
          <a:solidFill>
            <a:srgbClr val="5F5153"/>
          </a:solidFill>
          <a:ln/>
        </p:spPr>
        <p:txBody>
          <a:bodyPr/>
          <a:lstStyle/>
          <a:p>
            <a:endParaRPr lang="en-US"/>
          </a:p>
        </p:txBody>
      </p:sp>
      <p:sp>
        <p:nvSpPr>
          <p:cNvPr id="16" name="Text 14">
            <a:extLst>
              <a:ext uri="{FF2B5EF4-FFF2-40B4-BE49-F238E27FC236}">
                <a16:creationId xmlns:a16="http://schemas.microsoft.com/office/drawing/2014/main" id="{33D57B67-C88B-393D-ED8B-72A16EF910DA}"/>
              </a:ext>
            </a:extLst>
          </p:cNvPr>
          <p:cNvSpPr/>
          <p:nvPr/>
        </p:nvSpPr>
        <p:spPr>
          <a:xfrm>
            <a:off x="7541955" y="5075873"/>
            <a:ext cx="340162" cy="425291"/>
          </a:xfrm>
          <a:prstGeom prst="rect">
            <a:avLst/>
          </a:prstGeom>
          <a:noFill/>
          <a:ln/>
        </p:spPr>
        <p:txBody>
          <a:bodyPr wrap="none" lIns="0" tIns="0" rIns="0" bIns="0" rtlCol="0" anchor="t"/>
          <a:lstStyle/>
          <a:p>
            <a:pPr marL="0" indent="0" algn="ctr">
              <a:lnSpc>
                <a:spcPts val="2650"/>
              </a:lnSpc>
              <a:buNone/>
            </a:pPr>
            <a:r>
              <a:rPr lang="en-US" sz="2650" b="1">
                <a:solidFill>
                  <a:srgbClr val="D3C9C5"/>
                </a:solidFill>
                <a:latin typeface="Noto Serif HK Bold" pitchFamily="34" charset="0"/>
                <a:ea typeface="Noto Serif HK Bold" pitchFamily="34" charset="-122"/>
                <a:cs typeface="Noto Serif HK Bold" pitchFamily="34" charset="-120"/>
              </a:rPr>
              <a:t>4</a:t>
            </a:r>
            <a:endParaRPr lang="en-US" sz="2650"/>
          </a:p>
        </p:txBody>
      </p:sp>
      <p:sp>
        <p:nvSpPr>
          <p:cNvPr id="17" name="Text 15">
            <a:extLst>
              <a:ext uri="{FF2B5EF4-FFF2-40B4-BE49-F238E27FC236}">
                <a16:creationId xmlns:a16="http://schemas.microsoft.com/office/drawing/2014/main" id="{3E8A77E7-BEFD-4612-AEFD-9E52B67AD4BE}"/>
              </a:ext>
            </a:extLst>
          </p:cNvPr>
          <p:cNvSpPr/>
          <p:nvPr/>
        </p:nvSpPr>
        <p:spPr>
          <a:xfrm>
            <a:off x="8194000" y="5111234"/>
            <a:ext cx="3558897" cy="354330"/>
          </a:xfrm>
          <a:prstGeom prst="rect">
            <a:avLst/>
          </a:prstGeom>
          <a:noFill/>
          <a:ln/>
        </p:spPr>
        <p:txBody>
          <a:bodyPr wrap="none" lIns="0" tIns="0" rIns="0" bIns="0" rtlCol="0" anchor="t"/>
          <a:lstStyle/>
          <a:p>
            <a:pPr>
              <a:lnSpc>
                <a:spcPts val="2750"/>
              </a:lnSpc>
            </a:pPr>
            <a:r>
              <a:rPr lang="en-US" sz="2200" b="1">
                <a:solidFill>
                  <a:srgbClr val="D3C9C5"/>
                </a:solidFill>
                <a:latin typeface="Noto Serif HK Bold" pitchFamily="34" charset="0"/>
                <a:ea typeface="Noto Serif HK Bold" pitchFamily="34" charset="-122"/>
                <a:cs typeface="Noto Serif HK Bold" pitchFamily="34" charset="-120"/>
              </a:rPr>
              <a:t>Process Automation</a:t>
            </a:r>
            <a:endParaRPr lang="en-US" sz="2200"/>
          </a:p>
        </p:txBody>
      </p:sp>
      <p:sp>
        <p:nvSpPr>
          <p:cNvPr id="18" name="Text 16">
            <a:extLst>
              <a:ext uri="{FF2B5EF4-FFF2-40B4-BE49-F238E27FC236}">
                <a16:creationId xmlns:a16="http://schemas.microsoft.com/office/drawing/2014/main" id="{51E26F90-9A01-6188-427E-2FAE2148A72C}"/>
              </a:ext>
            </a:extLst>
          </p:cNvPr>
          <p:cNvSpPr/>
          <p:nvPr/>
        </p:nvSpPr>
        <p:spPr>
          <a:xfrm>
            <a:off x="8194000" y="5601653"/>
            <a:ext cx="5642610" cy="1451610"/>
          </a:xfrm>
          <a:prstGeom prst="rect">
            <a:avLst/>
          </a:prstGeom>
          <a:noFill/>
          <a:ln/>
        </p:spPr>
        <p:txBody>
          <a:bodyPr wrap="square" lIns="0" tIns="0" rIns="0" bIns="0" rtlCol="0" anchor="t"/>
          <a:lstStyle/>
          <a:p>
            <a:pPr>
              <a:lnSpc>
                <a:spcPts val="2850"/>
              </a:lnSpc>
            </a:pPr>
            <a:r>
              <a:rPr lang="en-US" sz="1750">
                <a:solidFill>
                  <a:srgbClr val="D3C9C5"/>
                </a:solidFill>
                <a:latin typeface="Noto Serif HK"/>
                <a:ea typeface="Noto Serif HK"/>
              </a:rPr>
              <a:t>Final process –core agenda is  convert manual process in to automation.</a:t>
            </a:r>
            <a:endParaRPr lang="en-US" sz="1750">
              <a:solidFill>
                <a:srgbClr val="D3C9C5"/>
              </a:solidFill>
              <a:latin typeface="Noto Serif HK" pitchFamily="34" charset="0"/>
              <a:ea typeface="Noto Serif HK" pitchFamily="34" charset="-122"/>
            </a:endParaRPr>
          </a:p>
        </p:txBody>
      </p:sp>
      <p:sp>
        <p:nvSpPr>
          <p:cNvPr id="19" name="Rectangle: Rounded Corners 18">
            <a:extLst>
              <a:ext uri="{FF2B5EF4-FFF2-40B4-BE49-F238E27FC236}">
                <a16:creationId xmlns:a16="http://schemas.microsoft.com/office/drawing/2014/main" id="{F4AFB062-5393-ECFB-92C3-BD631E4E0C34}"/>
              </a:ext>
            </a:extLst>
          </p:cNvPr>
          <p:cNvSpPr/>
          <p:nvPr/>
        </p:nvSpPr>
        <p:spPr>
          <a:xfrm>
            <a:off x="12836501" y="7782870"/>
            <a:ext cx="1668256" cy="362903"/>
          </a:xfrm>
          <a:prstGeom prst="roundRect">
            <a:avLst/>
          </a:prstGeom>
          <a:solidFill>
            <a:schemeClr val="bg2">
              <a:lumMod val="2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9771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12A1C-71DA-F88B-6E83-DED9F8B9FDE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B7B5685-3752-0326-D151-1805F00362EE}"/>
              </a:ext>
            </a:extLst>
          </p:cNvPr>
          <p:cNvSpPr/>
          <p:nvPr/>
        </p:nvSpPr>
        <p:spPr>
          <a:xfrm>
            <a:off x="702469" y="683895"/>
            <a:ext cx="3134082" cy="326231"/>
          </a:xfrm>
          <a:prstGeom prst="rect">
            <a:avLst/>
          </a:prstGeom>
          <a:noFill/>
          <a:ln/>
        </p:spPr>
        <p:txBody>
          <a:bodyPr wrap="none" lIns="0" tIns="0" rIns="0" bIns="0" rtlCol="0" anchor="t"/>
          <a:lstStyle/>
          <a:p>
            <a:pPr marL="0" indent="0" algn="l">
              <a:lnSpc>
                <a:spcPts val="2550"/>
              </a:lnSpc>
              <a:buNone/>
            </a:pPr>
            <a:r>
              <a:rPr lang="en-US" sz="2400" b="1">
                <a:solidFill>
                  <a:srgbClr val="FFF8F5"/>
                </a:solidFill>
                <a:latin typeface="Times New Roman"/>
                <a:ea typeface="Noto Serif HK Bold"/>
                <a:cs typeface="Times New Roman"/>
              </a:rPr>
              <a:t>Understanding the 3P's</a:t>
            </a:r>
            <a:endParaRPr lang="en-US" sz="2400">
              <a:latin typeface="Times New Roman"/>
              <a:ea typeface="Noto Serif HK Bold"/>
              <a:cs typeface="Times New Roman"/>
            </a:endParaRPr>
          </a:p>
        </p:txBody>
      </p:sp>
      <p:sp>
        <p:nvSpPr>
          <p:cNvPr id="4" name="Shape 2">
            <a:extLst>
              <a:ext uri="{FF2B5EF4-FFF2-40B4-BE49-F238E27FC236}">
                <a16:creationId xmlns:a16="http://schemas.microsoft.com/office/drawing/2014/main" id="{9AE36826-3019-80EB-7543-93303CE1D1A7}"/>
              </a:ext>
            </a:extLst>
          </p:cNvPr>
          <p:cNvSpPr/>
          <p:nvPr/>
        </p:nvSpPr>
        <p:spPr>
          <a:xfrm>
            <a:off x="832842" y="1287185"/>
            <a:ext cx="391358" cy="391358"/>
          </a:xfrm>
          <a:prstGeom prst="roundRect">
            <a:avLst>
              <a:gd name="adj" fmla="val 23362460"/>
            </a:avLst>
          </a:prstGeom>
          <a:solidFill>
            <a:srgbClr val="E2C2B3"/>
          </a:solidFill>
          <a:ln/>
        </p:spPr>
        <p:txBody>
          <a:bodyPr/>
          <a:lstStyle/>
          <a:p>
            <a:endParaRPr lang="en-US" sz="2000">
              <a:latin typeface="Times New Roman"/>
              <a:cs typeface="Times New Roman"/>
            </a:endParaRPr>
          </a:p>
        </p:txBody>
      </p:sp>
      <p:pic>
        <p:nvPicPr>
          <p:cNvPr id="5" name="Image 0" descr="preencoded.png">
            <a:extLst>
              <a:ext uri="{FF2B5EF4-FFF2-40B4-BE49-F238E27FC236}">
                <a16:creationId xmlns:a16="http://schemas.microsoft.com/office/drawing/2014/main" id="{299C97BB-3443-E0A3-8502-452BA8D57553}"/>
              </a:ext>
            </a:extLst>
          </p:cNvPr>
          <p:cNvPicPr>
            <a:picLocks noChangeAspect="1"/>
          </p:cNvPicPr>
          <p:nvPr/>
        </p:nvPicPr>
        <p:blipFill>
          <a:blip r:embed="rId3"/>
          <a:stretch>
            <a:fillRect/>
          </a:stretch>
        </p:blipFill>
        <p:spPr>
          <a:xfrm>
            <a:off x="940475" y="1372791"/>
            <a:ext cx="176093" cy="220147"/>
          </a:xfrm>
          <a:prstGeom prst="rect">
            <a:avLst/>
          </a:prstGeom>
        </p:spPr>
      </p:pic>
      <p:sp>
        <p:nvSpPr>
          <p:cNvPr id="6" name="Text 3">
            <a:extLst>
              <a:ext uri="{FF2B5EF4-FFF2-40B4-BE49-F238E27FC236}">
                <a16:creationId xmlns:a16="http://schemas.microsoft.com/office/drawing/2014/main" id="{E5F0AD2D-2024-E5AF-4C63-4B33EA62BB0D}"/>
              </a:ext>
            </a:extLst>
          </p:cNvPr>
          <p:cNvSpPr/>
          <p:nvPr/>
        </p:nvSpPr>
        <p:spPr>
          <a:xfrm>
            <a:off x="832842" y="1808917"/>
            <a:ext cx="1630918" cy="203835"/>
          </a:xfrm>
          <a:prstGeom prst="rect">
            <a:avLst/>
          </a:prstGeom>
          <a:noFill/>
          <a:ln/>
        </p:spPr>
        <p:txBody>
          <a:bodyPr wrap="none" lIns="0" tIns="0" rIns="0" bIns="0" rtlCol="0" anchor="t"/>
          <a:lstStyle/>
          <a:p>
            <a:pPr marL="0" indent="0" algn="l">
              <a:lnSpc>
                <a:spcPts val="1600"/>
              </a:lnSpc>
              <a:buNone/>
            </a:pPr>
            <a:r>
              <a:rPr lang="en-US" sz="2000">
                <a:solidFill>
                  <a:srgbClr val="D3C9C5"/>
                </a:solidFill>
                <a:latin typeface="Times New Roman"/>
                <a:ea typeface="Noto Serif HK" pitchFamily="34" charset="-122"/>
                <a:cs typeface="Times New Roman"/>
              </a:rPr>
              <a:t>People (Resources)</a:t>
            </a:r>
          </a:p>
        </p:txBody>
      </p:sp>
      <p:sp>
        <p:nvSpPr>
          <p:cNvPr id="7" name="Text 4">
            <a:extLst>
              <a:ext uri="{FF2B5EF4-FFF2-40B4-BE49-F238E27FC236}">
                <a16:creationId xmlns:a16="http://schemas.microsoft.com/office/drawing/2014/main" id="{0B98BECC-FF01-86E8-9519-AECE8AB10D4E}"/>
              </a:ext>
            </a:extLst>
          </p:cNvPr>
          <p:cNvSpPr/>
          <p:nvPr/>
        </p:nvSpPr>
        <p:spPr>
          <a:xfrm>
            <a:off x="832842" y="2143125"/>
            <a:ext cx="6192917" cy="208717"/>
          </a:xfrm>
          <a:prstGeom prst="rect">
            <a:avLst/>
          </a:prstGeom>
          <a:noFill/>
          <a:ln/>
        </p:spPr>
        <p:txBody>
          <a:bodyPr wrap="none" lIns="0" tIns="0" rIns="0" bIns="0" rtlCol="0" anchor="t"/>
          <a:lstStyle/>
          <a:p>
            <a:pPr marL="342900" indent="-342900" algn="l">
              <a:lnSpc>
                <a:spcPts val="1600"/>
              </a:lnSpc>
              <a:buSzPct val="100000"/>
              <a:buChar char="•"/>
            </a:pPr>
            <a:r>
              <a:rPr lang="en-US" sz="2000">
                <a:solidFill>
                  <a:srgbClr val="D3C9C5"/>
                </a:solidFill>
                <a:latin typeface="Times New Roman"/>
                <a:ea typeface="Noto Serif HK" pitchFamily="34" charset="-122"/>
                <a:cs typeface="Times New Roman"/>
              </a:rPr>
              <a:t>Vendor (UTN)</a:t>
            </a:r>
            <a:endParaRPr lang="en-US" sz="2000">
              <a:latin typeface="Times New Roman"/>
              <a:cs typeface="Times New Roman"/>
            </a:endParaRPr>
          </a:p>
        </p:txBody>
      </p:sp>
      <p:sp>
        <p:nvSpPr>
          <p:cNvPr id="8" name="Text 5">
            <a:extLst>
              <a:ext uri="{FF2B5EF4-FFF2-40B4-BE49-F238E27FC236}">
                <a16:creationId xmlns:a16="http://schemas.microsoft.com/office/drawing/2014/main" id="{460DA1DB-CD02-6FFD-7649-60515B336A3F}"/>
              </a:ext>
            </a:extLst>
          </p:cNvPr>
          <p:cNvSpPr/>
          <p:nvPr/>
        </p:nvSpPr>
        <p:spPr>
          <a:xfrm>
            <a:off x="832842" y="2397442"/>
            <a:ext cx="6192917" cy="208717"/>
          </a:xfrm>
          <a:prstGeom prst="rect">
            <a:avLst/>
          </a:prstGeom>
          <a:noFill/>
          <a:ln/>
        </p:spPr>
        <p:txBody>
          <a:bodyPr wrap="none" lIns="0" tIns="0" rIns="0" bIns="0" rtlCol="0" anchor="t"/>
          <a:lstStyle/>
          <a:p>
            <a:pPr marL="342900" indent="-342900" algn="l">
              <a:lnSpc>
                <a:spcPts val="1600"/>
              </a:lnSpc>
              <a:buSzPct val="100000"/>
              <a:buChar char="•"/>
            </a:pPr>
            <a:r>
              <a:rPr lang="en-US" sz="2000">
                <a:solidFill>
                  <a:srgbClr val="D3C9C5"/>
                </a:solidFill>
                <a:latin typeface="Times New Roman"/>
                <a:ea typeface="Noto Serif HK" pitchFamily="34" charset="-122"/>
                <a:cs typeface="Times New Roman"/>
              </a:rPr>
              <a:t>Internal Team (Alita, Bala, Ahimsa, Bhagya, Ganga, Sarath, Gomathy)</a:t>
            </a:r>
            <a:endParaRPr lang="en-US" sz="2000">
              <a:latin typeface="Times New Roman"/>
              <a:cs typeface="Times New Roman"/>
            </a:endParaRPr>
          </a:p>
        </p:txBody>
      </p:sp>
      <p:sp>
        <p:nvSpPr>
          <p:cNvPr id="9" name="Text 6">
            <a:extLst>
              <a:ext uri="{FF2B5EF4-FFF2-40B4-BE49-F238E27FC236}">
                <a16:creationId xmlns:a16="http://schemas.microsoft.com/office/drawing/2014/main" id="{16F0706A-A06B-43FB-84AC-6CC5A2716FA7}"/>
              </a:ext>
            </a:extLst>
          </p:cNvPr>
          <p:cNvSpPr/>
          <p:nvPr/>
        </p:nvSpPr>
        <p:spPr>
          <a:xfrm>
            <a:off x="832842" y="2651760"/>
            <a:ext cx="6192917" cy="208717"/>
          </a:xfrm>
          <a:prstGeom prst="rect">
            <a:avLst/>
          </a:prstGeom>
          <a:noFill/>
          <a:ln/>
        </p:spPr>
        <p:txBody>
          <a:bodyPr wrap="none" lIns="0" tIns="0" rIns="0" bIns="0" rtlCol="0" anchor="t"/>
          <a:lstStyle/>
          <a:p>
            <a:pPr marL="342900" indent="-342900">
              <a:lnSpc>
                <a:spcPts val="1600"/>
              </a:lnSpc>
              <a:buSzPct val="100000"/>
              <a:buChar char="•"/>
            </a:pPr>
            <a:r>
              <a:rPr lang="en-US" sz="2000">
                <a:solidFill>
                  <a:srgbClr val="D3C9C5"/>
                </a:solidFill>
                <a:latin typeface="Times New Roman"/>
                <a:ea typeface="Noto Serif HK"/>
                <a:cs typeface="Times New Roman"/>
              </a:rPr>
              <a:t>Customer - </a:t>
            </a:r>
            <a:endParaRPr lang="en-US" sz="2000">
              <a:latin typeface="Times New Roman"/>
              <a:cs typeface="Times New Roman"/>
            </a:endParaRPr>
          </a:p>
        </p:txBody>
      </p:sp>
      <p:sp>
        <p:nvSpPr>
          <p:cNvPr id="11" name="Shape 8">
            <a:extLst>
              <a:ext uri="{FF2B5EF4-FFF2-40B4-BE49-F238E27FC236}">
                <a16:creationId xmlns:a16="http://schemas.microsoft.com/office/drawing/2014/main" id="{6126D709-4B5E-556C-253F-AE6C8E9951D3}"/>
              </a:ext>
            </a:extLst>
          </p:cNvPr>
          <p:cNvSpPr/>
          <p:nvPr/>
        </p:nvSpPr>
        <p:spPr>
          <a:xfrm>
            <a:off x="832842" y="3251597"/>
            <a:ext cx="391358" cy="391358"/>
          </a:xfrm>
          <a:prstGeom prst="roundRect">
            <a:avLst>
              <a:gd name="adj" fmla="val 23362460"/>
            </a:avLst>
          </a:prstGeom>
          <a:solidFill>
            <a:srgbClr val="E2C2B3"/>
          </a:solidFill>
          <a:ln/>
        </p:spPr>
        <p:txBody>
          <a:bodyPr/>
          <a:lstStyle/>
          <a:p>
            <a:endParaRPr lang="en-US" sz="2000">
              <a:latin typeface="Times New Roman"/>
              <a:cs typeface="Times New Roman"/>
            </a:endParaRPr>
          </a:p>
        </p:txBody>
      </p:sp>
      <p:pic>
        <p:nvPicPr>
          <p:cNvPr id="12" name="Image 1" descr="preencoded.png">
            <a:extLst>
              <a:ext uri="{FF2B5EF4-FFF2-40B4-BE49-F238E27FC236}">
                <a16:creationId xmlns:a16="http://schemas.microsoft.com/office/drawing/2014/main" id="{1E36B03D-F2A0-F171-D718-27E87C0C930D}"/>
              </a:ext>
            </a:extLst>
          </p:cNvPr>
          <p:cNvPicPr>
            <a:picLocks noChangeAspect="1"/>
          </p:cNvPicPr>
          <p:nvPr/>
        </p:nvPicPr>
        <p:blipFill>
          <a:blip r:embed="rId4"/>
          <a:stretch>
            <a:fillRect/>
          </a:stretch>
        </p:blipFill>
        <p:spPr>
          <a:xfrm>
            <a:off x="940475" y="3337203"/>
            <a:ext cx="176093" cy="220147"/>
          </a:xfrm>
          <a:prstGeom prst="rect">
            <a:avLst/>
          </a:prstGeom>
        </p:spPr>
      </p:pic>
      <p:sp>
        <p:nvSpPr>
          <p:cNvPr id="13" name="Text 9">
            <a:extLst>
              <a:ext uri="{FF2B5EF4-FFF2-40B4-BE49-F238E27FC236}">
                <a16:creationId xmlns:a16="http://schemas.microsoft.com/office/drawing/2014/main" id="{37988256-65FB-ADC5-5CFA-C90A3533C620}"/>
              </a:ext>
            </a:extLst>
          </p:cNvPr>
          <p:cNvSpPr/>
          <p:nvPr/>
        </p:nvSpPr>
        <p:spPr>
          <a:xfrm>
            <a:off x="832842" y="3773329"/>
            <a:ext cx="1630918" cy="203835"/>
          </a:xfrm>
          <a:prstGeom prst="rect">
            <a:avLst/>
          </a:prstGeom>
          <a:noFill/>
          <a:ln/>
        </p:spPr>
        <p:txBody>
          <a:bodyPr wrap="none" lIns="0" tIns="0" rIns="0" bIns="0" rtlCol="0" anchor="t"/>
          <a:lstStyle/>
          <a:p>
            <a:pPr marL="0" indent="0" algn="l">
              <a:lnSpc>
                <a:spcPts val="1600"/>
              </a:lnSpc>
              <a:buNone/>
            </a:pPr>
            <a:r>
              <a:rPr lang="en-US" sz="2000" b="1">
                <a:solidFill>
                  <a:srgbClr val="D3C9C5"/>
                </a:solidFill>
                <a:latin typeface="Times New Roman"/>
                <a:ea typeface="Noto Serif HK Bold" pitchFamily="34" charset="-122"/>
                <a:cs typeface="Times New Roman"/>
              </a:rPr>
              <a:t>Process</a:t>
            </a:r>
            <a:endParaRPr lang="en-US" sz="2000">
              <a:latin typeface="Times New Roman"/>
              <a:cs typeface="Times New Roman"/>
            </a:endParaRPr>
          </a:p>
        </p:txBody>
      </p:sp>
      <p:sp>
        <p:nvSpPr>
          <p:cNvPr id="19" name="Shape 15">
            <a:extLst>
              <a:ext uri="{FF2B5EF4-FFF2-40B4-BE49-F238E27FC236}">
                <a16:creationId xmlns:a16="http://schemas.microsoft.com/office/drawing/2014/main" id="{1358FC18-BAD5-BDDE-D869-53BDFB897E54}"/>
              </a:ext>
            </a:extLst>
          </p:cNvPr>
          <p:cNvSpPr/>
          <p:nvPr/>
        </p:nvSpPr>
        <p:spPr>
          <a:xfrm>
            <a:off x="832842" y="5470327"/>
            <a:ext cx="391358" cy="391358"/>
          </a:xfrm>
          <a:prstGeom prst="roundRect">
            <a:avLst>
              <a:gd name="adj" fmla="val 23362460"/>
            </a:avLst>
          </a:prstGeom>
          <a:solidFill>
            <a:srgbClr val="E2C2B3"/>
          </a:solidFill>
          <a:ln/>
        </p:spPr>
        <p:txBody>
          <a:bodyPr/>
          <a:lstStyle/>
          <a:p>
            <a:endParaRPr lang="en-US" sz="2000">
              <a:latin typeface="Times New Roman"/>
              <a:cs typeface="Times New Roman"/>
            </a:endParaRPr>
          </a:p>
        </p:txBody>
      </p:sp>
      <p:pic>
        <p:nvPicPr>
          <p:cNvPr id="20" name="Image 2" descr="preencoded.png">
            <a:extLst>
              <a:ext uri="{FF2B5EF4-FFF2-40B4-BE49-F238E27FC236}">
                <a16:creationId xmlns:a16="http://schemas.microsoft.com/office/drawing/2014/main" id="{5595ECE8-0538-E4C3-2083-02092AE16BF5}"/>
              </a:ext>
            </a:extLst>
          </p:cNvPr>
          <p:cNvPicPr>
            <a:picLocks noChangeAspect="1"/>
          </p:cNvPicPr>
          <p:nvPr/>
        </p:nvPicPr>
        <p:blipFill>
          <a:blip r:embed="rId5"/>
          <a:stretch>
            <a:fillRect/>
          </a:stretch>
        </p:blipFill>
        <p:spPr>
          <a:xfrm>
            <a:off x="940475" y="5555933"/>
            <a:ext cx="176093" cy="220147"/>
          </a:xfrm>
          <a:prstGeom prst="rect">
            <a:avLst/>
          </a:prstGeom>
        </p:spPr>
      </p:pic>
      <p:sp>
        <p:nvSpPr>
          <p:cNvPr id="21" name="Text 16">
            <a:extLst>
              <a:ext uri="{FF2B5EF4-FFF2-40B4-BE49-F238E27FC236}">
                <a16:creationId xmlns:a16="http://schemas.microsoft.com/office/drawing/2014/main" id="{00D44031-A777-C50C-DB90-E05A58BD8BCC}"/>
              </a:ext>
            </a:extLst>
          </p:cNvPr>
          <p:cNvSpPr/>
          <p:nvPr/>
        </p:nvSpPr>
        <p:spPr>
          <a:xfrm>
            <a:off x="832842" y="5992058"/>
            <a:ext cx="2068473" cy="203835"/>
          </a:xfrm>
          <a:prstGeom prst="rect">
            <a:avLst/>
          </a:prstGeom>
          <a:noFill/>
          <a:ln/>
        </p:spPr>
        <p:txBody>
          <a:bodyPr wrap="none" lIns="0" tIns="0" rIns="0" bIns="0" rtlCol="0" anchor="t"/>
          <a:lstStyle/>
          <a:p>
            <a:pPr marL="0" indent="0" algn="l">
              <a:lnSpc>
                <a:spcPts val="1600"/>
              </a:lnSpc>
              <a:buNone/>
            </a:pPr>
            <a:r>
              <a:rPr lang="en-US" sz="2000" b="1">
                <a:solidFill>
                  <a:srgbClr val="D3C9C5"/>
                </a:solidFill>
                <a:latin typeface="Times New Roman"/>
                <a:ea typeface="Noto Serif HK Bold" pitchFamily="34" charset="-122"/>
                <a:cs typeface="Times New Roman"/>
              </a:rPr>
              <a:t>Product (Software/Tools)</a:t>
            </a:r>
            <a:endParaRPr lang="en-US" sz="2000">
              <a:latin typeface="Times New Roman"/>
              <a:cs typeface="Times New Roman"/>
            </a:endParaRPr>
          </a:p>
        </p:txBody>
      </p:sp>
      <p:sp>
        <p:nvSpPr>
          <p:cNvPr id="22" name="Text 17">
            <a:extLst>
              <a:ext uri="{FF2B5EF4-FFF2-40B4-BE49-F238E27FC236}">
                <a16:creationId xmlns:a16="http://schemas.microsoft.com/office/drawing/2014/main" id="{CDB97CC1-FE76-0B34-0E86-15B25C995073}"/>
              </a:ext>
            </a:extLst>
          </p:cNvPr>
          <p:cNvSpPr/>
          <p:nvPr/>
        </p:nvSpPr>
        <p:spPr>
          <a:xfrm>
            <a:off x="832842" y="6326267"/>
            <a:ext cx="6192917" cy="208717"/>
          </a:xfrm>
          <a:prstGeom prst="rect">
            <a:avLst/>
          </a:prstGeom>
          <a:noFill/>
          <a:ln/>
        </p:spPr>
        <p:txBody>
          <a:bodyPr wrap="none" lIns="0" tIns="0" rIns="0" bIns="0" rtlCol="0" anchor="t"/>
          <a:lstStyle/>
          <a:p>
            <a:pPr marL="342900" indent="-342900" algn="l">
              <a:lnSpc>
                <a:spcPts val="1600"/>
              </a:lnSpc>
              <a:buSzPct val="100000"/>
              <a:buChar char="•"/>
            </a:pPr>
            <a:r>
              <a:rPr lang="en-US" sz="2000" err="1">
                <a:solidFill>
                  <a:srgbClr val="D3C9C5"/>
                </a:solidFill>
                <a:latin typeface="Times New Roman"/>
                <a:ea typeface="Noto Serif HK" pitchFamily="34" charset="-122"/>
                <a:cs typeface="Times New Roman"/>
              </a:rPr>
              <a:t>Billpay</a:t>
            </a:r>
            <a:endParaRPr lang="en-US" sz="2000">
              <a:latin typeface="Times New Roman"/>
              <a:cs typeface="Times New Roman"/>
            </a:endParaRPr>
          </a:p>
        </p:txBody>
      </p:sp>
      <p:sp>
        <p:nvSpPr>
          <p:cNvPr id="23" name="Text 18">
            <a:extLst>
              <a:ext uri="{FF2B5EF4-FFF2-40B4-BE49-F238E27FC236}">
                <a16:creationId xmlns:a16="http://schemas.microsoft.com/office/drawing/2014/main" id="{4ABE22B1-A888-0742-EF22-095C57C4AE65}"/>
              </a:ext>
            </a:extLst>
          </p:cNvPr>
          <p:cNvSpPr/>
          <p:nvPr/>
        </p:nvSpPr>
        <p:spPr>
          <a:xfrm>
            <a:off x="832842" y="6580584"/>
            <a:ext cx="6192917" cy="208717"/>
          </a:xfrm>
          <a:prstGeom prst="rect">
            <a:avLst/>
          </a:prstGeom>
          <a:noFill/>
          <a:ln/>
        </p:spPr>
        <p:txBody>
          <a:bodyPr wrap="none" lIns="0" tIns="0" rIns="0" bIns="0" rtlCol="0" anchor="t"/>
          <a:lstStyle/>
          <a:p>
            <a:pPr marL="342900" indent="-342900" algn="l">
              <a:lnSpc>
                <a:spcPts val="1600"/>
              </a:lnSpc>
              <a:buSzPct val="100000"/>
              <a:buChar char="•"/>
            </a:pPr>
            <a:r>
              <a:rPr lang="en-US" sz="2000">
                <a:solidFill>
                  <a:srgbClr val="D3C9C5"/>
                </a:solidFill>
                <a:latin typeface="Times New Roman"/>
                <a:ea typeface="Noto Serif HK" pitchFamily="34" charset="-122"/>
                <a:cs typeface="Times New Roman"/>
              </a:rPr>
              <a:t>Task</a:t>
            </a:r>
            <a:endParaRPr lang="en-US" sz="2000">
              <a:latin typeface="Times New Roman"/>
              <a:cs typeface="Times New Roman"/>
            </a:endParaRPr>
          </a:p>
        </p:txBody>
      </p:sp>
      <p:sp>
        <p:nvSpPr>
          <p:cNvPr id="24" name="Text 19">
            <a:extLst>
              <a:ext uri="{FF2B5EF4-FFF2-40B4-BE49-F238E27FC236}">
                <a16:creationId xmlns:a16="http://schemas.microsoft.com/office/drawing/2014/main" id="{3703F8E0-DBCA-BF24-ED06-B3FCC2AA5D41}"/>
              </a:ext>
            </a:extLst>
          </p:cNvPr>
          <p:cNvSpPr/>
          <p:nvPr/>
        </p:nvSpPr>
        <p:spPr>
          <a:xfrm>
            <a:off x="832842" y="6834902"/>
            <a:ext cx="6192917" cy="208717"/>
          </a:xfrm>
          <a:prstGeom prst="rect">
            <a:avLst/>
          </a:prstGeom>
          <a:noFill/>
          <a:ln/>
        </p:spPr>
        <p:txBody>
          <a:bodyPr wrap="none" lIns="0" tIns="0" rIns="0" bIns="0" rtlCol="0" anchor="t"/>
          <a:lstStyle/>
          <a:p>
            <a:pPr marL="342900" indent="-342900" algn="l">
              <a:lnSpc>
                <a:spcPts val="1600"/>
              </a:lnSpc>
              <a:buSzPct val="100000"/>
              <a:buChar char="•"/>
            </a:pPr>
            <a:r>
              <a:rPr lang="en-US" sz="2000">
                <a:solidFill>
                  <a:srgbClr val="D3C9C5"/>
                </a:solidFill>
                <a:latin typeface="Times New Roman"/>
                <a:ea typeface="Noto Serif HK" pitchFamily="34" charset="-122"/>
                <a:cs typeface="Times New Roman"/>
              </a:rPr>
              <a:t>Fleet</a:t>
            </a:r>
          </a:p>
        </p:txBody>
      </p:sp>
      <p:sp>
        <p:nvSpPr>
          <p:cNvPr id="26" name="Text 20">
            <a:extLst>
              <a:ext uri="{FF2B5EF4-FFF2-40B4-BE49-F238E27FC236}">
                <a16:creationId xmlns:a16="http://schemas.microsoft.com/office/drawing/2014/main" id="{31D34DD0-56C5-DF01-4A11-470C57D24214}"/>
              </a:ext>
            </a:extLst>
          </p:cNvPr>
          <p:cNvSpPr/>
          <p:nvPr/>
        </p:nvSpPr>
        <p:spPr>
          <a:xfrm>
            <a:off x="702469" y="7467362"/>
            <a:ext cx="13225463" cy="208717"/>
          </a:xfrm>
          <a:prstGeom prst="rect">
            <a:avLst/>
          </a:prstGeom>
          <a:noFill/>
          <a:ln/>
        </p:spPr>
        <p:txBody>
          <a:bodyPr wrap="none" lIns="0" tIns="0" rIns="0" bIns="0" rtlCol="0" anchor="t"/>
          <a:lstStyle/>
          <a:p>
            <a:pPr marL="0" indent="0" algn="l">
              <a:lnSpc>
                <a:spcPts val="1600"/>
              </a:lnSpc>
              <a:buNone/>
            </a:pPr>
            <a:r>
              <a:rPr lang="en-US" sz="2000">
                <a:solidFill>
                  <a:srgbClr val="D3C9C5"/>
                </a:solidFill>
                <a:latin typeface="Times New Roman"/>
                <a:ea typeface="Noto Serif HK" pitchFamily="34" charset="-122"/>
                <a:cs typeface="Times New Roman"/>
              </a:rPr>
              <a:t>A clear understanding of each component ensures a smooth and efficient settlement workflow.</a:t>
            </a:r>
            <a:endParaRPr lang="en-US" sz="2000">
              <a:latin typeface="Times New Roman"/>
              <a:cs typeface="Times New Roman"/>
            </a:endParaRPr>
          </a:p>
        </p:txBody>
      </p:sp>
      <p:sp>
        <p:nvSpPr>
          <p:cNvPr id="27" name="Rectangle: Rounded Corners 26">
            <a:extLst>
              <a:ext uri="{FF2B5EF4-FFF2-40B4-BE49-F238E27FC236}">
                <a16:creationId xmlns:a16="http://schemas.microsoft.com/office/drawing/2014/main" id="{9F844765-51A7-042E-8D42-71EBF12CA5EB}"/>
              </a:ext>
            </a:extLst>
          </p:cNvPr>
          <p:cNvSpPr/>
          <p:nvPr/>
        </p:nvSpPr>
        <p:spPr>
          <a:xfrm>
            <a:off x="12836501" y="7782870"/>
            <a:ext cx="1668256" cy="362903"/>
          </a:xfrm>
          <a:prstGeom prst="roundRect">
            <a:avLst/>
          </a:prstGeom>
          <a:solidFill>
            <a:schemeClr val="bg2">
              <a:lumMod val="2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a:cs typeface="Times New Roman"/>
            </a:endParaRPr>
          </a:p>
        </p:txBody>
      </p:sp>
      <p:sp>
        <p:nvSpPr>
          <p:cNvPr id="46" name="TextBox 45">
            <a:extLst>
              <a:ext uri="{FF2B5EF4-FFF2-40B4-BE49-F238E27FC236}">
                <a16:creationId xmlns:a16="http://schemas.microsoft.com/office/drawing/2014/main" id="{F1BA5B77-4FB9-C46D-FA86-79AA184B91BB}"/>
              </a:ext>
            </a:extLst>
          </p:cNvPr>
          <p:cNvSpPr txBox="1"/>
          <p:nvPr/>
        </p:nvSpPr>
        <p:spPr>
          <a:xfrm>
            <a:off x="1630392" y="3886200"/>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indent="-228600"/>
            <a:r>
              <a:rPr lang="en-US" sz="2000">
                <a:solidFill>
                  <a:srgbClr val="D3C9C5"/>
                </a:solidFill>
                <a:latin typeface="Times New Roman"/>
                <a:cs typeface="Times New Roman"/>
              </a:rPr>
              <a:t>STML VND Request</a:t>
            </a:r>
            <a:endParaRPr lang="en-US" sz="2000">
              <a:ea typeface="Calibri" panose="020F0502020204030204"/>
              <a:cs typeface="Calibri" panose="020F0502020204030204"/>
            </a:endParaRPr>
          </a:p>
        </p:txBody>
      </p:sp>
      <p:sp>
        <p:nvSpPr>
          <p:cNvPr id="48" name="TextBox 47">
            <a:extLst>
              <a:ext uri="{FF2B5EF4-FFF2-40B4-BE49-F238E27FC236}">
                <a16:creationId xmlns:a16="http://schemas.microsoft.com/office/drawing/2014/main" id="{360EDA29-0838-5808-3A5A-CE15566245AC}"/>
              </a:ext>
            </a:extLst>
          </p:cNvPr>
          <p:cNvSpPr txBox="1"/>
          <p:nvPr/>
        </p:nvSpPr>
        <p:spPr>
          <a:xfrm>
            <a:off x="1613139" y="4265762"/>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indent="-228600"/>
            <a:r>
              <a:rPr lang="en-US" sz="2000">
                <a:solidFill>
                  <a:srgbClr val="D3C9C5"/>
                </a:solidFill>
                <a:latin typeface="Times New Roman"/>
                <a:cs typeface="Times New Roman"/>
              </a:rPr>
              <a:t>STML VND Analysis</a:t>
            </a:r>
          </a:p>
        </p:txBody>
      </p:sp>
      <p:sp>
        <p:nvSpPr>
          <p:cNvPr id="49" name="TextBox 48">
            <a:extLst>
              <a:ext uri="{FF2B5EF4-FFF2-40B4-BE49-F238E27FC236}">
                <a16:creationId xmlns:a16="http://schemas.microsoft.com/office/drawing/2014/main" id="{06872C2A-29C2-69A9-2883-7C7F31F47713}"/>
              </a:ext>
            </a:extLst>
          </p:cNvPr>
          <p:cNvSpPr txBox="1"/>
          <p:nvPr/>
        </p:nvSpPr>
        <p:spPr>
          <a:xfrm>
            <a:off x="1595886" y="4645325"/>
            <a:ext cx="27432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indent="-228600"/>
            <a:r>
              <a:rPr lang="en-US" sz="2000">
                <a:solidFill>
                  <a:srgbClr val="D3C9C5"/>
                </a:solidFill>
                <a:latin typeface="Times New Roman"/>
                <a:cs typeface="Times New Roman"/>
              </a:rPr>
              <a:t>STML Customer Approval</a:t>
            </a:r>
          </a:p>
        </p:txBody>
      </p:sp>
      <p:sp>
        <p:nvSpPr>
          <p:cNvPr id="50" name="TextBox 49">
            <a:extLst>
              <a:ext uri="{FF2B5EF4-FFF2-40B4-BE49-F238E27FC236}">
                <a16:creationId xmlns:a16="http://schemas.microsoft.com/office/drawing/2014/main" id="{DCE40ABA-AB8A-D8E6-2C94-85ABCBC2FDEB}"/>
              </a:ext>
            </a:extLst>
          </p:cNvPr>
          <p:cNvSpPr txBox="1"/>
          <p:nvPr/>
        </p:nvSpPr>
        <p:spPr>
          <a:xfrm>
            <a:off x="1613139" y="5024887"/>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indent="-228600"/>
            <a:r>
              <a:rPr lang="en-US" sz="2000">
                <a:solidFill>
                  <a:srgbClr val="D3C9C5"/>
                </a:solidFill>
                <a:latin typeface="Times New Roman"/>
                <a:cs typeface="Times New Roman"/>
              </a:rPr>
              <a:t>STML VND Payment</a:t>
            </a:r>
          </a:p>
        </p:txBody>
      </p:sp>
      <p:sp>
        <p:nvSpPr>
          <p:cNvPr id="51" name="TextBox 50">
            <a:extLst>
              <a:ext uri="{FF2B5EF4-FFF2-40B4-BE49-F238E27FC236}">
                <a16:creationId xmlns:a16="http://schemas.microsoft.com/office/drawing/2014/main" id="{EA5DB685-5D3C-62C1-F5D7-803BD1EE190C}"/>
              </a:ext>
            </a:extLst>
          </p:cNvPr>
          <p:cNvSpPr txBox="1"/>
          <p:nvPr/>
        </p:nvSpPr>
        <p:spPr>
          <a:xfrm>
            <a:off x="4477109" y="4265763"/>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indent="-228600"/>
            <a:r>
              <a:rPr lang="en-US" sz="2000">
                <a:solidFill>
                  <a:srgbClr val="D3C9C5"/>
                </a:solidFill>
                <a:latin typeface="Times New Roman"/>
                <a:cs typeface="Times New Roman"/>
              </a:rPr>
              <a:t>STML Billed</a:t>
            </a:r>
          </a:p>
        </p:txBody>
      </p:sp>
      <p:sp>
        <p:nvSpPr>
          <p:cNvPr id="53" name="TextBox 52">
            <a:extLst>
              <a:ext uri="{FF2B5EF4-FFF2-40B4-BE49-F238E27FC236}">
                <a16:creationId xmlns:a16="http://schemas.microsoft.com/office/drawing/2014/main" id="{29D7DAAB-AFD9-C5F7-3701-A4F53E22DE07}"/>
              </a:ext>
            </a:extLst>
          </p:cNvPr>
          <p:cNvSpPr txBox="1"/>
          <p:nvPr/>
        </p:nvSpPr>
        <p:spPr>
          <a:xfrm>
            <a:off x="4477109" y="3886200"/>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indent="-228600"/>
            <a:r>
              <a:rPr lang="en-US" sz="2000">
                <a:solidFill>
                  <a:srgbClr val="D3C9C5"/>
                </a:solidFill>
                <a:latin typeface="Times New Roman"/>
                <a:cs typeface="Times New Roman"/>
              </a:rPr>
              <a:t>STML Dispute</a:t>
            </a:r>
          </a:p>
        </p:txBody>
      </p:sp>
      <p:sp>
        <p:nvSpPr>
          <p:cNvPr id="54" name="TextBox 53">
            <a:extLst>
              <a:ext uri="{FF2B5EF4-FFF2-40B4-BE49-F238E27FC236}">
                <a16:creationId xmlns:a16="http://schemas.microsoft.com/office/drawing/2014/main" id="{FC22970E-C74C-52EC-44FB-9C3BC1FCDED0}"/>
              </a:ext>
            </a:extLst>
          </p:cNvPr>
          <p:cNvSpPr txBox="1"/>
          <p:nvPr/>
        </p:nvSpPr>
        <p:spPr>
          <a:xfrm>
            <a:off x="4477109" y="4645325"/>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indent="-228600"/>
            <a:r>
              <a:rPr lang="en-US" sz="2000">
                <a:solidFill>
                  <a:srgbClr val="D3C9C5"/>
                </a:solidFill>
                <a:latin typeface="Times New Roman"/>
                <a:cs typeface="Times New Roman"/>
              </a:rPr>
              <a:t>Bill Closure</a:t>
            </a:r>
          </a:p>
        </p:txBody>
      </p:sp>
    </p:spTree>
    <p:extLst>
      <p:ext uri="{BB962C8B-B14F-4D97-AF65-F5344CB8AC3E}">
        <p14:creationId xmlns:p14="http://schemas.microsoft.com/office/powerpoint/2010/main" val="3575406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3EF69-BB17-ED15-4B33-F8C0609658C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BBEE2FB-411E-C2AF-F670-467736A0160C}"/>
              </a:ext>
            </a:extLst>
          </p:cNvPr>
          <p:cNvSpPr/>
          <p:nvPr/>
        </p:nvSpPr>
        <p:spPr>
          <a:xfrm>
            <a:off x="793790" y="2804993"/>
            <a:ext cx="9840754" cy="566976"/>
          </a:xfrm>
          <a:prstGeom prst="rect">
            <a:avLst/>
          </a:prstGeom>
          <a:noFill/>
          <a:ln/>
        </p:spPr>
        <p:txBody>
          <a:bodyPr wrap="none" lIns="0" tIns="0" rIns="0" bIns="0" rtlCol="0" anchor="t"/>
          <a:lstStyle/>
          <a:p>
            <a:pPr marL="0" indent="0" algn="l">
              <a:lnSpc>
                <a:spcPts val="4450"/>
              </a:lnSpc>
              <a:buNone/>
            </a:pPr>
            <a:r>
              <a:rPr lang="en-US" sz="3550" b="1">
                <a:solidFill>
                  <a:srgbClr val="FFF8F5"/>
                </a:solidFill>
                <a:latin typeface="Noto Serif HK Bold" pitchFamily="34" charset="0"/>
                <a:ea typeface="Noto Serif HK Bold" pitchFamily="34" charset="-122"/>
                <a:cs typeface="Noto Serif HK Bold" pitchFamily="34" charset="-120"/>
              </a:rPr>
              <a:t>Process Automation: Enhancing Efficiency</a:t>
            </a:r>
            <a:endParaRPr lang="en-US" sz="3550"/>
          </a:p>
        </p:txBody>
      </p:sp>
      <p:sp>
        <p:nvSpPr>
          <p:cNvPr id="3" name="Text 1">
            <a:extLst>
              <a:ext uri="{FF2B5EF4-FFF2-40B4-BE49-F238E27FC236}">
                <a16:creationId xmlns:a16="http://schemas.microsoft.com/office/drawing/2014/main" id="{8868ABED-5023-747E-5A37-8FE120BE7089}"/>
              </a:ext>
            </a:extLst>
          </p:cNvPr>
          <p:cNvSpPr/>
          <p:nvPr/>
        </p:nvSpPr>
        <p:spPr>
          <a:xfrm>
            <a:off x="793790" y="3825597"/>
            <a:ext cx="13042821" cy="362903"/>
          </a:xfrm>
          <a:prstGeom prst="rect">
            <a:avLst/>
          </a:prstGeom>
          <a:noFill/>
          <a:ln/>
        </p:spPr>
        <p:txBody>
          <a:bodyPr wrap="none" lIns="0" tIns="0" rIns="0" bIns="0" rtlCol="0" anchor="t"/>
          <a:lstStyle/>
          <a:p>
            <a:pPr marL="0" indent="0" algn="l">
              <a:lnSpc>
                <a:spcPts val="2850"/>
              </a:lnSpc>
              <a:buNone/>
            </a:pPr>
            <a:r>
              <a:rPr lang="en-US" sz="1750">
                <a:solidFill>
                  <a:srgbClr val="D3C9C5"/>
                </a:solidFill>
                <a:latin typeface="Noto Serif HK" pitchFamily="34" charset="0"/>
                <a:ea typeface="Noto Serif HK" pitchFamily="34" charset="-122"/>
                <a:cs typeface="Noto Serif HK" pitchFamily="34" charset="-120"/>
              </a:rPr>
              <a:t>Automating key steps in the settlement process will reduce manual errors and accelerate completion.</a:t>
            </a:r>
            <a:endParaRPr lang="en-US" sz="1750"/>
          </a:p>
        </p:txBody>
      </p:sp>
      <p:sp>
        <p:nvSpPr>
          <p:cNvPr id="4" name="Text 2">
            <a:extLst>
              <a:ext uri="{FF2B5EF4-FFF2-40B4-BE49-F238E27FC236}">
                <a16:creationId xmlns:a16="http://schemas.microsoft.com/office/drawing/2014/main" id="{6AB119D0-D233-36F4-E92D-2114B594AFE5}"/>
              </a:ext>
            </a:extLst>
          </p:cNvPr>
          <p:cNvSpPr/>
          <p:nvPr/>
        </p:nvSpPr>
        <p:spPr>
          <a:xfrm>
            <a:off x="793790" y="4698802"/>
            <a:ext cx="13042821" cy="725805"/>
          </a:xfrm>
          <a:prstGeom prst="rect">
            <a:avLst/>
          </a:prstGeom>
          <a:noFill/>
          <a:ln/>
        </p:spPr>
        <p:txBody>
          <a:bodyPr wrap="square" lIns="0" tIns="0" rIns="0" bIns="0" rtlCol="0" anchor="t"/>
          <a:lstStyle/>
          <a:p>
            <a:pPr marL="0" indent="0" algn="l">
              <a:lnSpc>
                <a:spcPts val="2850"/>
              </a:lnSpc>
              <a:buNone/>
            </a:pPr>
            <a:r>
              <a:rPr lang="en-US" sz="1750">
                <a:solidFill>
                  <a:srgbClr val="D3C9C5"/>
                </a:solidFill>
                <a:latin typeface="Noto Serif HK" pitchFamily="34" charset="0"/>
                <a:ea typeface="Noto Serif HK" pitchFamily="34" charset="-122"/>
                <a:cs typeface="Noto Serif HK" pitchFamily="34" charset="-120"/>
              </a:rPr>
              <a:t>This streamlined approach minimizes human intervention where possible, freeing up team members for more complex tasks.</a:t>
            </a:r>
            <a:endParaRPr lang="en-US" sz="1750"/>
          </a:p>
        </p:txBody>
      </p:sp>
      <p:sp>
        <p:nvSpPr>
          <p:cNvPr id="5" name="Rectangle: Rounded Corners 4">
            <a:extLst>
              <a:ext uri="{FF2B5EF4-FFF2-40B4-BE49-F238E27FC236}">
                <a16:creationId xmlns:a16="http://schemas.microsoft.com/office/drawing/2014/main" id="{730E078C-7DAD-821C-8838-4086F55BED5C}"/>
              </a:ext>
            </a:extLst>
          </p:cNvPr>
          <p:cNvSpPr/>
          <p:nvPr/>
        </p:nvSpPr>
        <p:spPr>
          <a:xfrm>
            <a:off x="12836501" y="7782870"/>
            <a:ext cx="1668256" cy="362903"/>
          </a:xfrm>
          <a:prstGeom prst="roundRect">
            <a:avLst/>
          </a:prstGeom>
          <a:solidFill>
            <a:schemeClr val="bg2">
              <a:lumMod val="2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1932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36E20-7937-8E78-A2EC-B8222C0DE72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8D7C493-6F28-5944-F0C0-97B5CF4C3ED0}"/>
              </a:ext>
            </a:extLst>
          </p:cNvPr>
          <p:cNvSpPr/>
          <p:nvPr/>
        </p:nvSpPr>
        <p:spPr>
          <a:xfrm>
            <a:off x="793790" y="1606391"/>
            <a:ext cx="6955274" cy="425291"/>
          </a:xfrm>
          <a:prstGeom prst="rect">
            <a:avLst/>
          </a:prstGeom>
          <a:noFill/>
          <a:ln/>
        </p:spPr>
        <p:txBody>
          <a:bodyPr wrap="none" lIns="0" tIns="0" rIns="0" bIns="0" rtlCol="0" anchor="t"/>
          <a:lstStyle/>
          <a:p>
            <a:pPr marL="0" indent="0" algn="l">
              <a:lnSpc>
                <a:spcPts val="3300"/>
              </a:lnSpc>
              <a:buNone/>
            </a:pPr>
            <a:r>
              <a:rPr lang="en-US" sz="2650" b="1">
                <a:solidFill>
                  <a:srgbClr val="FFF8F5"/>
                </a:solidFill>
                <a:latin typeface="Noto Serif HK Bold" pitchFamily="34" charset="0"/>
                <a:ea typeface="Noto Serif HK Bold" pitchFamily="34" charset="-122"/>
                <a:cs typeface="Noto Serif HK Bold" pitchFamily="34" charset="-120"/>
              </a:rPr>
              <a:t>Key Takeaways: Empowering Our Teams</a:t>
            </a:r>
            <a:endParaRPr lang="en-US" sz="2650"/>
          </a:p>
        </p:txBody>
      </p:sp>
      <p:pic>
        <p:nvPicPr>
          <p:cNvPr id="3" name="Image 0" descr="preencoded.png">
            <a:extLst>
              <a:ext uri="{FF2B5EF4-FFF2-40B4-BE49-F238E27FC236}">
                <a16:creationId xmlns:a16="http://schemas.microsoft.com/office/drawing/2014/main" id="{EEF982AB-6836-F46C-9CB6-8149BBC32A0E}"/>
              </a:ext>
            </a:extLst>
          </p:cNvPr>
          <p:cNvPicPr>
            <a:picLocks noChangeAspect="1"/>
          </p:cNvPicPr>
          <p:nvPr/>
        </p:nvPicPr>
        <p:blipFill>
          <a:blip r:embed="rId3"/>
          <a:stretch>
            <a:fillRect/>
          </a:stretch>
        </p:blipFill>
        <p:spPr>
          <a:xfrm>
            <a:off x="793790" y="2485311"/>
            <a:ext cx="566976" cy="566976"/>
          </a:xfrm>
          <a:prstGeom prst="rect">
            <a:avLst/>
          </a:prstGeom>
        </p:spPr>
      </p:pic>
      <p:sp>
        <p:nvSpPr>
          <p:cNvPr id="4" name="Text 1">
            <a:extLst>
              <a:ext uri="{FF2B5EF4-FFF2-40B4-BE49-F238E27FC236}">
                <a16:creationId xmlns:a16="http://schemas.microsoft.com/office/drawing/2014/main" id="{5686AA7B-987D-771B-5146-FFC007359DD1}"/>
              </a:ext>
            </a:extLst>
          </p:cNvPr>
          <p:cNvSpPr/>
          <p:nvPr/>
        </p:nvSpPr>
        <p:spPr>
          <a:xfrm>
            <a:off x="1644253" y="2619970"/>
            <a:ext cx="3308152" cy="708660"/>
          </a:xfrm>
          <a:prstGeom prst="rect">
            <a:avLst/>
          </a:prstGeom>
          <a:noFill/>
          <a:ln/>
        </p:spPr>
        <p:txBody>
          <a:bodyPr wrap="square" lIns="0" tIns="0" rIns="0" bIns="0" rtlCol="0" anchor="t"/>
          <a:lstStyle/>
          <a:p>
            <a:pPr marL="0" indent="0" algn="l">
              <a:lnSpc>
                <a:spcPts val="2750"/>
              </a:lnSpc>
              <a:buNone/>
            </a:pPr>
            <a:r>
              <a:rPr lang="en-US" sz="2200" b="1">
                <a:solidFill>
                  <a:srgbClr val="D3C9C5"/>
                </a:solidFill>
                <a:latin typeface="Noto Serif HK Bold" pitchFamily="34" charset="0"/>
                <a:ea typeface="Noto Serif HK Bold" pitchFamily="34" charset="-122"/>
                <a:cs typeface="Noto Serif HK Bold" pitchFamily="34" charset="-120"/>
              </a:rPr>
              <a:t>Cross-functional Collaboration</a:t>
            </a:r>
            <a:endParaRPr lang="en-US" sz="2200"/>
          </a:p>
        </p:txBody>
      </p:sp>
      <p:sp>
        <p:nvSpPr>
          <p:cNvPr id="5" name="Text 2">
            <a:extLst>
              <a:ext uri="{FF2B5EF4-FFF2-40B4-BE49-F238E27FC236}">
                <a16:creationId xmlns:a16="http://schemas.microsoft.com/office/drawing/2014/main" id="{30AC076C-B925-A8AA-30EF-FAEDBBBE53F5}"/>
              </a:ext>
            </a:extLst>
          </p:cNvPr>
          <p:cNvSpPr/>
          <p:nvPr/>
        </p:nvSpPr>
        <p:spPr>
          <a:xfrm>
            <a:off x="1644253" y="3464719"/>
            <a:ext cx="3308152" cy="2540318"/>
          </a:xfrm>
          <a:prstGeom prst="rect">
            <a:avLst/>
          </a:prstGeom>
          <a:noFill/>
          <a:ln/>
        </p:spPr>
        <p:txBody>
          <a:bodyPr wrap="square" lIns="0" tIns="0" rIns="0" bIns="0" rtlCol="0" anchor="t"/>
          <a:lstStyle/>
          <a:p>
            <a:pPr marL="0" indent="0" algn="l">
              <a:lnSpc>
                <a:spcPts val="2850"/>
              </a:lnSpc>
              <a:buNone/>
            </a:pPr>
            <a:r>
              <a:rPr lang="en-US" sz="1750">
                <a:solidFill>
                  <a:srgbClr val="D3C9C5"/>
                </a:solidFill>
                <a:latin typeface="Noto Serif HK" pitchFamily="34" charset="0"/>
                <a:ea typeface="Noto Serif HK" pitchFamily="34" charset="-122"/>
                <a:cs typeface="Noto Serif HK" pitchFamily="34" charset="-120"/>
              </a:rPr>
              <a:t>Success hinges on seamless coordination between Product, Operations, and specific team members like Alita, Bala, and Ganga. Clear communication channels are vital.</a:t>
            </a:r>
            <a:endParaRPr lang="en-US" sz="1750"/>
          </a:p>
        </p:txBody>
      </p:sp>
      <p:pic>
        <p:nvPicPr>
          <p:cNvPr id="6" name="Image 1" descr="preencoded.png">
            <a:extLst>
              <a:ext uri="{FF2B5EF4-FFF2-40B4-BE49-F238E27FC236}">
                <a16:creationId xmlns:a16="http://schemas.microsoft.com/office/drawing/2014/main" id="{B8EE0D35-F9C0-A20B-2814-B9DC5F1649CF}"/>
              </a:ext>
            </a:extLst>
          </p:cNvPr>
          <p:cNvPicPr>
            <a:picLocks noChangeAspect="1"/>
          </p:cNvPicPr>
          <p:nvPr/>
        </p:nvPicPr>
        <p:blipFill>
          <a:blip r:embed="rId4"/>
          <a:stretch>
            <a:fillRect/>
          </a:stretch>
        </p:blipFill>
        <p:spPr>
          <a:xfrm>
            <a:off x="5235893" y="2485311"/>
            <a:ext cx="566976" cy="566976"/>
          </a:xfrm>
          <a:prstGeom prst="rect">
            <a:avLst/>
          </a:prstGeom>
        </p:spPr>
      </p:pic>
      <p:sp>
        <p:nvSpPr>
          <p:cNvPr id="7" name="Text 3">
            <a:extLst>
              <a:ext uri="{FF2B5EF4-FFF2-40B4-BE49-F238E27FC236}">
                <a16:creationId xmlns:a16="http://schemas.microsoft.com/office/drawing/2014/main" id="{B7F95086-DCE0-BFEB-A030-C8656D8E1DFB}"/>
              </a:ext>
            </a:extLst>
          </p:cNvPr>
          <p:cNvSpPr/>
          <p:nvPr/>
        </p:nvSpPr>
        <p:spPr>
          <a:xfrm>
            <a:off x="6086356" y="2619970"/>
            <a:ext cx="3308152" cy="708660"/>
          </a:xfrm>
          <a:prstGeom prst="rect">
            <a:avLst/>
          </a:prstGeom>
          <a:noFill/>
          <a:ln/>
        </p:spPr>
        <p:txBody>
          <a:bodyPr wrap="square" lIns="0" tIns="0" rIns="0" bIns="0" rtlCol="0" anchor="t"/>
          <a:lstStyle/>
          <a:p>
            <a:pPr marL="0" indent="0" algn="l">
              <a:lnSpc>
                <a:spcPts val="2750"/>
              </a:lnSpc>
              <a:buNone/>
            </a:pPr>
            <a:r>
              <a:rPr lang="en-US" sz="2200" b="1">
                <a:solidFill>
                  <a:srgbClr val="D3C9C5"/>
                </a:solidFill>
                <a:latin typeface="Noto Serif HK Bold" pitchFamily="34" charset="0"/>
                <a:ea typeface="Noto Serif HK Bold" pitchFamily="34" charset="-122"/>
                <a:cs typeface="Noto Serif HK Bold" pitchFamily="34" charset="-120"/>
              </a:rPr>
              <a:t>Adherence to Deadlines</a:t>
            </a:r>
            <a:endParaRPr lang="en-US" sz="2200"/>
          </a:p>
        </p:txBody>
      </p:sp>
      <p:sp>
        <p:nvSpPr>
          <p:cNvPr id="8" name="Text 4">
            <a:extLst>
              <a:ext uri="{FF2B5EF4-FFF2-40B4-BE49-F238E27FC236}">
                <a16:creationId xmlns:a16="http://schemas.microsoft.com/office/drawing/2014/main" id="{28CC8B5B-FA9C-BC9F-E2BD-3152F4708D6D}"/>
              </a:ext>
            </a:extLst>
          </p:cNvPr>
          <p:cNvSpPr/>
          <p:nvPr/>
        </p:nvSpPr>
        <p:spPr>
          <a:xfrm>
            <a:off x="6086356" y="3464719"/>
            <a:ext cx="3308152" cy="2177415"/>
          </a:xfrm>
          <a:prstGeom prst="rect">
            <a:avLst/>
          </a:prstGeom>
          <a:noFill/>
          <a:ln/>
        </p:spPr>
        <p:txBody>
          <a:bodyPr wrap="square" lIns="0" tIns="0" rIns="0" bIns="0" rtlCol="0" anchor="t"/>
          <a:lstStyle/>
          <a:p>
            <a:pPr marL="0" indent="0" algn="l">
              <a:lnSpc>
                <a:spcPts val="2850"/>
              </a:lnSpc>
              <a:buNone/>
            </a:pPr>
            <a:r>
              <a:rPr lang="en-US" sz="1750">
                <a:solidFill>
                  <a:srgbClr val="D3C9C5"/>
                </a:solidFill>
                <a:latin typeface="Noto Serif HK" pitchFamily="34" charset="0"/>
                <a:ea typeface="Noto Serif HK" pitchFamily="34" charset="-122"/>
                <a:cs typeface="Noto Serif HK" pitchFamily="34" charset="-120"/>
              </a:rPr>
              <a:t>The 10-business-day window is non-negotiable. Proactive management of tasks and timely approvals are critical to avoid forfeiture of fee waivers.</a:t>
            </a:r>
            <a:endParaRPr lang="en-US" sz="1750"/>
          </a:p>
        </p:txBody>
      </p:sp>
      <p:pic>
        <p:nvPicPr>
          <p:cNvPr id="9" name="Image 2" descr="preencoded.png">
            <a:extLst>
              <a:ext uri="{FF2B5EF4-FFF2-40B4-BE49-F238E27FC236}">
                <a16:creationId xmlns:a16="http://schemas.microsoft.com/office/drawing/2014/main" id="{CCDA9CEA-795B-1E06-115B-F2B55E9A280D}"/>
              </a:ext>
            </a:extLst>
          </p:cNvPr>
          <p:cNvPicPr>
            <a:picLocks noChangeAspect="1"/>
          </p:cNvPicPr>
          <p:nvPr/>
        </p:nvPicPr>
        <p:blipFill>
          <a:blip r:embed="rId5"/>
          <a:stretch>
            <a:fillRect/>
          </a:stretch>
        </p:blipFill>
        <p:spPr>
          <a:xfrm>
            <a:off x="9677995" y="2485311"/>
            <a:ext cx="566976" cy="566976"/>
          </a:xfrm>
          <a:prstGeom prst="rect">
            <a:avLst/>
          </a:prstGeom>
        </p:spPr>
      </p:pic>
      <p:sp>
        <p:nvSpPr>
          <p:cNvPr id="10" name="Text 5">
            <a:extLst>
              <a:ext uri="{FF2B5EF4-FFF2-40B4-BE49-F238E27FC236}">
                <a16:creationId xmlns:a16="http://schemas.microsoft.com/office/drawing/2014/main" id="{2E5D8EB6-6794-58D2-F84C-A8A606F2B814}"/>
              </a:ext>
            </a:extLst>
          </p:cNvPr>
          <p:cNvSpPr/>
          <p:nvPr/>
        </p:nvSpPr>
        <p:spPr>
          <a:xfrm>
            <a:off x="10528459" y="2619970"/>
            <a:ext cx="3308152" cy="708660"/>
          </a:xfrm>
          <a:prstGeom prst="rect">
            <a:avLst/>
          </a:prstGeom>
          <a:noFill/>
          <a:ln/>
        </p:spPr>
        <p:txBody>
          <a:bodyPr wrap="square" lIns="0" tIns="0" rIns="0" bIns="0" rtlCol="0" anchor="t"/>
          <a:lstStyle/>
          <a:p>
            <a:pPr marL="0" indent="0" algn="l">
              <a:lnSpc>
                <a:spcPts val="2750"/>
              </a:lnSpc>
              <a:buNone/>
            </a:pPr>
            <a:r>
              <a:rPr lang="en-US" sz="2200" b="1">
                <a:solidFill>
                  <a:srgbClr val="D3C9C5"/>
                </a:solidFill>
                <a:latin typeface="Noto Serif HK Bold" pitchFamily="34" charset="0"/>
                <a:ea typeface="Noto Serif HK Bold" pitchFamily="34" charset="-122"/>
                <a:cs typeface="Noto Serif HK Bold" pitchFamily="34" charset="-120"/>
              </a:rPr>
              <a:t>Continuous Improvement</a:t>
            </a:r>
            <a:endParaRPr lang="en-US" sz="2200"/>
          </a:p>
        </p:txBody>
      </p:sp>
      <p:sp>
        <p:nvSpPr>
          <p:cNvPr id="11" name="Text 6">
            <a:extLst>
              <a:ext uri="{FF2B5EF4-FFF2-40B4-BE49-F238E27FC236}">
                <a16:creationId xmlns:a16="http://schemas.microsoft.com/office/drawing/2014/main" id="{2FFE8370-E91E-02B1-56DB-2BA3C3BEE130}"/>
              </a:ext>
            </a:extLst>
          </p:cNvPr>
          <p:cNvSpPr/>
          <p:nvPr/>
        </p:nvSpPr>
        <p:spPr>
          <a:xfrm>
            <a:off x="10528459" y="3464719"/>
            <a:ext cx="3308152" cy="2177415"/>
          </a:xfrm>
          <a:prstGeom prst="rect">
            <a:avLst/>
          </a:prstGeom>
          <a:noFill/>
          <a:ln/>
        </p:spPr>
        <p:txBody>
          <a:bodyPr wrap="square" lIns="0" tIns="0" rIns="0" bIns="0" rtlCol="0" anchor="t"/>
          <a:lstStyle/>
          <a:p>
            <a:pPr marL="0" indent="0" algn="l">
              <a:lnSpc>
                <a:spcPts val="2850"/>
              </a:lnSpc>
              <a:buNone/>
            </a:pPr>
            <a:r>
              <a:rPr lang="en-US" sz="1750">
                <a:solidFill>
                  <a:srgbClr val="D3C9C5"/>
                </a:solidFill>
                <a:latin typeface="Noto Serif HK" pitchFamily="34" charset="0"/>
                <a:ea typeface="Noto Serif HK" pitchFamily="34" charset="-122"/>
                <a:cs typeface="Noto Serif HK" pitchFamily="34" charset="-120"/>
              </a:rPr>
              <a:t>Regular review of SLAs, escalation protocols, and reporting will identify bottlenecks and areas for further optimization in the settlement process.</a:t>
            </a:r>
            <a:endParaRPr lang="en-US" sz="1750"/>
          </a:p>
        </p:txBody>
      </p:sp>
      <p:sp>
        <p:nvSpPr>
          <p:cNvPr id="12" name="Text 7">
            <a:extLst>
              <a:ext uri="{FF2B5EF4-FFF2-40B4-BE49-F238E27FC236}">
                <a16:creationId xmlns:a16="http://schemas.microsoft.com/office/drawing/2014/main" id="{A45E4B7E-0FEC-A9C4-22C1-61D6FC529933}"/>
              </a:ext>
            </a:extLst>
          </p:cNvPr>
          <p:cNvSpPr/>
          <p:nvPr/>
        </p:nvSpPr>
        <p:spPr>
          <a:xfrm>
            <a:off x="793790" y="6260187"/>
            <a:ext cx="13042821" cy="362903"/>
          </a:xfrm>
          <a:prstGeom prst="rect">
            <a:avLst/>
          </a:prstGeom>
          <a:noFill/>
          <a:ln/>
        </p:spPr>
        <p:txBody>
          <a:bodyPr wrap="none" lIns="0" tIns="0" rIns="0" bIns="0" rtlCol="0" anchor="t"/>
          <a:lstStyle/>
          <a:p>
            <a:pPr marL="0" indent="0" algn="l">
              <a:lnSpc>
                <a:spcPts val="2850"/>
              </a:lnSpc>
              <a:buNone/>
            </a:pPr>
            <a:r>
              <a:rPr lang="en-US" sz="1750">
                <a:solidFill>
                  <a:srgbClr val="D3C9C5"/>
                </a:solidFill>
                <a:latin typeface="Noto Serif HK" pitchFamily="34" charset="0"/>
                <a:ea typeface="Noto Serif HK" pitchFamily="34" charset="-122"/>
                <a:cs typeface="Noto Serif HK" pitchFamily="34" charset="-120"/>
              </a:rPr>
              <a:t>By focusing on these areas, we can significantly improve our settlement outcomes.</a:t>
            </a:r>
            <a:endParaRPr lang="en-US" sz="1750"/>
          </a:p>
        </p:txBody>
      </p:sp>
      <p:sp>
        <p:nvSpPr>
          <p:cNvPr id="13" name="Rectangle: Rounded Corners 12">
            <a:extLst>
              <a:ext uri="{FF2B5EF4-FFF2-40B4-BE49-F238E27FC236}">
                <a16:creationId xmlns:a16="http://schemas.microsoft.com/office/drawing/2014/main" id="{18FBC3B8-64D5-47F6-2A93-51AC4B484DED}"/>
              </a:ext>
            </a:extLst>
          </p:cNvPr>
          <p:cNvSpPr/>
          <p:nvPr/>
        </p:nvSpPr>
        <p:spPr>
          <a:xfrm>
            <a:off x="12836501" y="7782870"/>
            <a:ext cx="1668256" cy="362903"/>
          </a:xfrm>
          <a:prstGeom prst="roundRect">
            <a:avLst/>
          </a:prstGeom>
          <a:solidFill>
            <a:schemeClr val="bg2">
              <a:lumMod val="2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49687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A0E26-BA4D-0616-6F98-0895B342460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099183-DF61-53EB-0D3F-DBE97E312FFF}"/>
              </a:ext>
            </a:extLst>
          </p:cNvPr>
          <p:cNvSpPr txBox="1"/>
          <p:nvPr/>
        </p:nvSpPr>
        <p:spPr>
          <a:xfrm>
            <a:off x="368859" y="214287"/>
            <a:ext cx="622827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panose="020F0502020204030204"/>
                <a:cs typeface="Calibri" panose="020F0502020204030204"/>
              </a:rPr>
              <a:t>Process for Settlement.</a:t>
            </a:r>
          </a:p>
        </p:txBody>
      </p:sp>
      <p:sp>
        <p:nvSpPr>
          <p:cNvPr id="4" name="TextBox 3">
            <a:extLst>
              <a:ext uri="{FF2B5EF4-FFF2-40B4-BE49-F238E27FC236}">
                <a16:creationId xmlns:a16="http://schemas.microsoft.com/office/drawing/2014/main" id="{91451C73-0F58-21E9-1725-EDEDF489651E}"/>
              </a:ext>
            </a:extLst>
          </p:cNvPr>
          <p:cNvSpPr txBox="1"/>
          <p:nvPr/>
        </p:nvSpPr>
        <p:spPr>
          <a:xfrm>
            <a:off x="1093477" y="1007917"/>
            <a:ext cx="622827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panose="020F0502020204030204"/>
                <a:cs typeface="Calibri" panose="020F0502020204030204"/>
              </a:rPr>
              <a:t>1.Settlement Request</a:t>
            </a:r>
          </a:p>
          <a:p>
            <a:r>
              <a:rPr lang="en-US" sz="3200">
                <a:ea typeface="Calibri" panose="020F0502020204030204"/>
                <a:cs typeface="Calibri" panose="020F0502020204030204"/>
              </a:rPr>
              <a:t>2.Settlement Analysis</a:t>
            </a:r>
          </a:p>
          <a:p>
            <a:endParaRPr lang="en-US" sz="3200">
              <a:ea typeface="Calibri" panose="020F0502020204030204"/>
              <a:cs typeface="Calibri" panose="020F0502020204030204"/>
            </a:endParaRPr>
          </a:p>
        </p:txBody>
      </p:sp>
    </p:spTree>
    <p:extLst>
      <p:ext uri="{BB962C8B-B14F-4D97-AF65-F5344CB8AC3E}">
        <p14:creationId xmlns:p14="http://schemas.microsoft.com/office/powerpoint/2010/main" val="3067416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1EE93-98AB-DA8B-5A9D-7637A454574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3C5224-B1A2-EE81-052A-85C71AF560DD}"/>
              </a:ext>
            </a:extLst>
          </p:cNvPr>
          <p:cNvSpPr txBox="1"/>
          <p:nvPr/>
        </p:nvSpPr>
        <p:spPr>
          <a:xfrm>
            <a:off x="127319" y="7253"/>
            <a:ext cx="622827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buAutoNum type="arabicPeriod"/>
            </a:pPr>
            <a:r>
              <a:rPr lang="en-US" sz="3200">
                <a:ea typeface="Calibri"/>
                <a:cs typeface="Calibri"/>
              </a:rPr>
              <a:t>Settlement Request:</a:t>
            </a:r>
            <a:endParaRPr lang="en-US" sz="3200" err="1">
              <a:ea typeface="Calibri" panose="020F0502020204030204"/>
              <a:cs typeface="Calibri" panose="020F0502020204030204"/>
            </a:endParaRPr>
          </a:p>
        </p:txBody>
      </p:sp>
      <p:sp>
        <p:nvSpPr>
          <p:cNvPr id="3" name="TextBox 2">
            <a:extLst>
              <a:ext uri="{FF2B5EF4-FFF2-40B4-BE49-F238E27FC236}">
                <a16:creationId xmlns:a16="http://schemas.microsoft.com/office/drawing/2014/main" id="{3028B8E5-5643-FFDA-ABCE-8ED4491FE064}"/>
              </a:ext>
            </a:extLst>
          </p:cNvPr>
          <p:cNvSpPr txBox="1"/>
          <p:nvPr/>
        </p:nvSpPr>
        <p:spPr>
          <a:xfrm>
            <a:off x="765671" y="300551"/>
            <a:ext cx="12870611" cy="81406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150000"/>
              </a:lnSpc>
            </a:pPr>
            <a:endParaRPr lang="en-US" sz="2000" b="1" u="sng">
              <a:ea typeface="+mn-lt"/>
              <a:cs typeface="+mn-lt"/>
            </a:endParaRPr>
          </a:p>
          <a:p>
            <a:pPr>
              <a:lnSpc>
                <a:spcPct val="200000"/>
              </a:lnSpc>
            </a:pPr>
            <a:r>
              <a:rPr lang="en-US" sz="2200" b="1">
                <a:ea typeface="+mn-lt"/>
                <a:cs typeface="+mn-lt"/>
              </a:rPr>
              <a:t>Step 1: Image Collection</a:t>
            </a:r>
            <a:endParaRPr lang="en-US" sz="2200">
              <a:ea typeface="Calibri" panose="020F0502020204030204"/>
              <a:cs typeface="Calibri" panose="020F0502020204030204"/>
            </a:endParaRPr>
          </a:p>
          <a:p>
            <a:pPr marL="800100" lvl="1" indent="-342900">
              <a:lnSpc>
                <a:spcPct val="200000"/>
              </a:lnSpc>
              <a:buFont typeface="Arial"/>
              <a:buChar char="•"/>
            </a:pPr>
            <a:r>
              <a:rPr lang="en-US" sz="2200">
                <a:ea typeface="+mn-lt"/>
                <a:cs typeface="+mn-lt"/>
              </a:rPr>
              <a:t>Images are received via the FTP server.</a:t>
            </a:r>
            <a:endParaRPr lang="en-US" sz="2200">
              <a:ea typeface="Calibri"/>
              <a:cs typeface="Calibri"/>
            </a:endParaRPr>
          </a:p>
          <a:p>
            <a:pPr marL="800100" lvl="1" indent="-342900">
              <a:lnSpc>
                <a:spcPct val="200000"/>
              </a:lnSpc>
              <a:buFont typeface="Arial"/>
              <a:buChar char="•"/>
            </a:pPr>
            <a:r>
              <a:rPr lang="en-US" sz="2200">
                <a:ea typeface="+mn-lt"/>
                <a:cs typeface="+mn-lt"/>
              </a:rPr>
              <a:t>Stored in a folder named </a:t>
            </a:r>
            <a:r>
              <a:rPr lang="en-US" sz="2200" b="1">
                <a:ea typeface="+mn-lt"/>
                <a:cs typeface="+mn-lt"/>
              </a:rPr>
              <a:t>“Unpaid.”</a:t>
            </a:r>
            <a:endParaRPr lang="en-US" sz="2200">
              <a:ea typeface="Calibri"/>
              <a:cs typeface="Calibri"/>
            </a:endParaRPr>
          </a:p>
          <a:p>
            <a:pPr marL="342900" indent="-342900">
              <a:lnSpc>
                <a:spcPct val="200000"/>
              </a:lnSpc>
              <a:buFont typeface="Arial"/>
              <a:buChar char="•"/>
            </a:pPr>
            <a:r>
              <a:rPr lang="en-US" sz="2200" b="1">
                <a:ea typeface="+mn-lt"/>
                <a:cs typeface="+mn-lt"/>
              </a:rPr>
              <a:t>Step 2: Identify Settlement Vendor</a:t>
            </a:r>
            <a:endParaRPr lang="en-US" sz="2200">
              <a:ea typeface="Calibri"/>
              <a:cs typeface="Calibri"/>
            </a:endParaRPr>
          </a:p>
          <a:p>
            <a:pPr marL="800100" lvl="1" indent="-342900">
              <a:lnSpc>
                <a:spcPct val="200000"/>
              </a:lnSpc>
              <a:buFont typeface="Arial"/>
              <a:buChar char="•"/>
            </a:pPr>
            <a:r>
              <a:rPr lang="en-US" sz="2200">
                <a:ea typeface="+mn-lt"/>
                <a:cs typeface="+mn-lt"/>
              </a:rPr>
              <a:t>Vendors include </a:t>
            </a:r>
            <a:r>
              <a:rPr lang="en-US" sz="2200" b="1">
                <a:ea typeface="+mn-lt"/>
                <a:cs typeface="+mn-lt"/>
              </a:rPr>
              <a:t>NJ EZPASS, PA TURNPIKE, TX NTTA, and CA TCA (Toll Authorities).</a:t>
            </a:r>
            <a:endParaRPr lang="en-US" sz="2200">
              <a:ea typeface="Calibri"/>
              <a:cs typeface="Calibri"/>
            </a:endParaRPr>
          </a:p>
          <a:p>
            <a:pPr marL="1257300" lvl="2" indent="-342900">
              <a:lnSpc>
                <a:spcPct val="200000"/>
              </a:lnSpc>
              <a:buFont typeface="Courier New"/>
              <a:buChar char="o"/>
            </a:pPr>
            <a:r>
              <a:rPr lang="en-US" sz="2200">
                <a:ea typeface="+mn-lt"/>
                <a:cs typeface="+mn-lt"/>
              </a:rPr>
              <a:t>If the file belongs to </a:t>
            </a:r>
            <a:r>
              <a:rPr lang="en-US" sz="2200" b="1">
                <a:ea typeface="+mn-lt"/>
                <a:cs typeface="+mn-lt"/>
              </a:rPr>
              <a:t>NTTA</a:t>
            </a:r>
            <a:r>
              <a:rPr lang="en-US" sz="2200">
                <a:ea typeface="+mn-lt"/>
                <a:cs typeface="+mn-lt"/>
              </a:rPr>
              <a:t>, it can be directly taken up as a settlement.</a:t>
            </a:r>
            <a:endParaRPr lang="en-US" sz="2200">
              <a:ea typeface="Calibri"/>
              <a:cs typeface="Calibri"/>
            </a:endParaRPr>
          </a:p>
          <a:p>
            <a:pPr marL="342900" indent="-342900">
              <a:lnSpc>
                <a:spcPct val="200000"/>
              </a:lnSpc>
              <a:buFont typeface="Arial"/>
              <a:buChar char="•"/>
            </a:pPr>
            <a:r>
              <a:rPr lang="en-US" sz="2200" b="1">
                <a:ea typeface="+mn-lt"/>
                <a:cs typeface="+mn-lt"/>
              </a:rPr>
              <a:t>Step 3: Alternate File Receipt</a:t>
            </a:r>
            <a:endParaRPr lang="en-US" sz="2200">
              <a:ea typeface="Calibri"/>
              <a:cs typeface="Calibri"/>
            </a:endParaRPr>
          </a:p>
          <a:p>
            <a:pPr marL="800100" lvl="1" indent="-342900">
              <a:lnSpc>
                <a:spcPct val="200000"/>
              </a:lnSpc>
              <a:buFont typeface="Arial"/>
              <a:buChar char="•"/>
            </a:pPr>
            <a:r>
              <a:rPr lang="en-US" sz="2200">
                <a:ea typeface="+mn-lt"/>
                <a:cs typeface="+mn-lt"/>
              </a:rPr>
              <a:t>In some scenarios, files for </a:t>
            </a:r>
            <a:r>
              <a:rPr lang="en-US" sz="2200" b="1">
                <a:ea typeface="+mn-lt"/>
                <a:cs typeface="+mn-lt"/>
              </a:rPr>
              <a:t>PA TURNPIKE</a:t>
            </a:r>
            <a:r>
              <a:rPr lang="en-US" sz="2200">
                <a:ea typeface="+mn-lt"/>
                <a:cs typeface="+mn-lt"/>
              </a:rPr>
              <a:t> are received directly via email from the vendor.</a:t>
            </a:r>
            <a:endParaRPr lang="en-US" sz="2200">
              <a:ea typeface="Calibri"/>
              <a:cs typeface="Calibri"/>
            </a:endParaRPr>
          </a:p>
          <a:p>
            <a:pPr marL="342900" indent="-342900">
              <a:lnSpc>
                <a:spcPct val="200000"/>
              </a:lnSpc>
              <a:buFont typeface="Arial"/>
              <a:buChar char="•"/>
            </a:pPr>
            <a:r>
              <a:rPr lang="en-US" sz="2200" b="1">
                <a:ea typeface="+mn-lt"/>
                <a:cs typeface="+mn-lt"/>
              </a:rPr>
              <a:t>Step 4: File Processing</a:t>
            </a:r>
            <a:endParaRPr lang="en-US" sz="2200">
              <a:ea typeface="Calibri"/>
              <a:cs typeface="Calibri"/>
            </a:endParaRPr>
          </a:p>
          <a:p>
            <a:pPr marL="800100" lvl="1" indent="-342900">
              <a:lnSpc>
                <a:spcPct val="200000"/>
              </a:lnSpc>
              <a:buFont typeface="Arial"/>
              <a:buChar char="•"/>
            </a:pPr>
            <a:r>
              <a:rPr lang="en-US" sz="2200">
                <a:ea typeface="+mn-lt"/>
                <a:cs typeface="+mn-lt"/>
              </a:rPr>
              <a:t>The file containing transaction details is collected.</a:t>
            </a:r>
            <a:endParaRPr lang="en-US" sz="2200">
              <a:ea typeface="Calibri"/>
              <a:cs typeface="Calibri"/>
            </a:endParaRPr>
          </a:p>
          <a:p>
            <a:pPr>
              <a:lnSpc>
                <a:spcPct val="150000"/>
              </a:lnSpc>
            </a:pPr>
            <a:endParaRPr lang="en-US" sz="2200" b="1">
              <a:ea typeface="Calibri"/>
              <a:cs typeface="Calibri"/>
            </a:endParaRPr>
          </a:p>
          <a:p>
            <a:pPr lvl="1"/>
            <a:endParaRPr lang="en-US" sz="2000">
              <a:ea typeface="Calibri"/>
              <a:cs typeface="Calibri"/>
            </a:endParaRPr>
          </a:p>
        </p:txBody>
      </p:sp>
    </p:spTree>
    <p:extLst>
      <p:ext uri="{BB962C8B-B14F-4D97-AF65-F5344CB8AC3E}">
        <p14:creationId xmlns:p14="http://schemas.microsoft.com/office/powerpoint/2010/main" val="1084940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E904E-BB77-48C5-0BAC-C96140C7B1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5786B94-7B07-45E8-9228-ED0B6436969F}"/>
              </a:ext>
            </a:extLst>
          </p:cNvPr>
          <p:cNvSpPr txBox="1"/>
          <p:nvPr/>
        </p:nvSpPr>
        <p:spPr>
          <a:xfrm>
            <a:off x="517461" y="868744"/>
            <a:ext cx="12480467"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150000"/>
              </a:lnSpc>
            </a:pPr>
            <a:endParaRPr lang="en-US" sz="2000" b="1" u="sng">
              <a:ea typeface="Calibri"/>
              <a:cs typeface="Calibri"/>
            </a:endParaRPr>
          </a:p>
          <a:p>
            <a:pPr marL="342900" indent="-342900">
              <a:lnSpc>
                <a:spcPct val="200000"/>
              </a:lnSpc>
              <a:buFont typeface="Arial"/>
              <a:buChar char="•"/>
            </a:pPr>
            <a:r>
              <a:rPr lang="en-US" sz="2200" b="1">
                <a:ea typeface="+mn-lt"/>
                <a:cs typeface="+mn-lt"/>
              </a:rPr>
              <a:t>Step 5: Request Submission</a:t>
            </a:r>
            <a:endParaRPr lang="en-US" sz="2200">
              <a:ea typeface="Calibri"/>
              <a:cs typeface="Calibri"/>
            </a:endParaRPr>
          </a:p>
          <a:p>
            <a:pPr marL="800100" lvl="1" indent="-342900">
              <a:lnSpc>
                <a:spcPct val="200000"/>
              </a:lnSpc>
              <a:buFont typeface="Arial"/>
              <a:buChar char="•"/>
            </a:pPr>
            <a:r>
              <a:rPr lang="en-US" sz="2200">
                <a:ea typeface="+mn-lt"/>
                <a:cs typeface="+mn-lt"/>
              </a:rPr>
              <a:t>A request is raised to the respective settlement vendor with the following details:</a:t>
            </a:r>
            <a:endParaRPr lang="en-US" sz="2200">
              <a:ea typeface="Calibri"/>
              <a:cs typeface="Calibri"/>
            </a:endParaRPr>
          </a:p>
          <a:p>
            <a:pPr marL="1257300" lvl="2" indent="-342900">
              <a:lnSpc>
                <a:spcPct val="200000"/>
              </a:lnSpc>
              <a:buFont typeface="Courier New"/>
              <a:buChar char="o"/>
            </a:pPr>
            <a:r>
              <a:rPr lang="en-US" sz="2200" b="1">
                <a:ea typeface="+mn-lt"/>
                <a:cs typeface="+mn-lt"/>
              </a:rPr>
              <a:t>Account Number / Zip Cash Account ID</a:t>
            </a:r>
            <a:endParaRPr lang="en-US" sz="2200">
              <a:ea typeface="Calibri"/>
              <a:cs typeface="Calibri"/>
            </a:endParaRPr>
          </a:p>
          <a:p>
            <a:pPr marL="1257300" lvl="2" indent="-342900">
              <a:lnSpc>
                <a:spcPct val="200000"/>
              </a:lnSpc>
              <a:buFont typeface="Courier New"/>
              <a:buChar char="o"/>
            </a:pPr>
            <a:r>
              <a:rPr lang="en-US" sz="2200" b="1">
                <a:ea typeface="+mn-lt"/>
                <a:cs typeface="+mn-lt"/>
              </a:rPr>
              <a:t>Plate Number</a:t>
            </a:r>
            <a:endParaRPr lang="en-US" sz="2200">
              <a:ea typeface="Calibri"/>
              <a:cs typeface="Calibri"/>
            </a:endParaRPr>
          </a:p>
          <a:p>
            <a:pPr marL="1257300" lvl="2" indent="-342900">
              <a:lnSpc>
                <a:spcPct val="200000"/>
              </a:lnSpc>
              <a:buFont typeface="Courier New"/>
              <a:buChar char="o"/>
            </a:pPr>
            <a:r>
              <a:rPr lang="en-US" sz="2200" b="1">
                <a:ea typeface="+mn-lt"/>
                <a:cs typeface="+mn-lt"/>
              </a:rPr>
              <a:t>State</a:t>
            </a:r>
            <a:endParaRPr lang="en-US" sz="2200">
              <a:ea typeface="Calibri"/>
              <a:cs typeface="Calibri"/>
            </a:endParaRPr>
          </a:p>
          <a:p>
            <a:pPr lvl="1"/>
            <a:endParaRPr lang="en-US" sz="2000">
              <a:ea typeface="Calibri"/>
              <a:cs typeface="Calibri"/>
            </a:endParaRPr>
          </a:p>
        </p:txBody>
      </p:sp>
    </p:spTree>
    <p:extLst>
      <p:ext uri="{BB962C8B-B14F-4D97-AF65-F5344CB8AC3E}">
        <p14:creationId xmlns:p14="http://schemas.microsoft.com/office/powerpoint/2010/main" val="2555444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56E19-C3E7-966A-E7E2-C38445CD60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6B900AB-1269-190D-B101-5D62478FF547}"/>
              </a:ext>
            </a:extLst>
          </p:cNvPr>
          <p:cNvSpPr txBox="1"/>
          <p:nvPr/>
        </p:nvSpPr>
        <p:spPr>
          <a:xfrm>
            <a:off x="127319" y="7253"/>
            <a:ext cx="622827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a:cs typeface="Calibri"/>
              </a:rPr>
              <a:t>2.Settlement Analysis:</a:t>
            </a:r>
            <a:endParaRPr lang="en-US" sz="3200" err="1"/>
          </a:p>
        </p:txBody>
      </p:sp>
      <p:sp>
        <p:nvSpPr>
          <p:cNvPr id="3" name="TextBox 2">
            <a:extLst>
              <a:ext uri="{FF2B5EF4-FFF2-40B4-BE49-F238E27FC236}">
                <a16:creationId xmlns:a16="http://schemas.microsoft.com/office/drawing/2014/main" id="{11274BDA-4A86-2120-59D1-3EDE7EA71D6B}"/>
              </a:ext>
            </a:extLst>
          </p:cNvPr>
          <p:cNvSpPr txBox="1"/>
          <p:nvPr/>
        </p:nvSpPr>
        <p:spPr>
          <a:xfrm>
            <a:off x="299845" y="593849"/>
            <a:ext cx="12870611" cy="66002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200000"/>
              </a:lnSpc>
            </a:pPr>
            <a:r>
              <a:rPr lang="en-US" sz="2200" b="1">
                <a:ea typeface="+mn-lt"/>
                <a:cs typeface="+mn-lt"/>
              </a:rPr>
              <a:t>Step 1:</a:t>
            </a:r>
            <a:r>
              <a:rPr lang="en-US" sz="2200">
                <a:ea typeface="+mn-lt"/>
                <a:cs typeface="+mn-lt"/>
              </a:rPr>
              <a:t> File Formatting &amp; Loading</a:t>
            </a:r>
            <a:br>
              <a:rPr lang="en-US" sz="2200">
                <a:ea typeface="+mn-lt"/>
                <a:cs typeface="+mn-lt"/>
              </a:rPr>
            </a:br>
            <a:r>
              <a:rPr lang="en-US" sz="2200">
                <a:ea typeface="+mn-lt"/>
                <a:cs typeface="+mn-lt"/>
              </a:rPr>
              <a:t> The received file is first formatted into the required structure and then loaded into the system. Successful loading ensures that the data is ready for validation.</a:t>
            </a:r>
            <a:endParaRPr lang="en-US" sz="2200">
              <a:ea typeface="Calibri" panose="020F0502020204030204"/>
              <a:cs typeface="Calibri" panose="020F0502020204030204"/>
            </a:endParaRPr>
          </a:p>
          <a:p>
            <a:pPr>
              <a:lnSpc>
                <a:spcPct val="200000"/>
              </a:lnSpc>
            </a:pPr>
            <a:r>
              <a:rPr lang="en-US" sz="2200" b="1">
                <a:ea typeface="+mn-lt"/>
                <a:cs typeface="+mn-lt"/>
              </a:rPr>
              <a:t>Step 2:</a:t>
            </a:r>
            <a:r>
              <a:rPr lang="en-US" sz="2200">
                <a:ea typeface="+mn-lt"/>
                <a:cs typeface="+mn-lt"/>
              </a:rPr>
              <a:t> Data Validation</a:t>
            </a:r>
            <a:br>
              <a:rPr lang="en-US" sz="2200">
                <a:ea typeface="+mn-lt"/>
                <a:cs typeface="+mn-lt"/>
              </a:rPr>
            </a:br>
            <a:r>
              <a:rPr lang="en-US" sz="2200">
                <a:ea typeface="+mn-lt"/>
                <a:cs typeface="+mn-lt"/>
              </a:rPr>
              <a:t> Once the file is loaded, the system validates the data to check for duplicate transactions. This validation is carried out using the following criteria: Plate, State, Date, Time, and Location.</a:t>
            </a:r>
            <a:endParaRPr lang="en-US" sz="2200">
              <a:ea typeface="Calibri" panose="020F0502020204030204"/>
              <a:cs typeface="Calibri" panose="020F0502020204030204"/>
            </a:endParaRPr>
          </a:p>
          <a:p>
            <a:pPr>
              <a:lnSpc>
                <a:spcPct val="200000"/>
              </a:lnSpc>
            </a:pPr>
            <a:r>
              <a:rPr lang="en-US" sz="2200" b="1">
                <a:ea typeface="+mn-lt"/>
                <a:cs typeface="+mn-lt"/>
              </a:rPr>
              <a:t>Step 3:</a:t>
            </a:r>
            <a:r>
              <a:rPr lang="en-US" sz="2200">
                <a:ea typeface="+mn-lt"/>
                <a:cs typeface="+mn-lt"/>
              </a:rPr>
              <a:t> Report Generation</a:t>
            </a:r>
            <a:br>
              <a:rPr lang="en-US" sz="2200">
                <a:ea typeface="+mn-lt"/>
                <a:cs typeface="+mn-lt"/>
              </a:rPr>
            </a:br>
            <a:r>
              <a:rPr lang="en-US" sz="2200">
                <a:ea typeface="+mn-lt"/>
                <a:cs typeface="+mn-lt"/>
              </a:rPr>
              <a:t> After validation, a report is generated to capture the status of each transaction. This report highlights duplicates, valid records, and exceptions.</a:t>
            </a:r>
            <a:endParaRPr lang="en-US" sz="2200">
              <a:ea typeface="Calibri" panose="020F0502020204030204"/>
              <a:cs typeface="Calibri" panose="020F0502020204030204"/>
            </a:endParaRPr>
          </a:p>
          <a:p>
            <a:pPr>
              <a:lnSpc>
                <a:spcPct val="150000"/>
              </a:lnSpc>
            </a:pPr>
            <a:endParaRPr lang="en-US" sz="2000" u="sng">
              <a:ea typeface="Calibri"/>
              <a:cs typeface="Calibri"/>
            </a:endParaRPr>
          </a:p>
        </p:txBody>
      </p:sp>
    </p:spTree>
    <p:extLst>
      <p:ext uri="{BB962C8B-B14F-4D97-AF65-F5344CB8AC3E}">
        <p14:creationId xmlns:p14="http://schemas.microsoft.com/office/powerpoint/2010/main" val="29178840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78514-3867-34AB-5594-184C8F3D8E4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737C53-56BD-703D-5275-3F3308256B16}"/>
              </a:ext>
            </a:extLst>
          </p:cNvPr>
          <p:cNvSpPr txBox="1"/>
          <p:nvPr/>
        </p:nvSpPr>
        <p:spPr>
          <a:xfrm>
            <a:off x="127319" y="7253"/>
            <a:ext cx="622827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a:cs typeface="Calibri"/>
              </a:rPr>
              <a:t>2.Settlement Analysis:</a:t>
            </a:r>
            <a:endParaRPr lang="en-US" sz="3200" err="1"/>
          </a:p>
        </p:txBody>
      </p:sp>
      <p:sp>
        <p:nvSpPr>
          <p:cNvPr id="3" name="TextBox 2">
            <a:extLst>
              <a:ext uri="{FF2B5EF4-FFF2-40B4-BE49-F238E27FC236}">
                <a16:creationId xmlns:a16="http://schemas.microsoft.com/office/drawing/2014/main" id="{66B0D6FE-D89D-79F2-2A6D-10E99B050F4B}"/>
              </a:ext>
            </a:extLst>
          </p:cNvPr>
          <p:cNvSpPr txBox="1"/>
          <p:nvPr/>
        </p:nvSpPr>
        <p:spPr>
          <a:xfrm>
            <a:off x="299845" y="593849"/>
            <a:ext cx="12870611" cy="66310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200000"/>
              </a:lnSpc>
            </a:pPr>
            <a:r>
              <a:rPr lang="en-US" sz="2200" b="1">
                <a:ea typeface="+mn-lt"/>
                <a:cs typeface="+mn-lt"/>
              </a:rPr>
              <a:t>Step 4:</a:t>
            </a:r>
            <a:r>
              <a:rPr lang="en-US" sz="2200">
                <a:ea typeface="+mn-lt"/>
                <a:cs typeface="+mn-lt"/>
              </a:rPr>
              <a:t> Already Billed Transactions</a:t>
            </a:r>
            <a:br>
              <a:rPr lang="en-US" sz="2200">
                <a:ea typeface="+mn-lt"/>
                <a:cs typeface="+mn-lt"/>
              </a:rPr>
            </a:br>
            <a:r>
              <a:rPr lang="en-US" sz="2200">
                <a:ea typeface="+mn-lt"/>
                <a:cs typeface="+mn-lt"/>
              </a:rPr>
              <a:t>  If any transaction is identified as already billed, a request is raised to the vendor to remove those records from further processing.</a:t>
            </a:r>
            <a:endParaRPr lang="en-US" sz="2200">
              <a:ea typeface="Calibri" panose="020F0502020204030204"/>
              <a:cs typeface="Calibri" panose="020F0502020204030204"/>
            </a:endParaRPr>
          </a:p>
          <a:p>
            <a:pPr>
              <a:lnSpc>
                <a:spcPct val="200000"/>
              </a:lnSpc>
            </a:pPr>
            <a:r>
              <a:rPr lang="en-US" sz="2200" b="1">
                <a:ea typeface="+mn-lt"/>
                <a:cs typeface="+mn-lt"/>
              </a:rPr>
              <a:t>Step 5: </a:t>
            </a:r>
            <a:r>
              <a:rPr lang="en-US" sz="2200">
                <a:ea typeface="+mn-lt"/>
                <a:cs typeface="+mn-lt"/>
              </a:rPr>
              <a:t>Transactions That Need Payment</a:t>
            </a:r>
            <a:br>
              <a:rPr lang="en-US" sz="2200">
                <a:ea typeface="+mn-lt"/>
                <a:cs typeface="+mn-lt"/>
              </a:rPr>
            </a:br>
            <a:r>
              <a:rPr lang="en-US" sz="2200">
                <a:ea typeface="+mn-lt"/>
                <a:cs typeface="+mn-lt"/>
              </a:rPr>
              <a:t> For records that require payment, the system checks the plate status to determine the next step.</a:t>
            </a:r>
            <a:endParaRPr lang="en-US" sz="2200">
              <a:ea typeface="Calibri" panose="020F0502020204030204"/>
              <a:cs typeface="Calibri" panose="020F0502020204030204"/>
            </a:endParaRPr>
          </a:p>
          <a:p>
            <a:pPr marL="285750" indent="-285750">
              <a:lnSpc>
                <a:spcPct val="200000"/>
              </a:lnSpc>
              <a:buFont typeface="Arial,Sans-Serif"/>
              <a:buChar char="•"/>
            </a:pPr>
            <a:r>
              <a:rPr lang="en-US" sz="2200">
                <a:ea typeface="+mn-lt"/>
                <a:cs typeface="+mn-lt"/>
              </a:rPr>
              <a:t>If the plate is valid, the transaction is moved to the Payment process.</a:t>
            </a:r>
            <a:endParaRPr lang="en-US" sz="2200">
              <a:ea typeface="Calibri" panose="020F0502020204030204"/>
              <a:cs typeface="Calibri" panose="020F0502020204030204"/>
            </a:endParaRPr>
          </a:p>
          <a:p>
            <a:pPr marL="285750" indent="-285750">
              <a:lnSpc>
                <a:spcPct val="200000"/>
              </a:lnSpc>
              <a:buFont typeface="Arial,Sans-Serif"/>
              <a:buChar char="•"/>
            </a:pPr>
            <a:r>
              <a:rPr lang="en-US" sz="2200">
                <a:ea typeface="+mn-lt"/>
                <a:cs typeface="+mn-lt"/>
              </a:rPr>
              <a:t>If the plate is not valid, the transaction is moved to the Dispute process.</a:t>
            </a:r>
          </a:p>
          <a:p>
            <a:pPr>
              <a:lnSpc>
                <a:spcPct val="150000"/>
              </a:lnSpc>
            </a:pPr>
            <a:endParaRPr lang="en-US" sz="2000">
              <a:ea typeface="+mn-lt"/>
              <a:cs typeface="+mn-lt"/>
            </a:endParaRPr>
          </a:p>
          <a:p>
            <a:pPr>
              <a:lnSpc>
                <a:spcPct val="150000"/>
              </a:lnSpc>
            </a:pPr>
            <a:endParaRPr lang="en-US" sz="2000">
              <a:ea typeface="Calibri" panose="020F0502020204030204"/>
              <a:cs typeface="Calibri" panose="020F0502020204030204"/>
            </a:endParaRPr>
          </a:p>
          <a:p>
            <a:pPr>
              <a:lnSpc>
                <a:spcPct val="150000"/>
              </a:lnSpc>
            </a:pPr>
            <a:endParaRPr lang="en-US" sz="2000" u="sng">
              <a:ea typeface="Calibri"/>
              <a:cs typeface="Calibri"/>
            </a:endParaRPr>
          </a:p>
          <a:p>
            <a:pPr>
              <a:lnSpc>
                <a:spcPct val="150000"/>
              </a:lnSpc>
            </a:pPr>
            <a:endParaRPr lang="en-US" sz="2000" u="sng">
              <a:ea typeface="Calibri"/>
              <a:cs typeface="Calibri"/>
            </a:endParaRPr>
          </a:p>
        </p:txBody>
      </p:sp>
    </p:spTree>
    <p:extLst>
      <p:ext uri="{BB962C8B-B14F-4D97-AF65-F5344CB8AC3E}">
        <p14:creationId xmlns:p14="http://schemas.microsoft.com/office/powerpoint/2010/main" val="33375562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F057EF-4FD4-01B5-32E7-FA80642DFEA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B3FE97-A347-E117-1E25-18F712220617}"/>
              </a:ext>
            </a:extLst>
          </p:cNvPr>
          <p:cNvSpPr>
            <a:spLocks noGrp="1"/>
          </p:cNvSpPr>
          <p:nvPr>
            <p:ph idx="1"/>
          </p:nvPr>
        </p:nvSpPr>
        <p:spPr>
          <a:xfrm>
            <a:off x="873702" y="1456481"/>
            <a:ext cx="12604203" cy="6691854"/>
          </a:xfrm>
        </p:spPr>
        <p:txBody>
          <a:bodyPr lIns="91440" tIns="45720" rIns="91440" bIns="45720" anchor="t">
            <a:normAutofit/>
          </a:bodyPr>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indent="0">
              <a:buNone/>
            </a:pPr>
            <a:r>
              <a:rPr lang="en-US" sz="2000" b="1">
                <a:latin typeface="Calibri"/>
                <a:ea typeface="Calibri"/>
                <a:cs typeface="Times New Roman"/>
              </a:rPr>
              <a:t>1. Transactional Approval</a:t>
            </a:r>
          </a:p>
          <a:p>
            <a:pPr indent="0">
              <a:buNone/>
            </a:pPr>
            <a:endParaRPr lang="en-US" sz="2000" b="1">
              <a:latin typeface="Calibri"/>
              <a:ea typeface="Calibri"/>
              <a:cs typeface="Times New Roman"/>
            </a:endParaRPr>
          </a:p>
          <a:p>
            <a:r>
              <a:rPr lang="en-US" sz="2000">
                <a:latin typeface="Calibri"/>
                <a:ea typeface="Calibri"/>
                <a:cs typeface="Times New Roman"/>
              </a:rPr>
              <a:t>When the SLA terms for billing are not met, we must obtain approval from the Customer .</a:t>
            </a:r>
          </a:p>
          <a:p>
            <a:r>
              <a:rPr lang="en-US" sz="2000" b="1">
                <a:latin typeface="Calibri"/>
                <a:ea typeface="Calibri"/>
                <a:cs typeface="Times New Roman"/>
              </a:rPr>
              <a:t>Example:</a:t>
            </a:r>
            <a:r>
              <a:rPr lang="en-US" sz="2000">
                <a:latin typeface="Calibri"/>
                <a:ea typeface="Calibri"/>
                <a:cs typeface="Times New Roman"/>
              </a:rPr>
              <a:t> For Penske, all billings and payments must be completed within </a:t>
            </a:r>
            <a:r>
              <a:rPr lang="en-US" sz="2000" b="1">
                <a:latin typeface="Calibri"/>
                <a:ea typeface="Calibri"/>
                <a:cs typeface="Times New Roman"/>
              </a:rPr>
              <a:t>18 months</a:t>
            </a:r>
            <a:r>
              <a:rPr lang="en-US" sz="2000">
                <a:latin typeface="Calibri"/>
                <a:ea typeface="Calibri"/>
                <a:cs typeface="Times New Roman"/>
              </a:rPr>
              <a:t>.</a:t>
            </a:r>
          </a:p>
          <a:p>
            <a:endParaRPr lang="en-US" sz="2000">
              <a:latin typeface="Calibri"/>
              <a:ea typeface="Calibri"/>
              <a:cs typeface="Times New Roman"/>
            </a:endParaRPr>
          </a:p>
          <a:p>
            <a:r>
              <a:rPr lang="en-US" sz="2000" b="1">
                <a:latin typeface="Calibri"/>
                <a:ea typeface="Calibri"/>
                <a:cs typeface="Times New Roman"/>
              </a:rPr>
              <a:t>Possible Outcomes:</a:t>
            </a:r>
            <a:endParaRPr lang="en-US" sz="2000">
              <a:latin typeface="Calibri"/>
              <a:ea typeface="Calibri"/>
              <a:cs typeface="Times New Roman"/>
            </a:endParaRPr>
          </a:p>
          <a:p>
            <a:pPr marL="262890" lvl="1" indent="0">
              <a:buNone/>
            </a:pPr>
            <a:r>
              <a:rPr lang="en-US" sz="2000" b="1">
                <a:latin typeface="Calibri"/>
                <a:ea typeface="Calibri"/>
                <a:cs typeface="Times New Roman"/>
              </a:rPr>
              <a:t>Accepted</a:t>
            </a:r>
            <a:r>
              <a:rPr lang="en-US" sz="2000">
                <a:latin typeface="Calibri"/>
                <a:ea typeface="Calibri"/>
                <a:cs typeface="Times New Roman"/>
              </a:rPr>
              <a:t> → Customer has approved the transaction and it can move forward.</a:t>
            </a:r>
          </a:p>
          <a:p>
            <a:pPr marL="262890" lvl="1" indent="0">
              <a:buNone/>
            </a:pPr>
            <a:r>
              <a:rPr lang="en-US" sz="2000" b="1">
                <a:latin typeface="Calibri"/>
                <a:ea typeface="Calibri"/>
                <a:cs typeface="Times New Roman"/>
              </a:rPr>
              <a:t>Rejected</a:t>
            </a:r>
            <a:r>
              <a:rPr lang="en-US" sz="2000">
                <a:latin typeface="Calibri"/>
                <a:ea typeface="Calibri"/>
                <a:cs typeface="Times New Roman"/>
              </a:rPr>
              <a:t> → Customer has rejected the transaction.</a:t>
            </a:r>
          </a:p>
          <a:p>
            <a:pPr marL="262890" lvl="1" indent="0">
              <a:buNone/>
            </a:pPr>
            <a:endParaRPr lang="en-US" sz="2000">
              <a:latin typeface="Calibri"/>
              <a:ea typeface="Calibri"/>
              <a:cs typeface="Times New Roman"/>
            </a:endParaRPr>
          </a:p>
          <a:p>
            <a:pPr indent="0">
              <a:buNone/>
            </a:pPr>
            <a:r>
              <a:rPr lang="en-US" sz="2000" b="1">
                <a:latin typeface="Calibri"/>
                <a:ea typeface="Calibri"/>
                <a:cs typeface="Times New Roman"/>
              </a:rPr>
              <a:t>2. Plate Approval</a:t>
            </a:r>
            <a:endParaRPr lang="en-US" sz="2000">
              <a:latin typeface="Calibri"/>
              <a:ea typeface="Calibri"/>
              <a:cs typeface="Times New Roman"/>
            </a:endParaRPr>
          </a:p>
          <a:p>
            <a:pPr marL="285750" indent="-285750">
              <a:buFont typeface="Arial"/>
              <a:buChar char="•"/>
            </a:pPr>
            <a:r>
              <a:rPr lang="en-US" sz="2000">
                <a:latin typeface="Calibri"/>
                <a:ea typeface="Calibri"/>
                <a:cs typeface="Times New Roman"/>
              </a:rPr>
              <a:t>If a plate is found to be </a:t>
            </a:r>
            <a:r>
              <a:rPr lang="en-US" sz="2000" b="1">
                <a:latin typeface="Calibri"/>
                <a:ea typeface="Calibri"/>
                <a:cs typeface="Times New Roman"/>
              </a:rPr>
              <a:t>inactive</a:t>
            </a:r>
            <a:r>
              <a:rPr lang="en-US" sz="2000">
                <a:latin typeface="Calibri"/>
                <a:ea typeface="Calibri"/>
                <a:cs typeface="Times New Roman"/>
              </a:rPr>
              <a:t> or flagged as </a:t>
            </a:r>
            <a:r>
              <a:rPr lang="en-US" sz="2000" b="1">
                <a:latin typeface="Calibri"/>
                <a:ea typeface="Calibri"/>
                <a:cs typeface="Times New Roman"/>
              </a:rPr>
              <a:t>PNF (Plate Not Found)</a:t>
            </a:r>
            <a:r>
              <a:rPr lang="en-US" sz="2000">
                <a:latin typeface="Calibri"/>
                <a:ea typeface="Calibri"/>
                <a:cs typeface="Times New Roman"/>
              </a:rPr>
              <a:t>, </a:t>
            </a:r>
            <a:r>
              <a:rPr lang="en-US" sz="2000" err="1">
                <a:latin typeface="Calibri"/>
                <a:ea typeface="Calibri"/>
                <a:cs typeface="Times New Roman"/>
              </a:rPr>
              <a:t>wewill</a:t>
            </a:r>
            <a:r>
              <a:rPr lang="en-US" sz="2000">
                <a:latin typeface="Calibri"/>
                <a:ea typeface="Calibri"/>
                <a:cs typeface="Times New Roman"/>
              </a:rPr>
              <a:t> reach out to the customer to confirm its current status.</a:t>
            </a:r>
          </a:p>
          <a:p>
            <a:pPr marL="285750" indent="-285750">
              <a:buFont typeface="Arial"/>
              <a:buChar char="•"/>
            </a:pPr>
            <a:endParaRPr lang="en-US" sz="2000">
              <a:latin typeface="Calibri"/>
              <a:ea typeface="Calibri"/>
              <a:cs typeface="Times New Roman"/>
            </a:endParaRPr>
          </a:p>
          <a:p>
            <a:pPr marL="285750" indent="-285750">
              <a:buFont typeface="Arial"/>
              <a:buChar char="•"/>
            </a:pPr>
            <a:r>
              <a:rPr lang="en-US" sz="2000" b="1">
                <a:latin typeface="Calibri"/>
                <a:ea typeface="Calibri"/>
                <a:cs typeface="Times New Roman"/>
              </a:rPr>
              <a:t>Possible Outcomes:</a:t>
            </a:r>
            <a:endParaRPr lang="en-US" sz="2000">
              <a:latin typeface="Calibri"/>
              <a:ea typeface="Calibri"/>
              <a:cs typeface="Times New Roman"/>
            </a:endParaRPr>
          </a:p>
          <a:p>
            <a:pPr marL="262890" lvl="1" indent="0">
              <a:buNone/>
            </a:pPr>
            <a:r>
              <a:rPr lang="en-US" sz="2000" b="1">
                <a:latin typeface="Calibri"/>
                <a:ea typeface="Calibri"/>
                <a:cs typeface="Times New Roman"/>
              </a:rPr>
              <a:t>Accepted</a:t>
            </a:r>
            <a:r>
              <a:rPr lang="en-US" sz="2000">
                <a:latin typeface="Calibri"/>
                <a:ea typeface="Calibri"/>
                <a:cs typeface="Times New Roman"/>
              </a:rPr>
              <a:t> → Customer has confirmed the plate as valid.</a:t>
            </a:r>
          </a:p>
          <a:p>
            <a:pPr marL="262890" lvl="1" indent="0">
              <a:buNone/>
            </a:pPr>
            <a:r>
              <a:rPr lang="en-US" sz="2000" b="1">
                <a:latin typeface="Calibri"/>
                <a:ea typeface="Calibri"/>
                <a:cs typeface="Times New Roman"/>
              </a:rPr>
              <a:t>Rejected</a:t>
            </a:r>
            <a:r>
              <a:rPr lang="en-US" sz="2000">
                <a:latin typeface="Calibri"/>
                <a:ea typeface="Calibri"/>
                <a:cs typeface="Times New Roman"/>
              </a:rPr>
              <a:t> → Customer has rejected the plate as invalid.</a:t>
            </a:r>
            <a:endParaRPr lang="en-US" sz="2000">
              <a:latin typeface="Calibri"/>
            </a:endParaRPr>
          </a:p>
        </p:txBody>
      </p:sp>
      <p:sp>
        <p:nvSpPr>
          <p:cNvPr id="6" name="TextBox 5">
            <a:extLst>
              <a:ext uri="{FF2B5EF4-FFF2-40B4-BE49-F238E27FC236}">
                <a16:creationId xmlns:a16="http://schemas.microsoft.com/office/drawing/2014/main" id="{D423D430-A245-106A-8034-F4C19AF8B2BF}"/>
              </a:ext>
            </a:extLst>
          </p:cNvPr>
          <p:cNvSpPr txBox="1"/>
          <p:nvPr/>
        </p:nvSpPr>
        <p:spPr>
          <a:xfrm>
            <a:off x="878996" y="483125"/>
            <a:ext cx="619979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latin typeface="Calibri"/>
                <a:ea typeface="Calibri"/>
                <a:cs typeface="Helvetica"/>
              </a:rPr>
              <a:t>3.Settlement Customer Approval</a:t>
            </a:r>
            <a:endParaRPr lang="en-US" sz="3200">
              <a:latin typeface="Calibri"/>
              <a:ea typeface="Calibri"/>
              <a:cs typeface="Times New Roman"/>
            </a:endParaRPr>
          </a:p>
        </p:txBody>
      </p:sp>
    </p:spTree>
    <p:extLst>
      <p:ext uri="{BB962C8B-B14F-4D97-AF65-F5344CB8AC3E}">
        <p14:creationId xmlns:p14="http://schemas.microsoft.com/office/powerpoint/2010/main" val="18394789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3E02D-F559-0205-5932-A53E5D6DB204}"/>
            </a:ext>
          </a:extLst>
        </p:cNvPr>
        <p:cNvGrpSpPr/>
        <p:nvPr/>
      </p:nvGrpSpPr>
      <p:grpSpPr>
        <a:xfrm>
          <a:off x="0" y="0"/>
          <a:ext cx="0" cy="0"/>
          <a:chOff x="0" y="0"/>
          <a:chExt cx="0" cy="0"/>
        </a:xfrm>
      </p:grpSpPr>
      <p:pic>
        <p:nvPicPr>
          <p:cNvPr id="4" name="Content Placeholder 3" descr="A diagram of a process&#10;&#10;AI-generated content may be incorrect.">
            <a:extLst>
              <a:ext uri="{FF2B5EF4-FFF2-40B4-BE49-F238E27FC236}">
                <a16:creationId xmlns:a16="http://schemas.microsoft.com/office/drawing/2014/main" id="{0FB298F9-2362-E049-52BE-C22239132034}"/>
              </a:ext>
            </a:extLst>
          </p:cNvPr>
          <p:cNvPicPr>
            <a:picLocks noGrp="1" noChangeAspect="1"/>
          </p:cNvPicPr>
          <p:nvPr>
            <p:ph idx="1"/>
          </p:nvPr>
        </p:nvPicPr>
        <p:blipFill>
          <a:blip r:embed="rId2"/>
          <a:stretch>
            <a:fillRect/>
          </a:stretch>
        </p:blipFill>
        <p:spPr>
          <a:xfrm>
            <a:off x="0" y="0"/>
            <a:ext cx="9525" cy="9525"/>
          </a:xfrm>
        </p:spPr>
      </p:pic>
      <p:pic>
        <p:nvPicPr>
          <p:cNvPr id="5" name="Picture 4" descr="A diagram of a process&#10;&#10;AI-generated content may be incorrect.">
            <a:extLst>
              <a:ext uri="{FF2B5EF4-FFF2-40B4-BE49-F238E27FC236}">
                <a16:creationId xmlns:a16="http://schemas.microsoft.com/office/drawing/2014/main" id="{A1DCD380-C164-5208-0392-EFF7D6CF4828}"/>
              </a:ext>
            </a:extLst>
          </p:cNvPr>
          <p:cNvPicPr>
            <a:picLocks noChangeAspect="1"/>
          </p:cNvPicPr>
          <p:nvPr/>
        </p:nvPicPr>
        <p:blipFill>
          <a:blip r:embed="rId2"/>
          <a:stretch>
            <a:fillRect/>
          </a:stretch>
        </p:blipFill>
        <p:spPr>
          <a:xfrm>
            <a:off x="1518095" y="1543241"/>
            <a:ext cx="10862691" cy="6581775"/>
          </a:xfrm>
          <a:prstGeom prst="rect">
            <a:avLst/>
          </a:prstGeom>
        </p:spPr>
      </p:pic>
      <p:sp>
        <p:nvSpPr>
          <p:cNvPr id="6" name="TextBox 5">
            <a:extLst>
              <a:ext uri="{FF2B5EF4-FFF2-40B4-BE49-F238E27FC236}">
                <a16:creationId xmlns:a16="http://schemas.microsoft.com/office/drawing/2014/main" id="{0C3813D5-BACD-C235-8F30-624A7ECF5600}"/>
              </a:ext>
            </a:extLst>
          </p:cNvPr>
          <p:cNvSpPr txBox="1"/>
          <p:nvPr/>
        </p:nvSpPr>
        <p:spPr>
          <a:xfrm>
            <a:off x="1115568" y="569976"/>
            <a:ext cx="672998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t>Settlement Customer Approval</a:t>
            </a:r>
            <a:r>
              <a:rPr lang="en-US" sz="3200">
                <a:ea typeface="Calibri"/>
                <a:cs typeface="Calibri"/>
              </a:rPr>
              <a:t>​</a:t>
            </a:r>
            <a:endParaRPr lang="en-US"/>
          </a:p>
        </p:txBody>
      </p:sp>
    </p:spTree>
    <p:extLst>
      <p:ext uri="{BB962C8B-B14F-4D97-AF65-F5344CB8AC3E}">
        <p14:creationId xmlns:p14="http://schemas.microsoft.com/office/powerpoint/2010/main" val="6224922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8D9F61-4F37-466E-645B-A5C27B15BD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AD2303-C11B-6805-2CF5-CFA09674B2AC}"/>
              </a:ext>
            </a:extLst>
          </p:cNvPr>
          <p:cNvSpPr>
            <a:spLocks noGrp="1"/>
          </p:cNvSpPr>
          <p:nvPr>
            <p:ph type="title"/>
          </p:nvPr>
        </p:nvSpPr>
        <p:spPr>
          <a:xfrm>
            <a:off x="1388221" y="765315"/>
            <a:ext cx="11866195" cy="1080157"/>
          </a:xfrm>
        </p:spPr>
        <p:txBody>
          <a:bodyPr anchor="t">
            <a:normAutofit/>
          </a:bodyPr>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r>
              <a:rPr lang="en-US" sz="4800">
                <a:solidFill>
                  <a:schemeClr val="bg1"/>
                </a:solidFill>
              </a:rPr>
              <a:t>Settlement Dispute</a:t>
            </a:r>
          </a:p>
        </p:txBody>
      </p:sp>
      <p:sp>
        <p:nvSpPr>
          <p:cNvPr id="3" name="Content Placeholder 2">
            <a:extLst>
              <a:ext uri="{FF2B5EF4-FFF2-40B4-BE49-F238E27FC236}">
                <a16:creationId xmlns:a16="http://schemas.microsoft.com/office/drawing/2014/main" id="{A8DB5CD4-1A31-AE58-4982-BA5810F2DCB6}"/>
              </a:ext>
            </a:extLst>
          </p:cNvPr>
          <p:cNvSpPr>
            <a:spLocks noGrp="1"/>
          </p:cNvSpPr>
          <p:nvPr>
            <p:ph idx="1"/>
          </p:nvPr>
        </p:nvSpPr>
        <p:spPr>
          <a:xfrm>
            <a:off x="823838" y="1146561"/>
            <a:ext cx="12693411" cy="7082147"/>
          </a:xfrm>
        </p:spPr>
        <p:txBody>
          <a:bodyPr lIns="91440" tIns="45720" rIns="91440" bIns="45720" anchor="t">
            <a:noAutofit/>
          </a:bodyPr>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indent="0">
              <a:buNone/>
            </a:pPr>
            <a:r>
              <a:rPr lang="en-US" sz="2000" b="1">
                <a:latin typeface="Calibri"/>
                <a:ea typeface="Calibri"/>
                <a:cs typeface="Times New Roman"/>
              </a:rPr>
              <a:t>Customer Contact</a:t>
            </a:r>
          </a:p>
          <a:p>
            <a:r>
              <a:rPr lang="en-US" sz="2000">
                <a:latin typeface="Calibri"/>
                <a:ea typeface="Calibri"/>
                <a:cs typeface="Times New Roman"/>
              </a:rPr>
              <a:t>If a vehicle linked to a plate has been sold, we will contact the customer to obtain the </a:t>
            </a:r>
            <a:r>
              <a:rPr lang="en-US" sz="2000" b="1">
                <a:latin typeface="Calibri"/>
                <a:ea typeface="Calibri"/>
                <a:cs typeface="Times New Roman"/>
              </a:rPr>
              <a:t>Bill of Sale (BOS)</a:t>
            </a:r>
            <a:r>
              <a:rPr lang="en-US" sz="2000">
                <a:latin typeface="Calibri"/>
                <a:ea typeface="Calibri"/>
                <a:cs typeface="Times New Roman"/>
              </a:rPr>
              <a:t> as proof.</a:t>
            </a:r>
          </a:p>
          <a:p>
            <a:endParaRPr lang="en-US" sz="2000">
              <a:latin typeface="Calibri"/>
              <a:ea typeface="Calibri"/>
              <a:cs typeface="Times New Roman"/>
            </a:endParaRPr>
          </a:p>
          <a:p>
            <a:r>
              <a:rPr lang="en-US" sz="2000" b="1">
                <a:latin typeface="Calibri"/>
                <a:ea typeface="Calibri"/>
                <a:cs typeface="Times New Roman"/>
              </a:rPr>
              <a:t>Steps in this stage:</a:t>
            </a:r>
            <a:endParaRPr lang="en-US" sz="2000">
              <a:latin typeface="Calibri"/>
              <a:ea typeface="Calibri"/>
              <a:cs typeface="Times New Roman"/>
            </a:endParaRPr>
          </a:p>
          <a:p>
            <a:pPr marL="262890" lvl="1" indent="0">
              <a:buNone/>
            </a:pPr>
            <a:r>
              <a:rPr lang="en-US" sz="2000" b="1">
                <a:latin typeface="Calibri"/>
                <a:ea typeface="Calibri"/>
                <a:cs typeface="Times New Roman"/>
              </a:rPr>
              <a:t>Request BOS</a:t>
            </a:r>
            <a:r>
              <a:rPr lang="en-US" sz="2000">
                <a:latin typeface="Calibri"/>
                <a:ea typeface="Calibri"/>
                <a:cs typeface="Times New Roman"/>
              </a:rPr>
              <a:t> → Ask the customer to provide an image/backup copy of the BOS for cases where plates are inactive/PNF.</a:t>
            </a:r>
          </a:p>
          <a:p>
            <a:pPr marL="262890" lvl="1" indent="0">
              <a:buNone/>
            </a:pPr>
            <a:endParaRPr lang="en-US" sz="2000">
              <a:latin typeface="Calibri"/>
              <a:ea typeface="Calibri"/>
              <a:cs typeface="Times New Roman"/>
            </a:endParaRPr>
          </a:p>
          <a:p>
            <a:pPr marL="262890" lvl="1" indent="0">
              <a:buNone/>
            </a:pPr>
            <a:r>
              <a:rPr lang="en-US" sz="2000" b="1">
                <a:latin typeface="Calibri"/>
                <a:ea typeface="Calibri"/>
                <a:cs typeface="Times New Roman"/>
              </a:rPr>
              <a:t>Waiting for BOS</a:t>
            </a:r>
            <a:r>
              <a:rPr lang="en-US" sz="2000">
                <a:latin typeface="Calibri"/>
                <a:ea typeface="Calibri"/>
                <a:cs typeface="Times New Roman"/>
              </a:rPr>
              <a:t> → Hold action until the customer provides the requested BOS.</a:t>
            </a:r>
          </a:p>
          <a:p>
            <a:pPr marL="262890" lvl="1" indent="0">
              <a:buNone/>
            </a:pPr>
            <a:endParaRPr lang="en-US" sz="2000">
              <a:latin typeface="Calibri"/>
              <a:ea typeface="Calibri"/>
              <a:cs typeface="Times New Roman"/>
            </a:endParaRPr>
          </a:p>
          <a:p>
            <a:pPr marL="262890" lvl="1" indent="0">
              <a:buNone/>
            </a:pPr>
            <a:r>
              <a:rPr lang="en-US" sz="2000" b="1">
                <a:latin typeface="Calibri"/>
                <a:ea typeface="Calibri"/>
                <a:cs typeface="Times New Roman"/>
              </a:rPr>
              <a:t>BOS Received</a:t>
            </a:r>
            <a:r>
              <a:rPr lang="en-US" sz="2000">
                <a:latin typeface="Calibri"/>
                <a:ea typeface="Calibri"/>
                <a:cs typeface="Times New Roman"/>
              </a:rPr>
              <a:t> → Confirm receipt of the BOS copy from the customer for further processing</a:t>
            </a:r>
          </a:p>
          <a:p>
            <a:pPr marL="262890" lvl="1" indent="0">
              <a:buNone/>
            </a:pPr>
            <a:endParaRPr lang="en-US" sz="2000">
              <a:latin typeface="Calibri"/>
              <a:ea typeface="Calibri"/>
              <a:cs typeface="Times New Roman"/>
            </a:endParaRPr>
          </a:p>
          <a:p>
            <a:pPr marL="262890" lvl="1" indent="0">
              <a:buNone/>
            </a:pPr>
            <a:r>
              <a:rPr lang="en-US" sz="2000" b="1">
                <a:latin typeface="Calibri"/>
                <a:ea typeface="Calibri"/>
                <a:cs typeface="Times New Roman"/>
              </a:rPr>
              <a:t>Vendor Contact</a:t>
            </a:r>
            <a:endParaRPr lang="en-US" sz="2000">
              <a:latin typeface="Calibri"/>
              <a:ea typeface="Calibri"/>
              <a:cs typeface="Times New Roman"/>
            </a:endParaRPr>
          </a:p>
          <a:p>
            <a:pPr marL="285750" indent="-285750">
              <a:buFont typeface="Arial"/>
              <a:buChar char="•"/>
            </a:pPr>
            <a:r>
              <a:rPr lang="en-US" sz="2000">
                <a:latin typeface="Calibri"/>
                <a:ea typeface="Calibri"/>
                <a:cs typeface="Times New Roman"/>
              </a:rPr>
              <a:t>Once the BOS has been received, we will reach out to the vendor to </a:t>
            </a:r>
            <a:r>
              <a:rPr lang="en-US" sz="2000" b="1">
                <a:latin typeface="Calibri"/>
                <a:ea typeface="Calibri"/>
                <a:cs typeface="Times New Roman"/>
              </a:rPr>
              <a:t>remove the transaction associated with the plate</a:t>
            </a:r>
            <a:r>
              <a:rPr lang="en-US" sz="2000">
                <a:latin typeface="Calibri"/>
                <a:ea typeface="Calibri"/>
                <a:cs typeface="Times New Roman"/>
              </a:rPr>
              <a:t> from the settlement file.</a:t>
            </a:r>
          </a:p>
          <a:p>
            <a:pPr marL="285750" indent="-285750">
              <a:buFont typeface="Arial"/>
              <a:buChar char="•"/>
            </a:pPr>
            <a:endParaRPr lang="en-US" sz="2000">
              <a:latin typeface="Calibri"/>
              <a:ea typeface="Calibri"/>
              <a:cs typeface="Times New Roman"/>
            </a:endParaRPr>
          </a:p>
          <a:p>
            <a:pPr marL="285750" indent="-285750">
              <a:buFont typeface="Arial"/>
              <a:buChar char="•"/>
            </a:pPr>
            <a:r>
              <a:rPr lang="en-US" sz="2000" b="1">
                <a:latin typeface="Calibri"/>
                <a:ea typeface="Calibri"/>
                <a:cs typeface="Times New Roman"/>
              </a:rPr>
              <a:t>Possible Outcomes:</a:t>
            </a:r>
            <a:endParaRPr lang="en-US" sz="2000">
              <a:latin typeface="Calibri"/>
              <a:ea typeface="Calibri"/>
              <a:cs typeface="Times New Roman"/>
            </a:endParaRPr>
          </a:p>
          <a:p>
            <a:pPr marL="262890" lvl="1" indent="0">
              <a:buNone/>
            </a:pPr>
            <a:r>
              <a:rPr lang="en-US" sz="2000" b="1">
                <a:latin typeface="Calibri"/>
                <a:ea typeface="Calibri"/>
                <a:cs typeface="Times New Roman"/>
              </a:rPr>
              <a:t>Dispute Accepted</a:t>
            </a:r>
            <a:r>
              <a:rPr lang="en-US" sz="2000">
                <a:latin typeface="Calibri"/>
                <a:ea typeface="Calibri"/>
                <a:cs typeface="Times New Roman"/>
              </a:rPr>
              <a:t> → Vendor agrees to remove the disputed transaction.</a:t>
            </a:r>
          </a:p>
          <a:p>
            <a:pPr marL="262890" lvl="1" indent="0">
              <a:buNone/>
            </a:pPr>
            <a:endParaRPr lang="en-US" sz="2000">
              <a:latin typeface="Calibri"/>
              <a:ea typeface="Calibri"/>
              <a:cs typeface="Times New Roman"/>
            </a:endParaRPr>
          </a:p>
          <a:p>
            <a:pPr marL="262890" lvl="1" indent="0">
              <a:buNone/>
            </a:pPr>
            <a:r>
              <a:rPr lang="en-US" sz="2000" b="1">
                <a:latin typeface="Calibri"/>
                <a:ea typeface="Calibri"/>
                <a:cs typeface="Times New Roman"/>
              </a:rPr>
              <a:t>Dispute Rejected</a:t>
            </a:r>
            <a:r>
              <a:rPr lang="en-US" sz="2000">
                <a:latin typeface="Calibri"/>
                <a:ea typeface="Calibri"/>
                <a:cs typeface="Times New Roman"/>
              </a:rPr>
              <a:t> → Vendor rejects the dispute, and further resolution may be required..</a:t>
            </a:r>
            <a:endParaRPr lang="en-US" sz="2000">
              <a:ea typeface="Calibri"/>
              <a:cs typeface="Calibri"/>
            </a:endParaRPr>
          </a:p>
          <a:p>
            <a:endParaRPr lang="en-US" sz="2880"/>
          </a:p>
        </p:txBody>
      </p:sp>
      <p:sp>
        <p:nvSpPr>
          <p:cNvPr id="4" name="TextBox 3">
            <a:extLst>
              <a:ext uri="{FF2B5EF4-FFF2-40B4-BE49-F238E27FC236}">
                <a16:creationId xmlns:a16="http://schemas.microsoft.com/office/drawing/2014/main" id="{1ECE2D2F-ACF2-CFD6-300D-6E8D7BD333EB}"/>
              </a:ext>
            </a:extLst>
          </p:cNvPr>
          <p:cNvSpPr txBox="1"/>
          <p:nvPr/>
        </p:nvSpPr>
        <p:spPr>
          <a:xfrm>
            <a:off x="829730" y="441908"/>
            <a:ext cx="730463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latin typeface="Calibri"/>
                <a:ea typeface="Calibri"/>
                <a:cs typeface="Helvetica"/>
              </a:rPr>
              <a:t>4.Settlement Disputed</a:t>
            </a:r>
            <a:endParaRPr lang="en-US" sz="3200">
              <a:latin typeface="Calibri"/>
              <a:ea typeface="Calibri"/>
              <a:cs typeface="Times New Roman"/>
            </a:endParaRPr>
          </a:p>
        </p:txBody>
      </p:sp>
    </p:spTree>
    <p:extLst>
      <p:ext uri="{BB962C8B-B14F-4D97-AF65-F5344CB8AC3E}">
        <p14:creationId xmlns:p14="http://schemas.microsoft.com/office/powerpoint/2010/main" val="9751793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B54741-74F7-C8CF-81AE-3C2F197D8EE4}"/>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4ACEC328-E501-4200-1C62-514D3B0A8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828" y="0"/>
            <a:ext cx="14626743" cy="822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descr="A diagram of a customer contact&#10;&#10;AI-generated content may be incorrect.">
            <a:extLst>
              <a:ext uri="{FF2B5EF4-FFF2-40B4-BE49-F238E27FC236}">
                <a16:creationId xmlns:a16="http://schemas.microsoft.com/office/drawing/2014/main" id="{843D3739-7081-A168-5B96-71FE6463B0CE}"/>
              </a:ext>
            </a:extLst>
          </p:cNvPr>
          <p:cNvPicPr>
            <a:picLocks noChangeAspect="1"/>
          </p:cNvPicPr>
          <p:nvPr/>
        </p:nvPicPr>
        <p:blipFill>
          <a:blip r:embed="rId2"/>
          <a:srcRect b="461"/>
          <a:stretch>
            <a:fillRect/>
          </a:stretch>
        </p:blipFill>
        <p:spPr>
          <a:xfrm>
            <a:off x="1511828" y="854978"/>
            <a:ext cx="10960588" cy="6155422"/>
          </a:xfrm>
          <a:prstGeom prst="rect">
            <a:avLst/>
          </a:prstGeom>
        </p:spPr>
      </p:pic>
      <p:sp>
        <p:nvSpPr>
          <p:cNvPr id="5" name="TextBox 4">
            <a:extLst>
              <a:ext uri="{FF2B5EF4-FFF2-40B4-BE49-F238E27FC236}">
                <a16:creationId xmlns:a16="http://schemas.microsoft.com/office/drawing/2014/main" id="{678A02B4-1730-6262-B027-02D268B9510C}"/>
              </a:ext>
            </a:extLst>
          </p:cNvPr>
          <p:cNvSpPr txBox="1"/>
          <p:nvPr/>
        </p:nvSpPr>
        <p:spPr>
          <a:xfrm>
            <a:off x="1517904" y="411480"/>
            <a:ext cx="642518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a:cs typeface="Calibri"/>
              </a:rPr>
              <a:t>4.Settlement Disputed​</a:t>
            </a:r>
            <a:endParaRPr lang="en-US"/>
          </a:p>
        </p:txBody>
      </p:sp>
    </p:spTree>
    <p:extLst>
      <p:ext uri="{BB962C8B-B14F-4D97-AF65-F5344CB8AC3E}">
        <p14:creationId xmlns:p14="http://schemas.microsoft.com/office/powerpoint/2010/main" val="8239232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EEDF4-4E02-9B0F-5131-F4D835A9D59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015BA6B-31C4-2E2A-D2E5-A9C2421D2F22}"/>
              </a:ext>
            </a:extLst>
          </p:cNvPr>
          <p:cNvSpPr txBox="1"/>
          <p:nvPr/>
        </p:nvSpPr>
        <p:spPr>
          <a:xfrm>
            <a:off x="-2152" y="-4661"/>
            <a:ext cx="8817481" cy="87716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u="sng">
                <a:latin typeface="Aptos Display"/>
              </a:rPr>
              <a:t>5.Settlement Payment:</a:t>
            </a:r>
          </a:p>
          <a:p>
            <a:br>
              <a:rPr lang="en-US" sz="4400">
                <a:latin typeface="Aptos Display"/>
              </a:rPr>
            </a:br>
            <a:r>
              <a:rPr lang="en-US" sz="2400">
                <a:latin typeface="Arial"/>
                <a:cs typeface="Arial"/>
              </a:rPr>
              <a:t>•</a:t>
            </a:r>
            <a:r>
              <a:rPr lang="en-US" sz="2400">
                <a:latin typeface="Aptos"/>
              </a:rPr>
              <a:t> Once File approved by the Onsite Team, they start making the payment.</a:t>
            </a:r>
            <a:endParaRPr lang="en-US" sz="4400">
              <a:latin typeface="Aptos Display"/>
            </a:endParaRPr>
          </a:p>
          <a:p>
            <a:endParaRPr lang="en-US" sz="2000">
              <a:latin typeface="Arial"/>
              <a:cs typeface="Arial"/>
            </a:endParaRPr>
          </a:p>
          <a:p>
            <a:endParaRPr lang="en-US" sz="2000">
              <a:latin typeface="Arial"/>
              <a:cs typeface="Arial"/>
            </a:endParaRPr>
          </a:p>
          <a:p>
            <a:r>
              <a:rPr lang="en-US" sz="2400">
                <a:latin typeface="Arial"/>
                <a:cs typeface="Arial"/>
              </a:rPr>
              <a:t>•</a:t>
            </a:r>
            <a:r>
              <a:rPr lang="en-US" sz="2400">
                <a:latin typeface="Aptos"/>
              </a:rPr>
              <a:t> Payment method by the phone call payment</a:t>
            </a:r>
            <a:endParaRPr lang="en-US"/>
          </a:p>
          <a:p>
            <a:r>
              <a:rPr lang="en-US" sz="2400">
                <a:latin typeface="Arial"/>
                <a:cs typeface="Arial"/>
              </a:rPr>
              <a:t> •</a:t>
            </a:r>
            <a:r>
              <a:rPr lang="en-US" sz="2400">
                <a:latin typeface="Aptos"/>
              </a:rPr>
              <a:t> Payment gets approved</a:t>
            </a:r>
            <a:endParaRPr lang="en-US"/>
          </a:p>
          <a:p>
            <a:r>
              <a:rPr lang="en-US" sz="2400">
                <a:latin typeface="Arial"/>
                <a:cs typeface="Arial"/>
              </a:rPr>
              <a:t> •</a:t>
            </a:r>
            <a:r>
              <a:rPr lang="en-US" sz="2400">
                <a:latin typeface="Aptos"/>
              </a:rPr>
              <a:t> Payment Pending</a:t>
            </a:r>
            <a:endParaRPr lang="en-US"/>
          </a:p>
          <a:p>
            <a:endParaRPr lang="en-US" sz="2400">
              <a:latin typeface="Arial"/>
              <a:cs typeface="Arial"/>
            </a:endParaRPr>
          </a:p>
          <a:p>
            <a:endParaRPr lang="en-US" sz="2400">
              <a:latin typeface="Arial"/>
              <a:cs typeface="Arial"/>
            </a:endParaRPr>
          </a:p>
          <a:p>
            <a:r>
              <a:rPr lang="en-US" sz="2400">
                <a:latin typeface="Arial"/>
                <a:cs typeface="Arial"/>
              </a:rPr>
              <a:t>•</a:t>
            </a:r>
            <a:r>
              <a:rPr lang="en-US" sz="2400">
                <a:latin typeface="Aptos"/>
              </a:rPr>
              <a:t> Once Payment Completed , we receive the payment confirmation email from toll authority.</a:t>
            </a:r>
            <a:endParaRPr lang="en-US">
              <a:ea typeface="Calibri"/>
              <a:cs typeface="Calibri"/>
            </a:endParaRPr>
          </a:p>
          <a:p>
            <a:endParaRPr lang="en-US" sz="2400">
              <a:latin typeface="Arial"/>
              <a:cs typeface="Arial"/>
            </a:endParaRPr>
          </a:p>
          <a:p>
            <a:endParaRPr lang="en-US" sz="2400">
              <a:latin typeface="Arial"/>
              <a:cs typeface="Arial"/>
            </a:endParaRPr>
          </a:p>
          <a:p>
            <a:r>
              <a:rPr lang="en-US" sz="2400">
                <a:latin typeface="Arial"/>
                <a:cs typeface="Arial"/>
              </a:rPr>
              <a:t>•</a:t>
            </a:r>
            <a:r>
              <a:rPr lang="en-US" sz="2400">
                <a:latin typeface="Aptos"/>
              </a:rPr>
              <a:t> After Completed the Payment , file should be formatted and email to the Billing Team</a:t>
            </a:r>
            <a:endParaRPr lang="en-US"/>
          </a:p>
          <a:p>
            <a:endParaRPr lang="en-US">
              <a:latin typeface="Arial"/>
              <a:cs typeface="Arial"/>
            </a:endParaRPr>
          </a:p>
          <a:p>
            <a:endParaRPr lang="en-US">
              <a:latin typeface="Arial"/>
              <a:cs typeface="Arial"/>
            </a:endParaRPr>
          </a:p>
          <a:p>
            <a:endParaRPr lang="en-US" sz="4400">
              <a:latin typeface="Aptos Display"/>
              <a:cs typeface="Arial"/>
            </a:endParaRPr>
          </a:p>
          <a:p>
            <a:endParaRPr lang="en-US" sz="4400">
              <a:latin typeface="Aptos Display"/>
              <a:ea typeface="Calibri"/>
              <a:cs typeface="Calibri"/>
            </a:endParaRPr>
          </a:p>
        </p:txBody>
      </p:sp>
      <p:pic>
        <p:nvPicPr>
          <p:cNvPr id="2" name="Picture 1" descr="A diagram of a payment process&#10;&#10;AI-generated content may be incorrect.">
            <a:extLst>
              <a:ext uri="{FF2B5EF4-FFF2-40B4-BE49-F238E27FC236}">
                <a16:creationId xmlns:a16="http://schemas.microsoft.com/office/drawing/2014/main" id="{C30721E6-1CD5-ABAD-82F9-DE89F2DD207D}"/>
              </a:ext>
            </a:extLst>
          </p:cNvPr>
          <p:cNvPicPr>
            <a:picLocks noChangeAspect="1"/>
          </p:cNvPicPr>
          <p:nvPr/>
        </p:nvPicPr>
        <p:blipFill>
          <a:blip r:embed="rId2"/>
          <a:stretch>
            <a:fillRect/>
          </a:stretch>
        </p:blipFill>
        <p:spPr>
          <a:xfrm>
            <a:off x="8830064" y="0"/>
            <a:ext cx="5797279" cy="8229600"/>
          </a:xfrm>
          <a:prstGeom prst="rect">
            <a:avLst/>
          </a:prstGeom>
        </p:spPr>
      </p:pic>
    </p:spTree>
    <p:extLst>
      <p:ext uri="{BB962C8B-B14F-4D97-AF65-F5344CB8AC3E}">
        <p14:creationId xmlns:p14="http://schemas.microsoft.com/office/powerpoint/2010/main" val="14961260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6BB53-500F-53E8-F153-CA9139EF6B3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47E3507-31EC-9421-1577-139299AEF559}"/>
              </a:ext>
            </a:extLst>
          </p:cNvPr>
          <p:cNvSpPr txBox="1"/>
          <p:nvPr/>
        </p:nvSpPr>
        <p:spPr>
          <a:xfrm>
            <a:off x="-7212" y="-9721"/>
            <a:ext cx="7687305" cy="72943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u="sng">
                <a:latin typeface="Aptos Display"/>
              </a:rPr>
              <a:t>6.Settlement Billing:</a:t>
            </a:r>
            <a:br>
              <a:rPr lang="en-US" sz="4000">
                <a:latin typeface="Aptos Display"/>
              </a:rPr>
            </a:br>
            <a:br>
              <a:rPr lang="en-US" sz="4000">
                <a:latin typeface="Aptos Display"/>
              </a:rPr>
            </a:br>
            <a:r>
              <a:rPr lang="en-US" sz="2400">
                <a:latin typeface="Arial"/>
                <a:cs typeface="Arial"/>
              </a:rPr>
              <a:t>•</a:t>
            </a:r>
            <a:r>
              <a:rPr lang="en-US" sz="2400">
                <a:latin typeface="Aptos"/>
              </a:rPr>
              <a:t> Once the Payment completed , the payment team share the formatted file to the Billing team.</a:t>
            </a:r>
            <a:endParaRPr lang="en-US">
              <a:ea typeface="Calibri" panose="020F0502020204030204"/>
              <a:cs typeface="Calibri" panose="020F0502020204030204"/>
            </a:endParaRPr>
          </a:p>
          <a:p>
            <a:endParaRPr lang="en-US" sz="2400">
              <a:latin typeface="Aptos"/>
              <a:cs typeface="Arial"/>
            </a:endParaRPr>
          </a:p>
          <a:p>
            <a:endParaRPr lang="en-US" sz="2400">
              <a:latin typeface="Aptos"/>
              <a:cs typeface="Arial"/>
            </a:endParaRPr>
          </a:p>
          <a:p>
            <a:r>
              <a:rPr lang="en-US" sz="2400">
                <a:latin typeface="Arial"/>
                <a:cs typeface="Arial"/>
              </a:rPr>
              <a:t>•</a:t>
            </a:r>
            <a:r>
              <a:rPr lang="en-US" sz="2400">
                <a:latin typeface="Aptos"/>
              </a:rPr>
              <a:t> Billing team do the QC check the received file and moved to test billing.</a:t>
            </a:r>
          </a:p>
          <a:p>
            <a:endParaRPr lang="en-US" sz="2400">
              <a:latin typeface="Aptos"/>
              <a:cs typeface="Arial"/>
            </a:endParaRPr>
          </a:p>
          <a:p>
            <a:endParaRPr lang="en-US" sz="2400">
              <a:latin typeface="Aptos"/>
              <a:cs typeface="Arial"/>
            </a:endParaRPr>
          </a:p>
          <a:p>
            <a:r>
              <a:rPr lang="en-US" sz="2400">
                <a:latin typeface="Arial"/>
                <a:cs typeface="Arial"/>
              </a:rPr>
              <a:t>•</a:t>
            </a:r>
            <a:r>
              <a:rPr lang="en-US" sz="2400">
                <a:latin typeface="Aptos"/>
              </a:rPr>
              <a:t> Once test billing completed , moved to file prod billing.</a:t>
            </a:r>
          </a:p>
          <a:p>
            <a:endParaRPr lang="en-US" sz="2400">
              <a:latin typeface="Aptos"/>
              <a:cs typeface="Arial"/>
            </a:endParaRPr>
          </a:p>
          <a:p>
            <a:r>
              <a:rPr lang="en-US" sz="2400">
                <a:latin typeface="Arial"/>
                <a:cs typeface="Arial"/>
              </a:rPr>
              <a:t>•</a:t>
            </a:r>
            <a:r>
              <a:rPr lang="en-US" sz="2400">
                <a:latin typeface="Aptos"/>
              </a:rPr>
              <a:t> After Billing Completed , they send an email with Billing file to Finance team.</a:t>
            </a:r>
            <a:br>
              <a:rPr lang="en-US" sz="2800">
                <a:latin typeface="Aptos"/>
              </a:rPr>
            </a:br>
            <a:endParaRPr lang="en-US"/>
          </a:p>
          <a:p>
            <a:endParaRPr lang="en-US" sz="4400">
              <a:latin typeface="Aptos Display"/>
            </a:endParaRPr>
          </a:p>
        </p:txBody>
      </p:sp>
      <p:pic>
        <p:nvPicPr>
          <p:cNvPr id="2" name="Picture 1">
            <a:extLst>
              <a:ext uri="{FF2B5EF4-FFF2-40B4-BE49-F238E27FC236}">
                <a16:creationId xmlns:a16="http://schemas.microsoft.com/office/drawing/2014/main" id="{F2F00F64-7C2B-E9C8-179E-CF64AAA68E79}"/>
              </a:ext>
            </a:extLst>
          </p:cNvPr>
          <p:cNvPicPr>
            <a:picLocks noChangeAspect="1"/>
          </p:cNvPicPr>
          <p:nvPr/>
        </p:nvPicPr>
        <p:blipFill>
          <a:blip r:embed="rId2"/>
          <a:stretch>
            <a:fillRect/>
          </a:stretch>
        </p:blipFill>
        <p:spPr>
          <a:xfrm>
            <a:off x="7983665" y="2532888"/>
            <a:ext cx="6648831" cy="1676400"/>
          </a:xfrm>
          <a:prstGeom prst="rect">
            <a:avLst/>
          </a:prstGeom>
        </p:spPr>
      </p:pic>
    </p:spTree>
    <p:extLst>
      <p:ext uri="{BB962C8B-B14F-4D97-AF65-F5344CB8AC3E}">
        <p14:creationId xmlns:p14="http://schemas.microsoft.com/office/powerpoint/2010/main" val="16946878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69A18-062F-3273-0DDB-D6967775E33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66B62B41-5BBA-FF9D-626D-8E1E4FD65555}"/>
              </a:ext>
            </a:extLst>
          </p:cNvPr>
          <p:cNvPicPr>
            <a:picLocks noChangeAspect="1"/>
          </p:cNvPicPr>
          <p:nvPr/>
        </p:nvPicPr>
        <p:blipFill>
          <a:blip r:embed="rId3"/>
          <a:stretch>
            <a:fillRect/>
          </a:stretch>
        </p:blipFill>
        <p:spPr>
          <a:xfrm>
            <a:off x="0" y="0"/>
            <a:ext cx="14630400" cy="2835235"/>
          </a:xfrm>
          <a:prstGeom prst="rect">
            <a:avLst/>
          </a:prstGeom>
        </p:spPr>
      </p:pic>
      <p:sp>
        <p:nvSpPr>
          <p:cNvPr id="3" name="Text 0">
            <a:extLst>
              <a:ext uri="{FF2B5EF4-FFF2-40B4-BE49-F238E27FC236}">
                <a16:creationId xmlns:a16="http://schemas.microsoft.com/office/drawing/2014/main" id="{00CDF7F3-0D00-FCE9-ABAA-579765649A4B}"/>
              </a:ext>
            </a:extLst>
          </p:cNvPr>
          <p:cNvSpPr/>
          <p:nvPr/>
        </p:nvSpPr>
        <p:spPr>
          <a:xfrm>
            <a:off x="793790" y="4117657"/>
            <a:ext cx="13042821" cy="2126456"/>
          </a:xfrm>
          <a:prstGeom prst="rect">
            <a:avLst/>
          </a:prstGeom>
          <a:noFill/>
          <a:ln/>
        </p:spPr>
        <p:txBody>
          <a:bodyPr wrap="none" lIns="0" tIns="0" rIns="0" bIns="0" rtlCol="0" anchor="t"/>
          <a:lstStyle/>
          <a:p>
            <a:pPr marL="0" indent="0" algn="ctr">
              <a:lnSpc>
                <a:spcPts val="16700"/>
              </a:lnSpc>
              <a:buNone/>
            </a:pPr>
            <a:r>
              <a:rPr lang="en-US" sz="13350" b="1">
                <a:solidFill>
                  <a:srgbClr val="403234"/>
                </a:solidFill>
                <a:latin typeface="Noto Serif HK Bold" pitchFamily="34" charset="0"/>
                <a:ea typeface="Noto Serif HK Bold" pitchFamily="34" charset="-122"/>
                <a:cs typeface="Noto Serif HK Bold" pitchFamily="34" charset="-120"/>
              </a:rPr>
              <a:t>Thank You</a:t>
            </a:r>
            <a:endParaRPr lang="en-US" sz="13350"/>
          </a:p>
        </p:txBody>
      </p:sp>
      <p:sp>
        <p:nvSpPr>
          <p:cNvPr id="4" name="Text 1">
            <a:extLst>
              <a:ext uri="{FF2B5EF4-FFF2-40B4-BE49-F238E27FC236}">
                <a16:creationId xmlns:a16="http://schemas.microsoft.com/office/drawing/2014/main" id="{1F3AFE0B-0C5B-8931-5493-11F584FCC3C0}"/>
              </a:ext>
            </a:extLst>
          </p:cNvPr>
          <p:cNvSpPr/>
          <p:nvPr/>
        </p:nvSpPr>
        <p:spPr>
          <a:xfrm>
            <a:off x="793790" y="6584275"/>
            <a:ext cx="13042821" cy="362903"/>
          </a:xfrm>
          <a:prstGeom prst="rect">
            <a:avLst/>
          </a:prstGeom>
          <a:noFill/>
          <a:ln/>
        </p:spPr>
        <p:txBody>
          <a:bodyPr wrap="none" lIns="0" tIns="0" rIns="0" bIns="0" rtlCol="0" anchor="t"/>
          <a:lstStyle/>
          <a:p>
            <a:pPr marL="0" indent="0" algn="ctr">
              <a:lnSpc>
                <a:spcPts val="2850"/>
              </a:lnSpc>
              <a:buNone/>
            </a:pPr>
            <a:r>
              <a:rPr lang="en-US" sz="1750">
                <a:solidFill>
                  <a:srgbClr val="000000"/>
                </a:solidFill>
                <a:latin typeface="Noto Serif HK" pitchFamily="34" charset="0"/>
                <a:ea typeface="Noto Serif HK" pitchFamily="34" charset="-122"/>
                <a:cs typeface="Noto Serif HK" pitchFamily="34" charset="-120"/>
              </a:rPr>
              <a:t>For a more detailed discussion or specific process inquiries, please reach out to the Product and Operations teams.</a:t>
            </a:r>
            <a:endParaRPr lang="en-US" sz="1750"/>
          </a:p>
        </p:txBody>
      </p:sp>
    </p:spTree>
    <p:extLst>
      <p:ext uri="{BB962C8B-B14F-4D97-AF65-F5344CB8AC3E}">
        <p14:creationId xmlns:p14="http://schemas.microsoft.com/office/powerpoint/2010/main" val="2406816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2680781D5828540AC201A93E229A356" ma:contentTypeVersion="24" ma:contentTypeDescription="Create a new document." ma:contentTypeScope="" ma:versionID="59b9558096de4b1504844402921f0c9c">
  <xsd:schema xmlns:xsd="http://www.w3.org/2001/XMLSchema" xmlns:xs="http://www.w3.org/2001/XMLSchema" xmlns:p="http://schemas.microsoft.com/office/2006/metadata/properties" xmlns:ns2="22955d91-9d1f-4161-87a7-e89bed204b81" xmlns:ns3="a7fea101-fc6f-49c9-be05-b36d3311d6e6" targetNamespace="http://schemas.microsoft.com/office/2006/metadata/properties" ma:root="true" ma:fieldsID="bfca23aad58542845d2bab6cb1542adf" ns2:_="" ns3:_="">
    <xsd:import namespace="22955d91-9d1f-4161-87a7-e89bed204b81"/>
    <xsd:import namespace="a7fea101-fc6f-49c9-be05-b36d3311d6e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Assignee" minOccurs="0"/>
                <xsd:element ref="ns2:Statu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Date" minOccurs="0"/>
                <xsd:element ref="ns2:BaaSDevops_x002d_Report_x002d_Module_specDoc_x002e_xlsx" minOccurs="0"/>
                <xsd:element ref="ns2:TestCase" minOccurs="0"/>
                <xsd:element ref="ns2:https_x003a__x002f__x002f_goveindia_x002d_my_x002e_sharepoint_x002e_com_x002f__x003a_x_x003a__x002f_g_x002f_personal_x002f_subbammal_mariappan_gove_co_x002f_EUkfWT3HlJNHm_80wgJD4CcBfnqtiHuD1_vKHGpxfvFZOw_x003f_e_x003d_A4uIY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955d91-9d1f-4161-87a7-e89bed204b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Assignee" ma:index="15" nillable="true" ma:displayName="Assignee" ma:format="Dropdown" ma:indexed="true" ma:list="UserInfo" ma:SharePointGroup="0" ma:internalName="Assigne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atus" ma:index="16" nillable="true" ma:displayName="Status" ma:internalName="Status">
      <xsd:simpleType>
        <xsd:restriction base="dms:Text">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59df2402-66c2-49b5-aabe-7f7bb7c33b2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Date" ma:index="27" nillable="true" ma:displayName="Date" ma:format="DateOnly" ma:internalName="Date">
      <xsd:simpleType>
        <xsd:restriction base="dms:DateTime"/>
      </xsd:simpleType>
    </xsd:element>
    <xsd:element name="BaaSDevops_x002d_Report_x002d_Module_specDoc_x002e_xlsx" ma:index="28" nillable="true" ma:displayName="BaaS Devops - Report-Module_spec Doc.xlsx" ma:format="Dropdown" ma:internalName="BaaSDevops_x002d_Report_x002d_Module_specDoc_x002e_xlsx">
      <xsd:simpleType>
        <xsd:restriction base="dms:Text">
          <xsd:maxLength value="255"/>
        </xsd:restriction>
      </xsd:simpleType>
    </xsd:element>
    <xsd:element name="TestCase" ma:index="29" nillable="true" ma:displayName="TestCase " ma:format="Dropdown" ma:internalName="TestCase">
      <xsd:simpleType>
        <xsd:restriction base="dms:Text">
          <xsd:maxLength value="255"/>
        </xsd:restriction>
      </xsd:simpleType>
    </xsd:element>
    <xsd:element name="https_x003a__x002f__x002f_goveindia_x002d_my_x002e_sharepoint_x002e_com_x002f__x003a_x_x003a__x002f_g_x002f_personal_x002f_subbammal_mariappan_gove_co_x002f_EUkfWT3HlJNHm_80wgJD4CcBfnqtiHuD1_vKHGpxfvFZOw_x003f_e_x003d_A4uIYL" ma:index="30" nillable="true" ma:displayName="https://goveindia-my.sharepoint.com/:x:/g/personal/subbammal_mariappan_gove_co/EUkfWT3HlJNHm_80wgJD4CcBfnqtiHuD1_vKHGpxfvFZOw?e=A4uIYL" ma:format="Hyperlink" ma:internalName="https_x003a__x002f__x002f_goveindia_x002d_my_x002e_sharepoint_x002e_com_x002f__x003a_x_x003a__x002f_g_x002f_personal_x002f_subbammal_mariappan_gove_co_x002f_EUkfWT3HlJNHm_80wgJD4CcBfnqtiHuD1_vKHGpxfvFZOw_x003f_e_x003d_A4uIYL">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7fea101-fc6f-49c9-be05-b36d3311d6e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1a6c1a0-fd87-47a0-861d-21d52cb8e337}" ma:internalName="TaxCatchAll" ma:showField="CatchAllData" ma:web="a7fea101-fc6f-49c9-be05-b36d3311d6e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Date xmlns="22955d91-9d1f-4161-87a7-e89bed204b81" xsi:nil="true"/>
    <TestCase xmlns="22955d91-9d1f-4161-87a7-e89bed204b81" xsi:nil="true"/>
    <https_x003a__x002f__x002f_goveindia_x002d_my_x002e_sharepoint_x002e_com_x002f__x003a_x_x003a__x002f_g_x002f_personal_x002f_subbammal_mariappan_gove_co_x002f_EUkfWT3HlJNHm_80wgJD4CcBfnqtiHuD1_vKHGpxfvFZOw_x003f_e_x003d_A4uIYL xmlns="22955d91-9d1f-4161-87a7-e89bed204b81">
      <Url xsi:nil="true"/>
      <Description xsi:nil="true"/>
    </https_x003a__x002f__x002f_goveindia_x002d_my_x002e_sharepoint_x002e_com_x002f__x003a_x_x003a__x002f_g_x002f_personal_x002f_subbammal_mariappan_gove_co_x002f_EUkfWT3HlJNHm_80wgJD4CcBfnqtiHuD1_vKHGpxfvFZOw_x003f_e_x003d_A4uIYL>
    <Status xmlns="22955d91-9d1f-4161-87a7-e89bed204b81" xsi:nil="true"/>
    <lcf76f155ced4ddcb4097134ff3c332f xmlns="22955d91-9d1f-4161-87a7-e89bed204b81">
      <Terms xmlns="http://schemas.microsoft.com/office/infopath/2007/PartnerControls"/>
    </lcf76f155ced4ddcb4097134ff3c332f>
    <Assignee xmlns="22955d91-9d1f-4161-87a7-e89bed204b81">
      <UserInfo>
        <DisplayName/>
        <AccountId xsi:nil="true"/>
        <AccountType/>
      </UserInfo>
    </Assignee>
    <TaxCatchAll xmlns="a7fea101-fc6f-49c9-be05-b36d3311d6e6" xsi:nil="true"/>
    <BaaSDevops_x002d_Report_x002d_Module_specDoc_x002e_xlsx xmlns="22955d91-9d1f-4161-87a7-e89bed204b81" xsi:nil="true"/>
  </documentManagement>
</p:properties>
</file>

<file path=customXml/itemProps1.xml><?xml version="1.0" encoding="utf-8"?>
<ds:datastoreItem xmlns:ds="http://schemas.openxmlformats.org/officeDocument/2006/customXml" ds:itemID="{D30C0A30-1E65-4597-98D7-03A2E070A03B}">
  <ds:schemaRefs>
    <ds:schemaRef ds:uri="http://schemas.microsoft.com/sharepoint/v3/contenttype/forms"/>
  </ds:schemaRefs>
</ds:datastoreItem>
</file>

<file path=customXml/itemProps2.xml><?xml version="1.0" encoding="utf-8"?>
<ds:datastoreItem xmlns:ds="http://schemas.openxmlformats.org/officeDocument/2006/customXml" ds:itemID="{C59911AB-3046-4123-AE3E-2DEED2EDC399}">
  <ds:schemaRefs>
    <ds:schemaRef ds:uri="22955d91-9d1f-4161-87a7-e89bed204b81"/>
    <ds:schemaRef ds:uri="a7fea101-fc6f-49c9-be05-b36d3311d6e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47AAE3D-B0B4-4FEB-88BD-2363E75741EF}">
  <ds:schemaRefs>
    <ds:schemaRef ds:uri="22955d91-9d1f-4161-87a7-e89bed204b81"/>
    <ds:schemaRef ds:uri="a7fea101-fc6f-49c9-be05-b36d3311d6e6"/>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31</Slides>
  <Notes>8</Notes>
  <HiddenSlides>0</HiddenSlide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Settlement Dispute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revision>34</cp:revision>
  <dcterms:created xsi:type="dcterms:W3CDTF">2025-09-06T09:55:10Z</dcterms:created>
  <dcterms:modified xsi:type="dcterms:W3CDTF">2025-09-18T15:04:53Z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0x01010042680781D5828540AC201A93E229A356</vt:lpwstr>
  </property>
  <property fmtid="{D5CDD505-2E9C-101B-9397-08002B2CF9AE}" pid="3" name="MediaServiceImageTags">
    <vt:lpwstr/>
  </property>
</Properties>
</file>